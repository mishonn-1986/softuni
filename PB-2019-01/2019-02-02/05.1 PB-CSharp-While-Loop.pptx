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9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0" r:id="rId2"/>
  </p:sldMasterIdLst>
  <p:notesMasterIdLst>
    <p:notesMasterId r:id="rId58"/>
  </p:notesMasterIdLst>
  <p:handoutMasterIdLst>
    <p:handoutMasterId r:id="rId59"/>
  </p:handoutMasterIdLst>
  <p:sldIdLst>
    <p:sldId id="522" r:id="rId3"/>
    <p:sldId id="523" r:id="rId4"/>
    <p:sldId id="528" r:id="rId5"/>
    <p:sldId id="525" r:id="rId6"/>
    <p:sldId id="529" r:id="rId7"/>
    <p:sldId id="526" r:id="rId8"/>
    <p:sldId id="530" r:id="rId9"/>
    <p:sldId id="533" r:id="rId10"/>
    <p:sldId id="534" r:id="rId11"/>
    <p:sldId id="531" r:id="rId12"/>
    <p:sldId id="549" r:id="rId13"/>
    <p:sldId id="550" r:id="rId14"/>
    <p:sldId id="551" r:id="rId15"/>
    <p:sldId id="274" r:id="rId16"/>
    <p:sldId id="508" r:id="rId17"/>
    <p:sldId id="276" r:id="rId18"/>
    <p:sldId id="458" r:id="rId19"/>
    <p:sldId id="459" r:id="rId20"/>
    <p:sldId id="460" r:id="rId21"/>
    <p:sldId id="461" r:id="rId22"/>
    <p:sldId id="462" r:id="rId23"/>
    <p:sldId id="434" r:id="rId24"/>
    <p:sldId id="415" r:id="rId25"/>
    <p:sldId id="500" r:id="rId26"/>
    <p:sldId id="478" r:id="rId27"/>
    <p:sldId id="431" r:id="rId28"/>
    <p:sldId id="535" r:id="rId29"/>
    <p:sldId id="546" r:id="rId30"/>
    <p:sldId id="536" r:id="rId31"/>
    <p:sldId id="543" r:id="rId32"/>
    <p:sldId id="544" r:id="rId33"/>
    <p:sldId id="545" r:id="rId34"/>
    <p:sldId id="537" r:id="rId35"/>
    <p:sldId id="538" r:id="rId36"/>
    <p:sldId id="539" r:id="rId37"/>
    <p:sldId id="547" r:id="rId38"/>
    <p:sldId id="540" r:id="rId39"/>
    <p:sldId id="541" r:id="rId40"/>
    <p:sldId id="542" r:id="rId41"/>
    <p:sldId id="548" r:id="rId42"/>
    <p:sldId id="479" r:id="rId43"/>
    <p:sldId id="509" r:id="rId44"/>
    <p:sldId id="480" r:id="rId45"/>
    <p:sldId id="484" r:id="rId46"/>
    <p:sldId id="501" r:id="rId47"/>
    <p:sldId id="502" r:id="rId48"/>
    <p:sldId id="503" r:id="rId49"/>
    <p:sldId id="504" r:id="rId50"/>
    <p:sldId id="427" r:id="rId51"/>
    <p:sldId id="507" r:id="rId52"/>
    <p:sldId id="467" r:id="rId53"/>
    <p:sldId id="517" r:id="rId54"/>
    <p:sldId id="518" r:id="rId55"/>
    <p:sldId id="519" r:id="rId56"/>
    <p:sldId id="521" r:id="rId5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говор" id="{C0257C9F-6AA4-4F4C-B2CE-DA948E92B968}">
          <p14:sldIdLst>
            <p14:sldId id="522"/>
            <p14:sldId id="523"/>
            <p14:sldId id="528"/>
            <p14:sldId id="525"/>
            <p14:sldId id="529"/>
            <p14:sldId id="526"/>
            <p14:sldId id="530"/>
            <p14:sldId id="533"/>
            <p14:sldId id="534"/>
            <p14:sldId id="531"/>
            <p14:sldId id="549"/>
            <p14:sldId id="550"/>
            <p14:sldId id="551"/>
          </p14:sldIdLst>
        </p14:section>
        <p14:section name="Default Section" id="{9E63D159-2865-48A8-8497-429E9CA731FB}">
          <p14:sldIdLst>
            <p14:sldId id="274"/>
            <p14:sldId id="508"/>
            <p14:sldId id="276"/>
            <p14:sldId id="458"/>
            <p14:sldId id="459"/>
            <p14:sldId id="460"/>
            <p14:sldId id="461"/>
            <p14:sldId id="462"/>
          </p14:sldIdLst>
        </p14:section>
        <p14:section name="While-цикъл" id="{E59E0D92-02FA-43DF-A8A5-E22094F18C68}">
          <p14:sldIdLst>
            <p14:sldId id="434"/>
            <p14:sldId id="415"/>
            <p14:sldId id="500"/>
            <p14:sldId id="478"/>
            <p14:sldId id="431"/>
            <p14:sldId id="535"/>
            <p14:sldId id="546"/>
            <p14:sldId id="536"/>
            <p14:sldId id="543"/>
            <p14:sldId id="544"/>
            <p14:sldId id="545"/>
            <p14:sldId id="537"/>
            <p14:sldId id="538"/>
            <p14:sldId id="539"/>
            <p14:sldId id="547"/>
            <p14:sldId id="540"/>
            <p14:sldId id="541"/>
            <p14:sldId id="542"/>
            <p14:sldId id="548"/>
            <p14:sldId id="479"/>
            <p14:sldId id="509"/>
            <p14:sldId id="480"/>
          </p14:sldIdLst>
        </p14:section>
        <p14:section name="Безкрайни цикли" id="{4035C5D3-6442-4832-8655-873A03162AFE}">
          <p14:sldIdLst>
            <p14:sldId id="484"/>
            <p14:sldId id="501"/>
            <p14:sldId id="502"/>
            <p14:sldId id="503"/>
            <p14:sldId id="504"/>
          </p14:sldIdLst>
        </p14:section>
        <p14:section name="Summary" id="{68346706-F9DD-4EB5-B9D0-609CA429DDF4}">
          <p14:sldIdLst>
            <p14:sldId id="427"/>
            <p14:sldId id="507"/>
            <p14:sldId id="467"/>
            <p14:sldId id="517"/>
            <p14:sldId id="518"/>
            <p14:sldId id="519"/>
            <p14:sldId id="5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D44"/>
    <a:srgbClr val="6CFF44"/>
    <a:srgbClr val="60BFB7"/>
    <a:srgbClr val="E09BEB"/>
    <a:srgbClr val="F15721"/>
    <a:srgbClr val="60BF55"/>
    <a:srgbClr val="F5C300"/>
    <a:srgbClr val="100373"/>
    <a:srgbClr val="F3BE60"/>
    <a:srgbClr val="0097C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C837B-214B-8D17-AF2C-E1A12CCC0A51}" v="3" dt="2018-08-10T20:06:47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4533" autoAdjust="0"/>
  </p:normalViewPr>
  <p:slideViewPr>
    <p:cSldViewPr>
      <p:cViewPr varScale="1">
        <p:scale>
          <a:sx n="88" d="100"/>
          <a:sy n="88" d="100"/>
        </p:scale>
        <p:origin x="269" y="53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5" d="100"/>
          <a:sy n="65" d="100"/>
        </p:scale>
        <p:origin x="3154" y="5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1/31/2019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37:07.8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  <inkml:trace contextRef="#ctx0" brushRef="#br0" timeOffset="222.399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37:08.43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  <inkml:trace contextRef="#ctx0" brushRef="#br0" timeOffset="127.866">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3">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3">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3">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3">0 0 0</inkml:trace>
</inkml:ink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088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24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9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82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89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355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87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42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012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877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60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dirty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dirty="0">
              <a:solidFill>
                <a:prstClr val="black"/>
              </a:solidFill>
            </a:endParaRPr>
          </a:p>
          <a:p>
            <a:r>
              <a:rPr lang="en-US" sz="1000" dirty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>
                <a:solidFill>
                  <a:prstClr val="black"/>
                </a:solidFill>
              </a:rPr>
              <a:t> </a:t>
            </a:r>
            <a:r>
              <a:rPr lang="en-US" sz="1000" dirty="0">
                <a:solidFill>
                  <a:prstClr val="black"/>
                </a:solidFill>
              </a:rPr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430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2819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4950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9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20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www.facebook.com/SoftwareUniversity" TargetMode="External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26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image" Target="../media/image25.png"/><Relationship Id="rId4" Type="http://schemas.openxmlformats.org/officeDocument/2006/relationships/hyperlink" Target="http://softuni.foundation/" TargetMode="External"/><Relationship Id="rId9" Type="http://schemas.openxmlformats.org/officeDocument/2006/relationships/image" Target="../media/image2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softuni.org/" TargetMode="External"/><Relationship Id="rId4" Type="http://schemas.openxmlformats.org/officeDocument/2006/relationships/image" Target="../media/image3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softuni.org/" TargetMode="External"/><Relationship Id="rId4" Type="http://schemas.openxmlformats.org/officeDocument/2006/relationships/image" Target="../media/image3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B5A345C-2CD0-4932-A998-37B2D20BF0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458" y="2351427"/>
            <a:ext cx="5437955" cy="232599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348637" y="2374047"/>
            <a:ext cx="3170229" cy="3431879"/>
          </a:xfrm>
          <a:prstGeom prst="rect">
            <a:avLst/>
          </a:prstGeom>
        </p:spPr>
      </p:pic>
      <p:sp>
        <p:nvSpPr>
          <p:cNvPr id="43" name="Subtitle 5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6685" y="1303142"/>
            <a:ext cx="10962447" cy="882654"/>
          </a:xfrm>
        </p:spPr>
        <p:txBody>
          <a:bodyPr>
            <a:normAutofit/>
          </a:bodyPr>
          <a:lstStyle>
            <a:lvl1pPr marL="0" indent="0" algn="ctr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Subtitle</a:t>
            </a:r>
            <a:endParaRPr lang="bg-BG" dirty="0"/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EB7CD-FF73-4344-9FE5-589B30F5AA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085" y="6057654"/>
            <a:ext cx="2105462" cy="52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DFEC2C-38C6-405B-AD0A-06879C50EFE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59" y="6035663"/>
            <a:ext cx="629415" cy="5265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483B54-1DD1-4FC4-9FA0-4872F8C409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2789" y="6035663"/>
            <a:ext cx="1186773" cy="5265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685" y="254857"/>
            <a:ext cx="10962447" cy="882654"/>
          </a:xfrm>
        </p:spPr>
        <p:txBody>
          <a:bodyPr/>
          <a:lstStyle>
            <a:lvl1pPr algn="ctr">
              <a:defRPr sz="4798"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27" name="Picture 4" title="CC-BY-NC-SA License">
            <a:hlinkClick r:id="rId7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7CB336FF-A768-4CE1-B1CE-FC103B348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50074" y="6080062"/>
            <a:ext cx="1436897" cy="502868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641602" y="5916124"/>
            <a:ext cx="2950749" cy="38278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641602" y="6340279"/>
            <a:ext cx="2950749" cy="35175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r" rtl="0" fontAlgn="base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670972" y="4876800"/>
            <a:ext cx="2950749" cy="50679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70972" y="5368739"/>
            <a:ext cx="2950749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-1588" y="6702676"/>
            <a:ext cx="12192000" cy="217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74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E40596-5F7F-41C3-9807-7FA635B42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951C9B-3DEE-4E28-8D4C-55505E0CB6AB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Picture 8" descr="A drawing of a cartoon character&#10;&#10;Description generated with high confidence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8309" y="1409637"/>
            <a:ext cx="3571232" cy="4385137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8CCE616-2FC8-4941-8612-3EC8CFD84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of Content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15" y="1371603"/>
            <a:ext cx="8180332" cy="4795935"/>
          </a:xfrm>
        </p:spPr>
        <p:txBody>
          <a:bodyPr/>
          <a:lstStyle>
            <a:lvl1pPr marL="514042" indent="-514042"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7D6D63-C0D2-4213-B1FA-96890BDE6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3" y="232973"/>
            <a:ext cx="2125527" cy="530284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AA6AF62-9F6D-4B1C-831C-72AACA29F78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92A8ED8-1E91-4F87-9AAB-0B939CA64F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7E4C518-B0B3-4716-AB97-AC8ECA4F7C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0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4949" y="4704825"/>
            <a:ext cx="10958928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4949" y="5490437"/>
            <a:ext cx="10958928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998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8611" y="867750"/>
            <a:ext cx="3551604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73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FF4B1E-24EA-407C-BFA6-24CCB6D44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4" y="1792355"/>
            <a:ext cx="1829828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144" y="1792355"/>
            <a:ext cx="914914" cy="406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64972" y="1121144"/>
            <a:ext cx="9927138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ED30444-7448-455E-ACFD-2D8F93C93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19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505D47-5EAF-4709-A366-B1437B044A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037" y="274595"/>
            <a:ext cx="2144287" cy="534964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9A2DC4-5280-4E93-B6D2-9709FE6D06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4C1EE0-8040-49CB-9319-CF991DE7B32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643825A-6B67-4224-B077-B526FC2A4C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65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A6B0AA-1988-451B-88D4-0F72629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-3471" y="0"/>
            <a:ext cx="11535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1" y="3314703"/>
            <a:ext cx="1260337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619" y="100750"/>
            <a:ext cx="8397308" cy="88265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8563" y="1121144"/>
            <a:ext cx="10033549" cy="5276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A4EF-FDC7-4D65-91A0-D3473057251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0B15D-022F-4B93-A0E6-6FC062C18A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45B5C-C9D2-4885-BBE1-AE0D4F570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E6AED5-8603-4881-90EA-963A2A5A2C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037" y="274595"/>
            <a:ext cx="2144287" cy="53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7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k sc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-3471" y="0"/>
            <a:ext cx="68768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09" y="5098868"/>
            <a:ext cx="779006" cy="172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87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88825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815018" cy="5201066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91B60F-461F-45D1-A35C-8AC3D83E7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3" y="232973"/>
            <a:ext cx="2125527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2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9D60504-DA9E-4357-9A0A-15E333FC2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B03959-5ED4-4593-8CEF-2AE1A73775F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" y="6184672"/>
            <a:ext cx="12188825" cy="673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5160306" y="4824664"/>
            <a:ext cx="1868214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A09987-8827-47B7-85D3-6D69487FC7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88" y="5206772"/>
            <a:ext cx="958650" cy="118486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2" y="1195930"/>
            <a:ext cx="5424735" cy="4824103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73738" y="1195930"/>
            <a:ext cx="5424734" cy="4824103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8E34E-73A2-41B4-8C58-4DDB1D4D97D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88767" y="6390559"/>
            <a:ext cx="808502" cy="308845"/>
          </a:xfrm>
        </p:spPr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7141AFF-42FF-4AAA-A3FA-149DDA66FCC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2616D-7BC8-4F96-B3A7-B299A353B4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AACB49-5E4F-4436-9D82-E83B52A7FC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3" y="232973"/>
            <a:ext cx="2125527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78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9C6415-13AB-4677-935E-D11508C4A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B4EBD86-A13A-41DF-A04E-EA4A858E8860}"/>
              </a:ext>
            </a:extLst>
          </p:cNvPr>
          <p:cNvSpPr/>
          <p:nvPr/>
        </p:nvSpPr>
        <p:spPr>
          <a:xfrm>
            <a:off x="-3175" y="-17929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51" y="1196126"/>
            <a:ext cx="11808021" cy="518562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GB" dirty="0"/>
              <a:t>Sample source code: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123" y="1830474"/>
            <a:ext cx="10958580" cy="163349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>
              <a:lnSpc>
                <a:spcPct val="100000"/>
              </a:lnSpc>
              <a:buNone/>
              <a:defRPr lang="en-US" sz="2398" b="1" noProof="1" smtClean="0">
                <a:solidFill>
                  <a:schemeClr val="tx1">
                    <a:lumMod val="75000"/>
                  </a:schemeClr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A3E62-7E9B-447C-9045-B989874D05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7BD22-7B02-4D39-928A-4BAD0D84EC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ED1B3-84A5-43D8-8770-B2C1E963B6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3FF9B-335F-4699-94F7-E43CA829037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B003D1-D2F8-474E-9E8E-075BE60E92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3" y="232973"/>
            <a:ext cx="2125527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5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609A8D-9063-4A88-A094-81A65D7DF4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0F1A8-532C-4443-BDB9-44438A972E15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0355" y="1355076"/>
            <a:ext cx="3888360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4078713" y="1355073"/>
            <a:ext cx="47988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26702" y="1748999"/>
            <a:ext cx="239938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1" y="6721481"/>
            <a:ext cx="12188825" cy="1365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687" y="1353867"/>
            <a:ext cx="7197424" cy="5027884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F342A0-26CC-4ADA-AB90-FC4810F88E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184F8-77F5-4000-AA69-383B07AEEF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AD63B7-3B55-42B3-B63C-7488630C39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A1733E-05EA-4892-9222-96356ACBDF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050E4-DC54-4CF4-A8D3-DC8B8DA04E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3" y="232973"/>
            <a:ext cx="2125527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5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DEAD13D1-8921-41EB-9EDF-DA3F5121F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6" y="5788"/>
            <a:ext cx="12192000" cy="68522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/>
          <p:nvPr/>
        </p:nvSpPr>
        <p:spPr>
          <a:xfrm>
            <a:off x="-1051027" y="703243"/>
            <a:ext cx="8403884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ctr" defTabSz="913852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bg-BG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Въпроси</a:t>
            </a: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4" y="2222932"/>
            <a:ext cx="3574974" cy="41486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0846EB-6FC8-4F9D-97D0-A1A8E9CEE0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927" y="314259"/>
            <a:ext cx="2125527" cy="53028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9983C1-41F3-4B45-9E6B-F2615F74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622C9-3C7D-445D-83B2-28583716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DAB2-278F-4812-9F5E-FB63D806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675455-B7FA-4569-A5FD-A3B0F20B2A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46" y="1702472"/>
            <a:ext cx="1198589" cy="11989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7D15FD-4C66-4B85-98E6-7826AA8F6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869" y="3776292"/>
            <a:ext cx="1166096" cy="14022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755AAE-BA08-481C-9224-0061170EE4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378" y="3776292"/>
            <a:ext cx="1166096" cy="13892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3D66F-855B-463B-920B-BF239B01A2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003" y="3775662"/>
            <a:ext cx="1166096" cy="15671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43F71A-2013-433A-8322-FBAAED3162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628" y="3769759"/>
            <a:ext cx="1166096" cy="1350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812936-74B6-4265-8C08-AEDC8C7987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53" y="3776292"/>
            <a:ext cx="1166096" cy="1433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74C190C-5856-41B9-8819-AE8DE0E1098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421" y="3776295"/>
            <a:ext cx="1164351" cy="144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F62FB7C-BD6E-4383-98C1-2CF30F34CAFD}"/>
              </a:ext>
            </a:extLst>
          </p:cNvPr>
          <p:cNvCxnSpPr>
            <a:cxnSpLocks/>
          </p:cNvCxnSpPr>
          <p:nvPr/>
        </p:nvCxnSpPr>
        <p:spPr>
          <a:xfrm>
            <a:off x="3968380" y="3335565"/>
            <a:ext cx="715992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4E5982E-3110-47E1-A5BB-91B7BECC3093}"/>
              </a:ext>
            </a:extLst>
          </p:cNvPr>
          <p:cNvCxnSpPr/>
          <p:nvPr/>
        </p:nvCxnSpPr>
        <p:spPr>
          <a:xfrm>
            <a:off x="3968380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2BFE2F3-0845-4E5B-9375-E9D4027DD675}"/>
              </a:ext>
            </a:extLst>
          </p:cNvPr>
          <p:cNvCxnSpPr/>
          <p:nvPr/>
        </p:nvCxnSpPr>
        <p:spPr>
          <a:xfrm>
            <a:off x="5362603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DDBF37-0764-47AA-94E3-9A44F3ED8FB5}"/>
              </a:ext>
            </a:extLst>
          </p:cNvPr>
          <p:cNvCxnSpPr/>
          <p:nvPr/>
        </p:nvCxnSpPr>
        <p:spPr>
          <a:xfrm>
            <a:off x="680942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9ABE09-E33C-46B7-A80D-7BF4A6956211}"/>
              </a:ext>
            </a:extLst>
          </p:cNvPr>
          <p:cNvCxnSpPr/>
          <p:nvPr/>
        </p:nvCxnSpPr>
        <p:spPr>
          <a:xfrm>
            <a:off x="8249051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91D320-3732-40B8-864D-142D0A277ED1}"/>
              </a:ext>
            </a:extLst>
          </p:cNvPr>
          <p:cNvCxnSpPr>
            <a:cxnSpLocks/>
          </p:cNvCxnSpPr>
          <p:nvPr/>
        </p:nvCxnSpPr>
        <p:spPr>
          <a:xfrm>
            <a:off x="9688676" y="332921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63D1E8-4A92-4691-8A24-A2FC7E8008E5}"/>
              </a:ext>
            </a:extLst>
          </p:cNvPr>
          <p:cNvCxnSpPr>
            <a:cxnSpLocks/>
          </p:cNvCxnSpPr>
          <p:nvPr/>
        </p:nvCxnSpPr>
        <p:spPr>
          <a:xfrm>
            <a:off x="11128301" y="333556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A0FE1-723D-4682-8682-77BAD950EE15}"/>
              </a:ext>
            </a:extLst>
          </p:cNvPr>
          <p:cNvCxnSpPr/>
          <p:nvPr/>
        </p:nvCxnSpPr>
        <p:spPr>
          <a:xfrm>
            <a:off x="7548341" y="3092995"/>
            <a:ext cx="0" cy="2362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-1588" y="6371330"/>
            <a:ext cx="12192000" cy="5045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55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1DA41A3-0295-46DF-A320-41070D15E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370" y="1186306"/>
            <a:ext cx="9501534" cy="5496127"/>
          </a:xfrm>
        </p:spPr>
        <p:txBody>
          <a:bodyPr wrap="square">
            <a:noAutofit/>
          </a:bodyPr>
          <a:lstStyle>
            <a:lvl1pPr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/>
            </a:lvl2pPr>
            <a:lvl3pPr>
              <a:buClr>
                <a:schemeClr val="tx1"/>
              </a:buClr>
              <a:defRPr/>
            </a:lvl3pPr>
          </a:lstStyle>
          <a:p>
            <a:pPr>
              <a:lnSpc>
                <a:spcPct val="100000"/>
              </a:lnSpc>
            </a:pPr>
            <a:r>
              <a:rPr lang="en-US" sz="3198" dirty="0"/>
              <a:t>Software University – High-Quality Education, </a:t>
            </a:r>
            <a:br>
              <a:rPr lang="en-US" sz="3198" dirty="0"/>
            </a:br>
            <a:r>
              <a:rPr lang="en-US" sz="3198" dirty="0"/>
              <a:t>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98" noProof="1">
                <a:hlinkClick r:id="rId3"/>
              </a:rPr>
              <a:t>softuni.bg</a:t>
            </a:r>
            <a:r>
              <a:rPr lang="en-US" sz="2898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198" dirty="0"/>
              <a:t>Software University Foundation</a:t>
            </a:r>
            <a:endParaRPr lang="bg-BG" sz="3198" dirty="0"/>
          </a:p>
          <a:p>
            <a:pPr lvl="1">
              <a:lnSpc>
                <a:spcPct val="100000"/>
              </a:lnSpc>
            </a:pPr>
            <a:r>
              <a:rPr lang="en-US" sz="2998" noProof="1">
                <a:hlinkClick r:id="rId4"/>
              </a:rPr>
              <a:t>http://softuni.foundation/</a:t>
            </a:r>
            <a:endParaRPr lang="en-US" sz="2998" noProof="1"/>
          </a:p>
          <a:p>
            <a:pPr>
              <a:lnSpc>
                <a:spcPct val="100000"/>
              </a:lnSpc>
            </a:pPr>
            <a:r>
              <a:rPr lang="en-US" sz="3198" dirty="0"/>
              <a:t>Software University @ Facebook</a:t>
            </a:r>
          </a:p>
          <a:p>
            <a:pPr marL="989981" marR="0" lvl="1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/>
            </a:pPr>
            <a:r>
              <a:rPr kumimoji="0" lang="en-US" sz="2898" b="0" i="0" u="none" strike="noStrike" kern="1200" cap="none" spc="0" normalizeH="0" baseline="0" noProof="1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/>
              </a:rPr>
              <a:t>facebook.com/SoftwareUniversity</a:t>
            </a:r>
            <a:endParaRPr kumimoji="0" lang="en-US" sz="2898" b="0" i="0" u="none" strike="noStrike" kern="1200" cap="none" spc="0" normalizeH="0" baseline="0" noProof="1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>
              <a:lnSpc>
                <a:spcPct val="100000"/>
              </a:lnSpc>
            </a:pPr>
            <a:r>
              <a:rPr lang="en-US" sz="3198" dirty="0"/>
              <a:t>Software University Forums</a:t>
            </a:r>
          </a:p>
          <a:p>
            <a:pPr marL="989981" marR="0" lvl="1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/>
            </a:pPr>
            <a:r>
              <a:rPr lang="en-US" sz="2798" dirty="0">
                <a:hlinkClick r:id="rId6"/>
              </a:rPr>
              <a:t>forum.softuni.bg</a:t>
            </a:r>
            <a:endParaRPr lang="en-US" sz="2798" noProof="1"/>
          </a:p>
        </p:txBody>
      </p:sp>
      <p:pic>
        <p:nvPicPr>
          <p:cNvPr id="14" name="Picture 4">
            <a:hlinkClick r:id="rId7" tooltip="Software University @ Facebook"/>
            <a:extLst>
              <a:ext uri="{FF2B5EF4-FFF2-40B4-BE49-F238E27FC236}">
                <a16:creationId xmlns:a16="http://schemas.microsoft.com/office/drawing/2014/main" id="{0101C673-F197-4525-ADDC-FFD181E4E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58777" y="3608627"/>
            <a:ext cx="1118740" cy="111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hlinkClick r:id="rId6" tooltip="Software University Discussion Forum"/>
            <a:extLst>
              <a:ext uri="{FF2B5EF4-FFF2-40B4-BE49-F238E27FC236}">
                <a16:creationId xmlns:a16="http://schemas.microsoft.com/office/drawing/2014/main" id="{A584039C-C3B0-4714-A6D0-181CA3D2DD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84" y="5017461"/>
            <a:ext cx="1042233" cy="1042233"/>
          </a:xfrm>
          <a:prstGeom prst="rect">
            <a:avLst/>
          </a:prstGeom>
        </p:spPr>
      </p:pic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859" y="2384689"/>
            <a:ext cx="3226924" cy="42977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C5D9AB-27D1-4866-B85E-1728987FAE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228" y="1319422"/>
            <a:ext cx="1669839" cy="2065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-3175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41" y="108873"/>
            <a:ext cx="9503571" cy="88265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</p:spTree>
    <p:extLst>
      <p:ext uri="{BB962C8B-B14F-4D97-AF65-F5344CB8AC3E}">
        <p14:creationId xmlns:p14="http://schemas.microsoft.com/office/powerpoint/2010/main" val="418141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104799655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813" y="4953000"/>
            <a:ext cx="10363200" cy="820600"/>
          </a:xfrm>
        </p:spPr>
        <p:txBody>
          <a:bodyPr wrap="square"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813" y="5754968"/>
            <a:ext cx="10363200" cy="719034"/>
          </a:xfrm>
        </p:spPr>
        <p:txBody>
          <a:bodyPr wrap="square"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812" y="152400"/>
            <a:ext cx="228631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083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es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137202EB-ED0E-4E36-AF0D-3C14E1E17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2F2189-2658-41D9-B248-2A4275099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20CF9-A1E5-4594-B6B5-4E33A9373C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105104" y="973900"/>
            <a:ext cx="3788598" cy="4395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C72FAC-F5FC-4E78-AF2E-5FE88145F87F}"/>
              </a:ext>
            </a:extLst>
          </p:cNvPr>
          <p:cNvSpPr/>
          <p:nvPr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en-US" sz="6600" b="1" dirty="0">
                <a:solidFill>
                  <a:srgbClr val="F3BE60"/>
                </a:solidFill>
              </a:rPr>
              <a:t>Questions?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A82EC-2BC4-4E2F-8DDF-AD19DA7284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17" y="319859"/>
            <a:ext cx="2212117" cy="551743"/>
          </a:xfrm>
          <a:prstGeom prst="rect">
            <a:avLst/>
          </a:prstGeom>
        </p:spPr>
      </p:pic>
      <p:sp>
        <p:nvSpPr>
          <p:cNvPr id="7" name="TextBox 6">
            <a:hlinkClick r:id="rId5" tooltip="Software University Foundaton"/>
            <a:extLst>
              <a:ext uri="{FF2B5EF4-FFF2-40B4-BE49-F238E27FC236}">
                <a16:creationId xmlns:a16="http://schemas.microsoft.com/office/drawing/2014/main" id="{16E2CED5-12CB-4DAB-AB53-DAFC84087DD6}"/>
              </a:ext>
            </a:extLst>
          </p:cNvPr>
          <p:cNvSpPr txBox="1"/>
          <p:nvPr/>
        </p:nvSpPr>
        <p:spPr>
          <a:xfrm rot="20630519">
            <a:off x="6532234" y="2513233"/>
            <a:ext cx="41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8" name="TextBox 7">
            <a:hlinkClick r:id="rId5" tooltip="Software University Foundaton"/>
            <a:extLst>
              <a:ext uri="{FF2B5EF4-FFF2-40B4-BE49-F238E27FC236}">
                <a16:creationId xmlns:a16="http://schemas.microsoft.com/office/drawing/2014/main" id="{6AD1C000-AB32-4602-B810-4D9852856055}"/>
              </a:ext>
            </a:extLst>
          </p:cNvPr>
          <p:cNvSpPr txBox="1"/>
          <p:nvPr/>
        </p:nvSpPr>
        <p:spPr>
          <a:xfrm rot="1520410">
            <a:off x="4148066" y="2083657"/>
            <a:ext cx="603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9" name="TextBox 8">
            <a:hlinkClick r:id="rId5" tooltip="Software University Foundaton"/>
            <a:extLst>
              <a:ext uri="{FF2B5EF4-FFF2-40B4-BE49-F238E27FC236}">
                <a16:creationId xmlns:a16="http://schemas.microsoft.com/office/drawing/2014/main" id="{3CE77DE0-66FC-48AC-A23C-2E121AF40F0C}"/>
              </a:ext>
            </a:extLst>
          </p:cNvPr>
          <p:cNvSpPr txBox="1"/>
          <p:nvPr/>
        </p:nvSpPr>
        <p:spPr>
          <a:xfrm rot="20630519" flipH="1">
            <a:off x="4951476" y="1556593"/>
            <a:ext cx="79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0" name="TextBox 9">
            <a:hlinkClick r:id="rId5" tooltip="Software University Foundaton"/>
            <a:extLst>
              <a:ext uri="{FF2B5EF4-FFF2-40B4-BE49-F238E27FC236}">
                <a16:creationId xmlns:a16="http://schemas.microsoft.com/office/drawing/2014/main" id="{E7C26DA3-0849-42C5-9508-EF9BFF7C47DB}"/>
              </a:ext>
            </a:extLst>
          </p:cNvPr>
          <p:cNvSpPr txBox="1"/>
          <p:nvPr/>
        </p:nvSpPr>
        <p:spPr>
          <a:xfrm rot="1561633" flipH="1">
            <a:off x="4826684" y="2358552"/>
            <a:ext cx="336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1" name="TextBox 10">
            <a:hlinkClick r:id="rId5" tooltip="Software University Foundaton"/>
            <a:extLst>
              <a:ext uri="{FF2B5EF4-FFF2-40B4-BE49-F238E27FC236}">
                <a16:creationId xmlns:a16="http://schemas.microsoft.com/office/drawing/2014/main" id="{AB44A4A6-AE34-4A8F-9077-D6569BF40B0C}"/>
              </a:ext>
            </a:extLst>
          </p:cNvPr>
          <p:cNvSpPr txBox="1"/>
          <p:nvPr/>
        </p:nvSpPr>
        <p:spPr>
          <a:xfrm rot="20630519">
            <a:off x="5865601" y="1968054"/>
            <a:ext cx="63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2" name="TextBox 11">
            <a:hlinkClick r:id="rId5" tooltip="Software University Foundaton"/>
            <a:extLst>
              <a:ext uri="{FF2B5EF4-FFF2-40B4-BE49-F238E27FC236}">
                <a16:creationId xmlns:a16="http://schemas.microsoft.com/office/drawing/2014/main" id="{68861D82-7435-41E8-B5ED-398623FC4F51}"/>
              </a:ext>
            </a:extLst>
          </p:cNvPr>
          <p:cNvSpPr txBox="1"/>
          <p:nvPr/>
        </p:nvSpPr>
        <p:spPr>
          <a:xfrm rot="20630519">
            <a:off x="6228195" y="4242981"/>
            <a:ext cx="488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3" name="TextBox 12">
            <a:hlinkClick r:id="rId5" tooltip="Software University Foundaton"/>
            <a:extLst>
              <a:ext uri="{FF2B5EF4-FFF2-40B4-BE49-F238E27FC236}">
                <a16:creationId xmlns:a16="http://schemas.microsoft.com/office/drawing/2014/main" id="{C224F999-651D-4A26-8A68-EB68765C5790}"/>
              </a:ext>
            </a:extLst>
          </p:cNvPr>
          <p:cNvSpPr txBox="1"/>
          <p:nvPr/>
        </p:nvSpPr>
        <p:spPr>
          <a:xfrm rot="1523920">
            <a:off x="5796155" y="5030876"/>
            <a:ext cx="511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5" name="TextBox 14">
            <a:hlinkClick r:id="rId5" tooltip="Software University Foundaton"/>
            <a:extLst>
              <a:ext uri="{FF2B5EF4-FFF2-40B4-BE49-F238E27FC236}">
                <a16:creationId xmlns:a16="http://schemas.microsoft.com/office/drawing/2014/main" id="{B5855C6E-6513-4A5E-964E-CBB574B2B476}"/>
              </a:ext>
            </a:extLst>
          </p:cNvPr>
          <p:cNvSpPr txBox="1"/>
          <p:nvPr/>
        </p:nvSpPr>
        <p:spPr>
          <a:xfrm rot="20630519">
            <a:off x="4719975" y="5267108"/>
            <a:ext cx="89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6" name="TextBox 15">
            <a:hlinkClick r:id="rId5" tooltip="Software University Foundaton"/>
            <a:extLst>
              <a:ext uri="{FF2B5EF4-FFF2-40B4-BE49-F238E27FC236}">
                <a16:creationId xmlns:a16="http://schemas.microsoft.com/office/drawing/2014/main" id="{719AA859-1237-4914-865D-8E0CD3AD6567}"/>
              </a:ext>
            </a:extLst>
          </p:cNvPr>
          <p:cNvSpPr txBox="1"/>
          <p:nvPr/>
        </p:nvSpPr>
        <p:spPr>
          <a:xfrm rot="20630519">
            <a:off x="4086252" y="4778904"/>
            <a:ext cx="71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7" name="TextBox 16">
            <a:hlinkClick r:id="rId5" tooltip="Software University Foundaton"/>
            <a:extLst>
              <a:ext uri="{FF2B5EF4-FFF2-40B4-BE49-F238E27FC236}">
                <a16:creationId xmlns:a16="http://schemas.microsoft.com/office/drawing/2014/main" id="{53CC8498-FFA6-457D-8B54-3BF3461CEF7A}"/>
              </a:ext>
            </a:extLst>
          </p:cNvPr>
          <p:cNvSpPr txBox="1"/>
          <p:nvPr/>
        </p:nvSpPr>
        <p:spPr>
          <a:xfrm rot="20630519">
            <a:off x="6970550" y="5614702"/>
            <a:ext cx="67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9" name="TextBox 18">
            <a:hlinkClick r:id="rId5" tooltip="Software University Foundaton"/>
            <a:extLst>
              <a:ext uri="{FF2B5EF4-FFF2-40B4-BE49-F238E27FC236}">
                <a16:creationId xmlns:a16="http://schemas.microsoft.com/office/drawing/2014/main" id="{2E797E8D-83EB-4466-9FA3-509596EA5568}"/>
              </a:ext>
            </a:extLst>
          </p:cNvPr>
          <p:cNvSpPr txBox="1"/>
          <p:nvPr/>
        </p:nvSpPr>
        <p:spPr>
          <a:xfrm rot="20414927">
            <a:off x="4835033" y="3905106"/>
            <a:ext cx="890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0" name="TextBox 19">
            <a:hlinkClick r:id="rId5" tooltip="Software University Foundaton"/>
            <a:extLst>
              <a:ext uri="{FF2B5EF4-FFF2-40B4-BE49-F238E27FC236}">
                <a16:creationId xmlns:a16="http://schemas.microsoft.com/office/drawing/2014/main" id="{58B95D20-6C4F-4F79-AA1D-E40A00E41053}"/>
              </a:ext>
            </a:extLst>
          </p:cNvPr>
          <p:cNvSpPr txBox="1"/>
          <p:nvPr/>
        </p:nvSpPr>
        <p:spPr>
          <a:xfrm rot="20215874">
            <a:off x="3507489" y="5315806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1" name="TextBox 20">
            <a:hlinkClick r:id="rId5" tooltip="Software University Foundaton"/>
            <a:extLst>
              <a:ext uri="{FF2B5EF4-FFF2-40B4-BE49-F238E27FC236}">
                <a16:creationId xmlns:a16="http://schemas.microsoft.com/office/drawing/2014/main" id="{2CD5EF91-E0BC-462F-B1B8-6B3F8F1038E5}"/>
              </a:ext>
            </a:extLst>
          </p:cNvPr>
          <p:cNvSpPr txBox="1"/>
          <p:nvPr/>
        </p:nvSpPr>
        <p:spPr>
          <a:xfrm rot="1264394">
            <a:off x="5242941" y="5518913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2" name="TextBox 21">
            <a:hlinkClick r:id="rId5" tooltip="Software University Foundaton"/>
            <a:extLst>
              <a:ext uri="{FF2B5EF4-FFF2-40B4-BE49-F238E27FC236}">
                <a16:creationId xmlns:a16="http://schemas.microsoft.com/office/drawing/2014/main" id="{6FF45627-4AF4-4071-A0E8-76738F228651}"/>
              </a:ext>
            </a:extLst>
          </p:cNvPr>
          <p:cNvSpPr txBox="1"/>
          <p:nvPr/>
        </p:nvSpPr>
        <p:spPr>
          <a:xfrm rot="1264394">
            <a:off x="2558897" y="4843636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3" name="TextBox 22">
            <a:hlinkClick r:id="rId5" tooltip="Software University Foundaton"/>
            <a:extLst>
              <a:ext uri="{FF2B5EF4-FFF2-40B4-BE49-F238E27FC236}">
                <a16:creationId xmlns:a16="http://schemas.microsoft.com/office/drawing/2014/main" id="{BF119269-565D-4BCB-BED2-4133229E3330}"/>
              </a:ext>
            </a:extLst>
          </p:cNvPr>
          <p:cNvSpPr txBox="1"/>
          <p:nvPr/>
        </p:nvSpPr>
        <p:spPr>
          <a:xfrm rot="19121928">
            <a:off x="1418879" y="5249907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4" name="TextBox 23">
            <a:hlinkClick r:id="rId5" tooltip="Software University Foundaton"/>
            <a:extLst>
              <a:ext uri="{FF2B5EF4-FFF2-40B4-BE49-F238E27FC236}">
                <a16:creationId xmlns:a16="http://schemas.microsoft.com/office/drawing/2014/main" id="{C9FE10EB-E49B-416A-A18D-617D25B2AADB}"/>
              </a:ext>
            </a:extLst>
          </p:cNvPr>
          <p:cNvSpPr txBox="1"/>
          <p:nvPr/>
        </p:nvSpPr>
        <p:spPr>
          <a:xfrm rot="1264394">
            <a:off x="5389325" y="2481161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5" name="TextBox 24">
            <a:hlinkClick r:id="rId5" tooltip="Software University Foundaton"/>
            <a:extLst>
              <a:ext uri="{FF2B5EF4-FFF2-40B4-BE49-F238E27FC236}">
                <a16:creationId xmlns:a16="http://schemas.microsoft.com/office/drawing/2014/main" id="{B9FCDDF2-3137-4E34-B264-5F180611DC0D}"/>
              </a:ext>
            </a:extLst>
          </p:cNvPr>
          <p:cNvSpPr txBox="1"/>
          <p:nvPr/>
        </p:nvSpPr>
        <p:spPr>
          <a:xfrm rot="1264394">
            <a:off x="6616653" y="1491081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6" name="TextBox 25">
            <a:hlinkClick r:id="rId5" tooltip="Software University Foundaton"/>
            <a:extLst>
              <a:ext uri="{FF2B5EF4-FFF2-40B4-BE49-F238E27FC236}">
                <a16:creationId xmlns:a16="http://schemas.microsoft.com/office/drawing/2014/main" id="{F4930118-998D-499A-B37E-D5577CC1A7E4}"/>
              </a:ext>
            </a:extLst>
          </p:cNvPr>
          <p:cNvSpPr txBox="1"/>
          <p:nvPr/>
        </p:nvSpPr>
        <p:spPr>
          <a:xfrm rot="20252314">
            <a:off x="3926026" y="2616560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5" tooltip="Software University Foundaton"/>
            <a:extLst>
              <a:ext uri="{FF2B5EF4-FFF2-40B4-BE49-F238E27FC236}">
                <a16:creationId xmlns:a16="http://schemas.microsoft.com/office/drawing/2014/main" id="{A0EE0643-28B4-437C-A977-17D2723F8213}"/>
              </a:ext>
            </a:extLst>
          </p:cNvPr>
          <p:cNvSpPr txBox="1"/>
          <p:nvPr/>
        </p:nvSpPr>
        <p:spPr>
          <a:xfrm rot="20585427">
            <a:off x="5423905" y="1263054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8" name="TextBox 27">
            <a:hlinkClick r:id="rId5" tooltip="Software University Foundaton"/>
            <a:extLst>
              <a:ext uri="{FF2B5EF4-FFF2-40B4-BE49-F238E27FC236}">
                <a16:creationId xmlns:a16="http://schemas.microsoft.com/office/drawing/2014/main" id="{ADAF237D-C784-4665-8DD2-A2B085FC2CAF}"/>
              </a:ext>
            </a:extLst>
          </p:cNvPr>
          <p:cNvSpPr txBox="1"/>
          <p:nvPr/>
        </p:nvSpPr>
        <p:spPr>
          <a:xfrm rot="1264394">
            <a:off x="6357616" y="4923003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9" name="TextBox 28">
            <a:hlinkClick r:id="rId5" tooltip="Software University Foundaton"/>
            <a:extLst>
              <a:ext uri="{FF2B5EF4-FFF2-40B4-BE49-F238E27FC236}">
                <a16:creationId xmlns:a16="http://schemas.microsoft.com/office/drawing/2014/main" id="{012AF389-E695-4054-9706-588DCD4FD543}"/>
              </a:ext>
            </a:extLst>
          </p:cNvPr>
          <p:cNvSpPr txBox="1"/>
          <p:nvPr/>
        </p:nvSpPr>
        <p:spPr>
          <a:xfrm rot="2248444">
            <a:off x="3177255" y="1174443"/>
            <a:ext cx="890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0" name="TextBox 29">
            <a:hlinkClick r:id="rId5" tooltip="Software University Foundaton"/>
            <a:extLst>
              <a:ext uri="{FF2B5EF4-FFF2-40B4-BE49-F238E27FC236}">
                <a16:creationId xmlns:a16="http://schemas.microsoft.com/office/drawing/2014/main" id="{98678852-FD82-4E90-BE26-4D9E01678873}"/>
              </a:ext>
            </a:extLst>
          </p:cNvPr>
          <p:cNvSpPr txBox="1"/>
          <p:nvPr/>
        </p:nvSpPr>
        <p:spPr>
          <a:xfrm rot="20630519">
            <a:off x="2538020" y="5819780"/>
            <a:ext cx="71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pic>
        <p:nvPicPr>
          <p:cNvPr id="31" name="Picture 3">
            <a:extLst>
              <a:ext uri="{FF2B5EF4-FFF2-40B4-BE49-F238E27FC236}">
                <a16:creationId xmlns:a16="http://schemas.microsoft.com/office/drawing/2014/main" id="{2DB20CF9-A1E5-4594-B6B5-4E33A9373C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105104" y="973900"/>
            <a:ext cx="3788598" cy="4395440"/>
          </a:xfrm>
          <a:prstGeom prst="rect">
            <a:avLst/>
          </a:prstGeom>
        </p:spPr>
      </p:pic>
      <p:sp>
        <p:nvSpPr>
          <p:cNvPr id="32" name="Rectangle 4">
            <a:extLst>
              <a:ext uri="{FF2B5EF4-FFF2-40B4-BE49-F238E27FC236}">
                <a16:creationId xmlns:a16="http://schemas.microsoft.com/office/drawing/2014/main" id="{50C72FAC-F5FC-4E78-AF2E-5FE88145F87F}"/>
              </a:ext>
            </a:extLst>
          </p:cNvPr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>
                <a:solidFill>
                  <a:srgbClr val="F3BE60"/>
                </a:solidFill>
              </a:rPr>
              <a:t>Въпроси</a:t>
            </a:r>
            <a:r>
              <a:rPr lang="en-US" sz="6600" b="1" dirty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33" name="Picture 5">
            <a:extLst>
              <a:ext uri="{FF2B5EF4-FFF2-40B4-BE49-F238E27FC236}">
                <a16:creationId xmlns:a16="http://schemas.microsoft.com/office/drawing/2014/main" id="{40AA82EC-2BC4-4E2F-8DDF-AD19DA7284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17" y="319859"/>
            <a:ext cx="2212117" cy="551743"/>
          </a:xfrm>
          <a:prstGeom prst="rect">
            <a:avLst/>
          </a:prstGeom>
        </p:spPr>
      </p:pic>
      <p:sp>
        <p:nvSpPr>
          <p:cNvPr id="34" name="TextBox 6">
            <a:hlinkClick r:id="rId5" tooltip="Software University Foundaton"/>
            <a:extLst>
              <a:ext uri="{FF2B5EF4-FFF2-40B4-BE49-F238E27FC236}">
                <a16:creationId xmlns:a16="http://schemas.microsoft.com/office/drawing/2014/main" id="{16E2CED5-12CB-4DAB-AB53-DAFC84087DD6}"/>
              </a:ext>
            </a:extLst>
          </p:cNvPr>
          <p:cNvSpPr txBox="1"/>
          <p:nvPr userDrawn="1"/>
        </p:nvSpPr>
        <p:spPr>
          <a:xfrm rot="20630519">
            <a:off x="6532234" y="2513233"/>
            <a:ext cx="41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5" name="TextBox 7">
            <a:hlinkClick r:id="rId5" tooltip="Software University Foundaton"/>
            <a:extLst>
              <a:ext uri="{FF2B5EF4-FFF2-40B4-BE49-F238E27FC236}">
                <a16:creationId xmlns:a16="http://schemas.microsoft.com/office/drawing/2014/main" id="{6AD1C000-AB32-4602-B810-4D9852856055}"/>
              </a:ext>
            </a:extLst>
          </p:cNvPr>
          <p:cNvSpPr txBox="1"/>
          <p:nvPr userDrawn="1"/>
        </p:nvSpPr>
        <p:spPr>
          <a:xfrm rot="1520410">
            <a:off x="4148066" y="2083657"/>
            <a:ext cx="603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6" name="TextBox 8">
            <a:hlinkClick r:id="rId5" tooltip="Software University Foundaton"/>
            <a:extLst>
              <a:ext uri="{FF2B5EF4-FFF2-40B4-BE49-F238E27FC236}">
                <a16:creationId xmlns:a16="http://schemas.microsoft.com/office/drawing/2014/main" id="{3CE77DE0-66FC-48AC-A23C-2E121AF40F0C}"/>
              </a:ext>
            </a:extLst>
          </p:cNvPr>
          <p:cNvSpPr txBox="1"/>
          <p:nvPr userDrawn="1"/>
        </p:nvSpPr>
        <p:spPr>
          <a:xfrm rot="20630519" flipH="1">
            <a:off x="4951476" y="1556593"/>
            <a:ext cx="79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7" name="TextBox 9">
            <a:hlinkClick r:id="rId5" tooltip="Software University Foundaton"/>
            <a:extLst>
              <a:ext uri="{FF2B5EF4-FFF2-40B4-BE49-F238E27FC236}">
                <a16:creationId xmlns:a16="http://schemas.microsoft.com/office/drawing/2014/main" id="{E7C26DA3-0849-42C5-9508-EF9BFF7C47DB}"/>
              </a:ext>
            </a:extLst>
          </p:cNvPr>
          <p:cNvSpPr txBox="1"/>
          <p:nvPr userDrawn="1"/>
        </p:nvSpPr>
        <p:spPr>
          <a:xfrm rot="1561633" flipH="1">
            <a:off x="4826684" y="2358552"/>
            <a:ext cx="336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8" name="TextBox 10">
            <a:hlinkClick r:id="rId5" tooltip="Software University Foundaton"/>
            <a:extLst>
              <a:ext uri="{FF2B5EF4-FFF2-40B4-BE49-F238E27FC236}">
                <a16:creationId xmlns:a16="http://schemas.microsoft.com/office/drawing/2014/main" id="{AB44A4A6-AE34-4A8F-9077-D6569BF40B0C}"/>
              </a:ext>
            </a:extLst>
          </p:cNvPr>
          <p:cNvSpPr txBox="1"/>
          <p:nvPr userDrawn="1"/>
        </p:nvSpPr>
        <p:spPr>
          <a:xfrm rot="20630519">
            <a:off x="5865601" y="1968054"/>
            <a:ext cx="63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9" name="TextBox 11">
            <a:hlinkClick r:id="rId5" tooltip="Software University Foundaton"/>
            <a:extLst>
              <a:ext uri="{FF2B5EF4-FFF2-40B4-BE49-F238E27FC236}">
                <a16:creationId xmlns:a16="http://schemas.microsoft.com/office/drawing/2014/main" id="{68861D82-7435-41E8-B5ED-398623FC4F51}"/>
              </a:ext>
            </a:extLst>
          </p:cNvPr>
          <p:cNvSpPr txBox="1"/>
          <p:nvPr userDrawn="1"/>
        </p:nvSpPr>
        <p:spPr>
          <a:xfrm rot="20630519">
            <a:off x="6228195" y="4242981"/>
            <a:ext cx="488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0" name="TextBox 12">
            <a:hlinkClick r:id="rId5" tooltip="Software University Foundaton"/>
            <a:extLst>
              <a:ext uri="{FF2B5EF4-FFF2-40B4-BE49-F238E27FC236}">
                <a16:creationId xmlns:a16="http://schemas.microsoft.com/office/drawing/2014/main" id="{C224F999-651D-4A26-8A68-EB68765C5790}"/>
              </a:ext>
            </a:extLst>
          </p:cNvPr>
          <p:cNvSpPr txBox="1"/>
          <p:nvPr userDrawn="1"/>
        </p:nvSpPr>
        <p:spPr>
          <a:xfrm rot="1523920">
            <a:off x="5796155" y="5030876"/>
            <a:ext cx="511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1" name="TextBox 14">
            <a:hlinkClick r:id="rId5" tooltip="Software University Foundaton"/>
            <a:extLst>
              <a:ext uri="{FF2B5EF4-FFF2-40B4-BE49-F238E27FC236}">
                <a16:creationId xmlns:a16="http://schemas.microsoft.com/office/drawing/2014/main" id="{B5855C6E-6513-4A5E-964E-CBB574B2B476}"/>
              </a:ext>
            </a:extLst>
          </p:cNvPr>
          <p:cNvSpPr txBox="1"/>
          <p:nvPr userDrawn="1"/>
        </p:nvSpPr>
        <p:spPr>
          <a:xfrm rot="20630519">
            <a:off x="4719975" y="5267108"/>
            <a:ext cx="89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2" name="TextBox 15">
            <a:hlinkClick r:id="rId5" tooltip="Software University Foundaton"/>
            <a:extLst>
              <a:ext uri="{FF2B5EF4-FFF2-40B4-BE49-F238E27FC236}">
                <a16:creationId xmlns:a16="http://schemas.microsoft.com/office/drawing/2014/main" id="{719AA859-1237-4914-865D-8E0CD3AD6567}"/>
              </a:ext>
            </a:extLst>
          </p:cNvPr>
          <p:cNvSpPr txBox="1"/>
          <p:nvPr userDrawn="1"/>
        </p:nvSpPr>
        <p:spPr>
          <a:xfrm rot="20630519">
            <a:off x="4086252" y="4778904"/>
            <a:ext cx="71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3" name="TextBox 16">
            <a:hlinkClick r:id="rId5" tooltip="Software University Foundaton"/>
            <a:extLst>
              <a:ext uri="{FF2B5EF4-FFF2-40B4-BE49-F238E27FC236}">
                <a16:creationId xmlns:a16="http://schemas.microsoft.com/office/drawing/2014/main" id="{53CC8498-FFA6-457D-8B54-3BF3461CEF7A}"/>
              </a:ext>
            </a:extLst>
          </p:cNvPr>
          <p:cNvSpPr txBox="1"/>
          <p:nvPr userDrawn="1"/>
        </p:nvSpPr>
        <p:spPr>
          <a:xfrm rot="20630519">
            <a:off x="6970550" y="5614702"/>
            <a:ext cx="67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4" name="TextBox 18">
            <a:hlinkClick r:id="rId5" tooltip="Software University Foundaton"/>
            <a:extLst>
              <a:ext uri="{FF2B5EF4-FFF2-40B4-BE49-F238E27FC236}">
                <a16:creationId xmlns:a16="http://schemas.microsoft.com/office/drawing/2014/main" id="{2E797E8D-83EB-4466-9FA3-509596EA5568}"/>
              </a:ext>
            </a:extLst>
          </p:cNvPr>
          <p:cNvSpPr txBox="1"/>
          <p:nvPr userDrawn="1"/>
        </p:nvSpPr>
        <p:spPr>
          <a:xfrm rot="20414927">
            <a:off x="4835033" y="3905106"/>
            <a:ext cx="890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5" name="TextBox 19">
            <a:hlinkClick r:id="rId5" tooltip="Software University Foundaton"/>
            <a:extLst>
              <a:ext uri="{FF2B5EF4-FFF2-40B4-BE49-F238E27FC236}">
                <a16:creationId xmlns:a16="http://schemas.microsoft.com/office/drawing/2014/main" id="{58B95D20-6C4F-4F79-AA1D-E40A00E41053}"/>
              </a:ext>
            </a:extLst>
          </p:cNvPr>
          <p:cNvSpPr txBox="1"/>
          <p:nvPr userDrawn="1"/>
        </p:nvSpPr>
        <p:spPr>
          <a:xfrm rot="20215874">
            <a:off x="3507489" y="5315806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6" name="TextBox 20">
            <a:hlinkClick r:id="rId5" tooltip="Software University Foundaton"/>
            <a:extLst>
              <a:ext uri="{FF2B5EF4-FFF2-40B4-BE49-F238E27FC236}">
                <a16:creationId xmlns:a16="http://schemas.microsoft.com/office/drawing/2014/main" id="{2CD5EF91-E0BC-462F-B1B8-6B3F8F1038E5}"/>
              </a:ext>
            </a:extLst>
          </p:cNvPr>
          <p:cNvSpPr txBox="1"/>
          <p:nvPr userDrawn="1"/>
        </p:nvSpPr>
        <p:spPr>
          <a:xfrm rot="1264394">
            <a:off x="5242941" y="5518913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7" name="TextBox 21">
            <a:hlinkClick r:id="rId5" tooltip="Software University Foundaton"/>
            <a:extLst>
              <a:ext uri="{FF2B5EF4-FFF2-40B4-BE49-F238E27FC236}">
                <a16:creationId xmlns:a16="http://schemas.microsoft.com/office/drawing/2014/main" id="{6FF45627-4AF4-4071-A0E8-76738F228651}"/>
              </a:ext>
            </a:extLst>
          </p:cNvPr>
          <p:cNvSpPr txBox="1"/>
          <p:nvPr userDrawn="1"/>
        </p:nvSpPr>
        <p:spPr>
          <a:xfrm rot="1264394">
            <a:off x="2558897" y="4843636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8" name="TextBox 22">
            <a:hlinkClick r:id="rId5" tooltip="Software University Foundaton"/>
            <a:extLst>
              <a:ext uri="{FF2B5EF4-FFF2-40B4-BE49-F238E27FC236}">
                <a16:creationId xmlns:a16="http://schemas.microsoft.com/office/drawing/2014/main" id="{BF119269-565D-4BCB-BED2-4133229E3330}"/>
              </a:ext>
            </a:extLst>
          </p:cNvPr>
          <p:cNvSpPr txBox="1"/>
          <p:nvPr userDrawn="1"/>
        </p:nvSpPr>
        <p:spPr>
          <a:xfrm rot="19121928">
            <a:off x="1418879" y="5249907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49" name="TextBox 23">
            <a:hlinkClick r:id="rId5" tooltip="Software University Foundaton"/>
            <a:extLst>
              <a:ext uri="{FF2B5EF4-FFF2-40B4-BE49-F238E27FC236}">
                <a16:creationId xmlns:a16="http://schemas.microsoft.com/office/drawing/2014/main" id="{C9FE10EB-E49B-416A-A18D-617D25B2AADB}"/>
              </a:ext>
            </a:extLst>
          </p:cNvPr>
          <p:cNvSpPr txBox="1"/>
          <p:nvPr userDrawn="1"/>
        </p:nvSpPr>
        <p:spPr>
          <a:xfrm rot="1264394">
            <a:off x="5389325" y="2481161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0" name="TextBox 24">
            <a:hlinkClick r:id="rId5" tooltip="Software University Foundaton"/>
            <a:extLst>
              <a:ext uri="{FF2B5EF4-FFF2-40B4-BE49-F238E27FC236}">
                <a16:creationId xmlns:a16="http://schemas.microsoft.com/office/drawing/2014/main" id="{B9FCDDF2-3137-4E34-B264-5F180611DC0D}"/>
              </a:ext>
            </a:extLst>
          </p:cNvPr>
          <p:cNvSpPr txBox="1"/>
          <p:nvPr userDrawn="1"/>
        </p:nvSpPr>
        <p:spPr>
          <a:xfrm rot="1264394">
            <a:off x="6616653" y="1491081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1" name="TextBox 25">
            <a:hlinkClick r:id="rId5" tooltip="Software University Foundaton"/>
            <a:extLst>
              <a:ext uri="{FF2B5EF4-FFF2-40B4-BE49-F238E27FC236}">
                <a16:creationId xmlns:a16="http://schemas.microsoft.com/office/drawing/2014/main" id="{F4930118-998D-499A-B37E-D5577CC1A7E4}"/>
              </a:ext>
            </a:extLst>
          </p:cNvPr>
          <p:cNvSpPr txBox="1"/>
          <p:nvPr userDrawn="1"/>
        </p:nvSpPr>
        <p:spPr>
          <a:xfrm rot="20252314">
            <a:off x="3926026" y="2616560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2" name="TextBox 26">
            <a:hlinkClick r:id="rId5" tooltip="Software University Foundaton"/>
            <a:extLst>
              <a:ext uri="{FF2B5EF4-FFF2-40B4-BE49-F238E27FC236}">
                <a16:creationId xmlns:a16="http://schemas.microsoft.com/office/drawing/2014/main" id="{A0EE0643-28B4-437C-A977-17D2723F8213}"/>
              </a:ext>
            </a:extLst>
          </p:cNvPr>
          <p:cNvSpPr txBox="1"/>
          <p:nvPr userDrawn="1"/>
        </p:nvSpPr>
        <p:spPr>
          <a:xfrm rot="20585427">
            <a:off x="5423905" y="1263054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3" name="TextBox 27">
            <a:hlinkClick r:id="rId5" tooltip="Software University Foundaton"/>
            <a:extLst>
              <a:ext uri="{FF2B5EF4-FFF2-40B4-BE49-F238E27FC236}">
                <a16:creationId xmlns:a16="http://schemas.microsoft.com/office/drawing/2014/main" id="{ADAF237D-C784-4665-8DD2-A2B085FC2CAF}"/>
              </a:ext>
            </a:extLst>
          </p:cNvPr>
          <p:cNvSpPr txBox="1"/>
          <p:nvPr userDrawn="1"/>
        </p:nvSpPr>
        <p:spPr>
          <a:xfrm rot="1264394">
            <a:off x="6357616" y="4923003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4" name="TextBox 28">
            <a:hlinkClick r:id="rId5" tooltip="Software University Foundaton"/>
            <a:extLst>
              <a:ext uri="{FF2B5EF4-FFF2-40B4-BE49-F238E27FC236}">
                <a16:creationId xmlns:a16="http://schemas.microsoft.com/office/drawing/2014/main" id="{012AF389-E695-4054-9706-588DCD4FD543}"/>
              </a:ext>
            </a:extLst>
          </p:cNvPr>
          <p:cNvSpPr txBox="1"/>
          <p:nvPr userDrawn="1"/>
        </p:nvSpPr>
        <p:spPr>
          <a:xfrm rot="2248444">
            <a:off x="3177255" y="1174443"/>
            <a:ext cx="890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5" name="TextBox 29">
            <a:hlinkClick r:id="rId5" tooltip="Software University Foundaton"/>
            <a:extLst>
              <a:ext uri="{FF2B5EF4-FFF2-40B4-BE49-F238E27FC236}">
                <a16:creationId xmlns:a16="http://schemas.microsoft.com/office/drawing/2014/main" id="{98678852-FD82-4E90-BE26-4D9E01678873}"/>
              </a:ext>
            </a:extLst>
          </p:cNvPr>
          <p:cNvSpPr txBox="1"/>
          <p:nvPr userDrawn="1"/>
        </p:nvSpPr>
        <p:spPr>
          <a:xfrm rot="20630519">
            <a:off x="2538020" y="5819780"/>
            <a:ext cx="71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2128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412" y="309941"/>
            <a:ext cx="228631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resentation Title Slide">
    <p:bg bwMode="grayWhite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es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137202EB-ED0E-4E36-AF0D-3C14E1E17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2F2189-2658-41D9-B248-2A4275099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20CF9-A1E5-4594-B6B5-4E33A9373C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105104" y="973900"/>
            <a:ext cx="3788598" cy="4395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C72FAC-F5FC-4E78-AF2E-5FE88145F87F}"/>
              </a:ext>
            </a:extLst>
          </p:cNvPr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>
                <a:solidFill>
                  <a:srgbClr val="F3BE60"/>
                </a:solidFill>
              </a:rPr>
              <a:t>Въпроси</a:t>
            </a:r>
            <a:r>
              <a:rPr lang="en-US" sz="6600" b="1" dirty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AA82EC-2BC4-4E2F-8DDF-AD19DA7284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17" y="319859"/>
            <a:ext cx="2212117" cy="551743"/>
          </a:xfrm>
          <a:prstGeom prst="rect">
            <a:avLst/>
          </a:prstGeom>
        </p:spPr>
      </p:pic>
      <p:sp>
        <p:nvSpPr>
          <p:cNvPr id="7" name="TextBox 6">
            <a:hlinkClick r:id="rId5" tooltip="Software University Foundaton"/>
            <a:extLst>
              <a:ext uri="{FF2B5EF4-FFF2-40B4-BE49-F238E27FC236}">
                <a16:creationId xmlns:a16="http://schemas.microsoft.com/office/drawing/2014/main" id="{16E2CED5-12CB-4DAB-AB53-DAFC84087DD6}"/>
              </a:ext>
            </a:extLst>
          </p:cNvPr>
          <p:cNvSpPr txBox="1"/>
          <p:nvPr userDrawn="1"/>
        </p:nvSpPr>
        <p:spPr>
          <a:xfrm rot="20630519">
            <a:off x="6532234" y="2513233"/>
            <a:ext cx="41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8" name="TextBox 7">
            <a:hlinkClick r:id="rId5" tooltip="Software University Foundaton"/>
            <a:extLst>
              <a:ext uri="{FF2B5EF4-FFF2-40B4-BE49-F238E27FC236}">
                <a16:creationId xmlns:a16="http://schemas.microsoft.com/office/drawing/2014/main" id="{6AD1C000-AB32-4602-B810-4D9852856055}"/>
              </a:ext>
            </a:extLst>
          </p:cNvPr>
          <p:cNvSpPr txBox="1"/>
          <p:nvPr userDrawn="1"/>
        </p:nvSpPr>
        <p:spPr>
          <a:xfrm rot="1520410">
            <a:off x="4148066" y="2083657"/>
            <a:ext cx="603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9" name="TextBox 8">
            <a:hlinkClick r:id="rId5" tooltip="Software University Foundaton"/>
            <a:extLst>
              <a:ext uri="{FF2B5EF4-FFF2-40B4-BE49-F238E27FC236}">
                <a16:creationId xmlns:a16="http://schemas.microsoft.com/office/drawing/2014/main" id="{3CE77DE0-66FC-48AC-A23C-2E121AF40F0C}"/>
              </a:ext>
            </a:extLst>
          </p:cNvPr>
          <p:cNvSpPr txBox="1"/>
          <p:nvPr userDrawn="1"/>
        </p:nvSpPr>
        <p:spPr>
          <a:xfrm rot="20630519" flipH="1">
            <a:off x="4951476" y="1556593"/>
            <a:ext cx="794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0" name="TextBox 9">
            <a:hlinkClick r:id="rId5" tooltip="Software University Foundaton"/>
            <a:extLst>
              <a:ext uri="{FF2B5EF4-FFF2-40B4-BE49-F238E27FC236}">
                <a16:creationId xmlns:a16="http://schemas.microsoft.com/office/drawing/2014/main" id="{E7C26DA3-0849-42C5-9508-EF9BFF7C47DB}"/>
              </a:ext>
            </a:extLst>
          </p:cNvPr>
          <p:cNvSpPr txBox="1"/>
          <p:nvPr userDrawn="1"/>
        </p:nvSpPr>
        <p:spPr>
          <a:xfrm rot="1561633" flipH="1">
            <a:off x="4826684" y="2358552"/>
            <a:ext cx="336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1" name="TextBox 10">
            <a:hlinkClick r:id="rId5" tooltip="Software University Foundaton"/>
            <a:extLst>
              <a:ext uri="{FF2B5EF4-FFF2-40B4-BE49-F238E27FC236}">
                <a16:creationId xmlns:a16="http://schemas.microsoft.com/office/drawing/2014/main" id="{AB44A4A6-AE34-4A8F-9077-D6569BF40B0C}"/>
              </a:ext>
            </a:extLst>
          </p:cNvPr>
          <p:cNvSpPr txBox="1"/>
          <p:nvPr userDrawn="1"/>
        </p:nvSpPr>
        <p:spPr>
          <a:xfrm rot="20630519">
            <a:off x="5865601" y="1968054"/>
            <a:ext cx="633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2" name="TextBox 11">
            <a:hlinkClick r:id="rId5" tooltip="Software University Foundaton"/>
            <a:extLst>
              <a:ext uri="{FF2B5EF4-FFF2-40B4-BE49-F238E27FC236}">
                <a16:creationId xmlns:a16="http://schemas.microsoft.com/office/drawing/2014/main" id="{68861D82-7435-41E8-B5ED-398623FC4F51}"/>
              </a:ext>
            </a:extLst>
          </p:cNvPr>
          <p:cNvSpPr txBox="1"/>
          <p:nvPr userDrawn="1"/>
        </p:nvSpPr>
        <p:spPr>
          <a:xfrm rot="20630519">
            <a:off x="6228195" y="4242981"/>
            <a:ext cx="4889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3" name="TextBox 12">
            <a:hlinkClick r:id="rId5" tooltip="Software University Foundaton"/>
            <a:extLst>
              <a:ext uri="{FF2B5EF4-FFF2-40B4-BE49-F238E27FC236}">
                <a16:creationId xmlns:a16="http://schemas.microsoft.com/office/drawing/2014/main" id="{C224F999-651D-4A26-8A68-EB68765C5790}"/>
              </a:ext>
            </a:extLst>
          </p:cNvPr>
          <p:cNvSpPr txBox="1"/>
          <p:nvPr userDrawn="1"/>
        </p:nvSpPr>
        <p:spPr>
          <a:xfrm rot="1523920">
            <a:off x="5796155" y="5030876"/>
            <a:ext cx="511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5" name="TextBox 14">
            <a:hlinkClick r:id="rId5" tooltip="Software University Foundaton"/>
            <a:extLst>
              <a:ext uri="{FF2B5EF4-FFF2-40B4-BE49-F238E27FC236}">
                <a16:creationId xmlns:a16="http://schemas.microsoft.com/office/drawing/2014/main" id="{B5855C6E-6513-4A5E-964E-CBB574B2B476}"/>
              </a:ext>
            </a:extLst>
          </p:cNvPr>
          <p:cNvSpPr txBox="1"/>
          <p:nvPr userDrawn="1"/>
        </p:nvSpPr>
        <p:spPr>
          <a:xfrm rot="20630519">
            <a:off x="4719975" y="5267108"/>
            <a:ext cx="89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6" name="TextBox 15">
            <a:hlinkClick r:id="rId5" tooltip="Software University Foundaton"/>
            <a:extLst>
              <a:ext uri="{FF2B5EF4-FFF2-40B4-BE49-F238E27FC236}">
                <a16:creationId xmlns:a16="http://schemas.microsoft.com/office/drawing/2014/main" id="{719AA859-1237-4914-865D-8E0CD3AD6567}"/>
              </a:ext>
            </a:extLst>
          </p:cNvPr>
          <p:cNvSpPr txBox="1"/>
          <p:nvPr userDrawn="1"/>
        </p:nvSpPr>
        <p:spPr>
          <a:xfrm rot="20630519">
            <a:off x="4086252" y="4778904"/>
            <a:ext cx="71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7" name="TextBox 16">
            <a:hlinkClick r:id="rId5" tooltip="Software University Foundaton"/>
            <a:extLst>
              <a:ext uri="{FF2B5EF4-FFF2-40B4-BE49-F238E27FC236}">
                <a16:creationId xmlns:a16="http://schemas.microsoft.com/office/drawing/2014/main" id="{53CC8498-FFA6-457D-8B54-3BF3461CEF7A}"/>
              </a:ext>
            </a:extLst>
          </p:cNvPr>
          <p:cNvSpPr txBox="1"/>
          <p:nvPr userDrawn="1"/>
        </p:nvSpPr>
        <p:spPr>
          <a:xfrm rot="20630519">
            <a:off x="6970550" y="5614702"/>
            <a:ext cx="675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9" name="TextBox 18">
            <a:hlinkClick r:id="rId5" tooltip="Software University Foundaton"/>
            <a:extLst>
              <a:ext uri="{FF2B5EF4-FFF2-40B4-BE49-F238E27FC236}">
                <a16:creationId xmlns:a16="http://schemas.microsoft.com/office/drawing/2014/main" id="{2E797E8D-83EB-4466-9FA3-509596EA5568}"/>
              </a:ext>
            </a:extLst>
          </p:cNvPr>
          <p:cNvSpPr txBox="1"/>
          <p:nvPr userDrawn="1"/>
        </p:nvSpPr>
        <p:spPr>
          <a:xfrm rot="20414927">
            <a:off x="4835033" y="3905106"/>
            <a:ext cx="890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0" name="TextBox 19">
            <a:hlinkClick r:id="rId5" tooltip="Software University Foundaton"/>
            <a:extLst>
              <a:ext uri="{FF2B5EF4-FFF2-40B4-BE49-F238E27FC236}">
                <a16:creationId xmlns:a16="http://schemas.microsoft.com/office/drawing/2014/main" id="{58B95D20-6C4F-4F79-AA1D-E40A00E41053}"/>
              </a:ext>
            </a:extLst>
          </p:cNvPr>
          <p:cNvSpPr txBox="1"/>
          <p:nvPr userDrawn="1"/>
        </p:nvSpPr>
        <p:spPr>
          <a:xfrm rot="20215874">
            <a:off x="3507489" y="5315806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1" name="TextBox 20">
            <a:hlinkClick r:id="rId5" tooltip="Software University Foundaton"/>
            <a:extLst>
              <a:ext uri="{FF2B5EF4-FFF2-40B4-BE49-F238E27FC236}">
                <a16:creationId xmlns:a16="http://schemas.microsoft.com/office/drawing/2014/main" id="{2CD5EF91-E0BC-462F-B1B8-6B3F8F1038E5}"/>
              </a:ext>
            </a:extLst>
          </p:cNvPr>
          <p:cNvSpPr txBox="1"/>
          <p:nvPr userDrawn="1"/>
        </p:nvSpPr>
        <p:spPr>
          <a:xfrm rot="1264394">
            <a:off x="5242941" y="5518913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2" name="TextBox 21">
            <a:hlinkClick r:id="rId5" tooltip="Software University Foundaton"/>
            <a:extLst>
              <a:ext uri="{FF2B5EF4-FFF2-40B4-BE49-F238E27FC236}">
                <a16:creationId xmlns:a16="http://schemas.microsoft.com/office/drawing/2014/main" id="{6FF45627-4AF4-4071-A0E8-76738F228651}"/>
              </a:ext>
            </a:extLst>
          </p:cNvPr>
          <p:cNvSpPr txBox="1"/>
          <p:nvPr userDrawn="1"/>
        </p:nvSpPr>
        <p:spPr>
          <a:xfrm rot="1264394">
            <a:off x="2558897" y="4843636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3" name="TextBox 22">
            <a:hlinkClick r:id="rId5" tooltip="Software University Foundaton"/>
            <a:extLst>
              <a:ext uri="{FF2B5EF4-FFF2-40B4-BE49-F238E27FC236}">
                <a16:creationId xmlns:a16="http://schemas.microsoft.com/office/drawing/2014/main" id="{BF119269-565D-4BCB-BED2-4133229E3330}"/>
              </a:ext>
            </a:extLst>
          </p:cNvPr>
          <p:cNvSpPr txBox="1"/>
          <p:nvPr userDrawn="1"/>
        </p:nvSpPr>
        <p:spPr>
          <a:xfrm rot="19121928">
            <a:off x="1418879" y="5249907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4" name="TextBox 23">
            <a:hlinkClick r:id="rId5" tooltip="Software University Foundaton"/>
            <a:extLst>
              <a:ext uri="{FF2B5EF4-FFF2-40B4-BE49-F238E27FC236}">
                <a16:creationId xmlns:a16="http://schemas.microsoft.com/office/drawing/2014/main" id="{C9FE10EB-E49B-416A-A18D-617D25B2AADB}"/>
              </a:ext>
            </a:extLst>
          </p:cNvPr>
          <p:cNvSpPr txBox="1"/>
          <p:nvPr userDrawn="1"/>
        </p:nvSpPr>
        <p:spPr>
          <a:xfrm rot="1264394">
            <a:off x="5389325" y="2481161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5" name="TextBox 24">
            <a:hlinkClick r:id="rId5" tooltip="Software University Foundaton"/>
            <a:extLst>
              <a:ext uri="{FF2B5EF4-FFF2-40B4-BE49-F238E27FC236}">
                <a16:creationId xmlns:a16="http://schemas.microsoft.com/office/drawing/2014/main" id="{B9FCDDF2-3137-4E34-B264-5F180611DC0D}"/>
              </a:ext>
            </a:extLst>
          </p:cNvPr>
          <p:cNvSpPr txBox="1"/>
          <p:nvPr userDrawn="1"/>
        </p:nvSpPr>
        <p:spPr>
          <a:xfrm rot="1264394">
            <a:off x="6616653" y="1491081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6" name="TextBox 25">
            <a:hlinkClick r:id="rId5" tooltip="Software University Foundaton"/>
            <a:extLst>
              <a:ext uri="{FF2B5EF4-FFF2-40B4-BE49-F238E27FC236}">
                <a16:creationId xmlns:a16="http://schemas.microsoft.com/office/drawing/2014/main" id="{F4930118-998D-499A-B37E-D5577CC1A7E4}"/>
              </a:ext>
            </a:extLst>
          </p:cNvPr>
          <p:cNvSpPr txBox="1"/>
          <p:nvPr userDrawn="1"/>
        </p:nvSpPr>
        <p:spPr>
          <a:xfrm rot="20252314">
            <a:off x="3926026" y="2616560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5" tooltip="Software University Foundaton"/>
            <a:extLst>
              <a:ext uri="{FF2B5EF4-FFF2-40B4-BE49-F238E27FC236}">
                <a16:creationId xmlns:a16="http://schemas.microsoft.com/office/drawing/2014/main" id="{A0EE0643-28B4-437C-A977-17D2723F8213}"/>
              </a:ext>
            </a:extLst>
          </p:cNvPr>
          <p:cNvSpPr txBox="1"/>
          <p:nvPr userDrawn="1"/>
        </p:nvSpPr>
        <p:spPr>
          <a:xfrm rot="20585427">
            <a:off x="5423905" y="1263054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8" name="TextBox 27">
            <a:hlinkClick r:id="rId5" tooltip="Software University Foundaton"/>
            <a:extLst>
              <a:ext uri="{FF2B5EF4-FFF2-40B4-BE49-F238E27FC236}">
                <a16:creationId xmlns:a16="http://schemas.microsoft.com/office/drawing/2014/main" id="{ADAF237D-C784-4665-8DD2-A2B085FC2CAF}"/>
              </a:ext>
            </a:extLst>
          </p:cNvPr>
          <p:cNvSpPr txBox="1"/>
          <p:nvPr userDrawn="1"/>
        </p:nvSpPr>
        <p:spPr>
          <a:xfrm rot="1264394">
            <a:off x="6357616" y="4923003"/>
            <a:ext cx="6915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9" name="TextBox 28">
            <a:hlinkClick r:id="rId5" tooltip="Software University Foundaton"/>
            <a:extLst>
              <a:ext uri="{FF2B5EF4-FFF2-40B4-BE49-F238E27FC236}">
                <a16:creationId xmlns:a16="http://schemas.microsoft.com/office/drawing/2014/main" id="{012AF389-E695-4054-9706-588DCD4FD543}"/>
              </a:ext>
            </a:extLst>
          </p:cNvPr>
          <p:cNvSpPr txBox="1"/>
          <p:nvPr userDrawn="1"/>
        </p:nvSpPr>
        <p:spPr>
          <a:xfrm rot="2248444">
            <a:off x="3177255" y="1174443"/>
            <a:ext cx="890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30" name="TextBox 29">
            <a:hlinkClick r:id="rId5" tooltip="Software University Foundaton"/>
            <a:extLst>
              <a:ext uri="{FF2B5EF4-FFF2-40B4-BE49-F238E27FC236}">
                <a16:creationId xmlns:a16="http://schemas.microsoft.com/office/drawing/2014/main" id="{98678852-FD82-4E90-BE26-4D9E01678873}"/>
              </a:ext>
            </a:extLst>
          </p:cNvPr>
          <p:cNvSpPr txBox="1"/>
          <p:nvPr userDrawn="1"/>
        </p:nvSpPr>
        <p:spPr>
          <a:xfrm rot="20630519">
            <a:off x="2538020" y="5819780"/>
            <a:ext cx="71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7498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72"/>
          <a:stretch/>
        </p:blipFill>
        <p:spPr>
          <a:xfrm>
            <a:off x="-3175" y="1"/>
            <a:ext cx="12192000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88825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353" y="1196125"/>
            <a:ext cx="11815018" cy="52010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91B60F-461F-45D1-A35C-8AC3D83E7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283" y="232973"/>
            <a:ext cx="2125527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3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03F5F2-BA1B-4A39-A03D-AD9E0469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8767" y="6397195"/>
            <a:ext cx="80850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1/31/2019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BCD1B1-3A00-45B1-B516-6B8E7FBC4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7269" y="6397195"/>
            <a:ext cx="10564533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02A4B2-CB08-42CE-A814-FBDF345C2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00" y="6397195"/>
            <a:ext cx="428710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55" y="100750"/>
            <a:ext cx="9503571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bg-BG"/>
              <a:t>Редакт. стил загл. образец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363" y="1138844"/>
            <a:ext cx="11801748" cy="524290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865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89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69" r:id="rId19"/>
    <p:sldLayoutId id="2147483688" r:id="rId20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1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915" indent="-456915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989981" indent="-380762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523048" indent="-304610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2132267" indent="-304610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741485" indent="-304610" algn="l" defTabSz="1218438" rtl="0" eaLnBrk="1" latinLnBrk="1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oftuni.bg/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emf"/><Relationship Id="rId5" Type="http://schemas.openxmlformats.org/officeDocument/2006/relationships/customXml" Target="../ink/ink2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customXml" Target="../ink/ink3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customXml" Target="../ink/ink7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customXml" Target="../ink/ink11.xml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customXml" Target="../ink/ink12.x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customXml" Target="../ink/ink15.xml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5" Type="http://schemas.openxmlformats.org/officeDocument/2006/relationships/customXml" Target="../ink/ink16.x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Compete/Index/1014#0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Compete/Index/1014#1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Compete/Index/1014#5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judge.softuni.bg/Contests/Compete/Index/1014#6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judge.softuni.bg/Contests/Compete/Index/1014#1" TargetMode="Externa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Compete/Index/1014#8" TargetMode="Externa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Compete/Index/1014#8" TargetMode="Externa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courses/programming-basic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hyperlink" Target="https://www.superhosting.bg/" TargetMode="External"/><Relationship Id="rId3" Type="http://schemas.openxmlformats.org/officeDocument/2006/relationships/hyperlink" Target="http://www.infragistics.com/" TargetMode="External"/><Relationship Id="rId7" Type="http://schemas.openxmlformats.org/officeDocument/2006/relationships/hyperlink" Target="https://www.softwaregroup.com/" TargetMode="External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4.png"/><Relationship Id="rId11" Type="http://schemas.openxmlformats.org/officeDocument/2006/relationships/hyperlink" Target="https://netpeak.bg/" TargetMode="External"/><Relationship Id="rId5" Type="http://schemas.openxmlformats.org/officeDocument/2006/relationships/hyperlink" Target="https://www.indeavr.com/en" TargetMode="External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hyperlink" Target="https://www.xs-software.com/" TargetMode="External"/><Relationship Id="rId1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13" Type="http://schemas.openxmlformats.org/officeDocument/2006/relationships/hyperlink" Target="http://smartit.bg/" TargetMode="External"/><Relationship Id="rId3" Type="http://schemas.openxmlformats.org/officeDocument/2006/relationships/hyperlink" Target="https://aeternity.com/" TargetMode="External"/><Relationship Id="rId7" Type="http://schemas.openxmlformats.org/officeDocument/2006/relationships/hyperlink" Target="https://www.liebherr.com/en/deu/start/start-page.html" TargetMode="External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0.png"/><Relationship Id="rId11" Type="http://schemas.openxmlformats.org/officeDocument/2006/relationships/hyperlink" Target="https://www.sbtech.com/" TargetMode="External"/><Relationship Id="rId5" Type="http://schemas.openxmlformats.org/officeDocument/2006/relationships/hyperlink" Target="codexio.bg" TargetMode="External"/><Relationship Id="rId10" Type="http://schemas.openxmlformats.org/officeDocument/2006/relationships/image" Target="../media/image62.png"/><Relationship Id="rId4" Type="http://schemas.openxmlformats.org/officeDocument/2006/relationships/image" Target="../media/image59.png"/><Relationship Id="rId9" Type="http://schemas.openxmlformats.org/officeDocument/2006/relationships/hyperlink" Target="http://www.telenor.bg/" TargetMode="External"/><Relationship Id="rId1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5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://www.introprogramming.info/intro-java-book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foundation/" TargetMode="External"/><Relationship Id="rId2" Type="http://schemas.openxmlformats.org/officeDocument/2006/relationships/hyperlink" Target="http://softuni.bg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://forum.softuni.bg/" TargetMode="External"/><Relationship Id="rId4" Type="http://schemas.openxmlformats.org/officeDocument/2006/relationships/hyperlink" Target="https://www.facebook.com/SoftwareUnivers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F2A00-F054-44D7-8B60-8777B863D5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1A796-775B-4169-B78B-977550C901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60200" y="6397625"/>
            <a:ext cx="428625" cy="307975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6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id="{933A1FEE-0D74-4291-9197-45C891F6C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2" y="1385091"/>
            <a:ext cx="2285999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79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247" y="1219200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Какво</a:t>
            </a:r>
            <a:r>
              <a:rPr lang="en-US" dirty="0"/>
              <a:t> ще се </a:t>
            </a:r>
            <a:r>
              <a:rPr lang="bg-BG" dirty="0"/>
              <a:t>отпечата</a:t>
            </a:r>
            <a:r>
              <a:rPr lang="en-US" dirty="0"/>
              <a:t> </a:t>
            </a:r>
            <a:r>
              <a:rPr lang="bg-BG" dirty="0"/>
              <a:t>на конзолата, ако изпълним следната команда:</a:t>
            </a:r>
          </a:p>
          <a:p>
            <a:pPr marL="514350" indent="-514350">
              <a:buAutoNum type="arabicPeriod"/>
            </a:pPr>
            <a:endParaRPr lang="bg-BG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1136" y="1805715"/>
            <a:ext cx="7848600" cy="587121"/>
          </a:xfrm>
        </p:spPr>
        <p:txBody>
          <a:bodyPr/>
          <a:lstStyle/>
          <a:p>
            <a:r>
              <a:rPr lang="en-US" dirty="0"/>
              <a:t>Console.WriteLine(!(5 == 5) &amp;&amp; (4 + 1 == 5));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2C3521-A3BA-47AF-BF9D-EA9ECCA11FE5}"/>
              </a:ext>
            </a:extLst>
          </p:cNvPr>
          <p:cNvGrpSpPr/>
          <p:nvPr/>
        </p:nvGrpSpPr>
        <p:grpSpPr>
          <a:xfrm>
            <a:off x="528903" y="4449310"/>
            <a:ext cx="3250647" cy="1729686"/>
            <a:chOff x="1022647" y="3317410"/>
            <a:chExt cx="4114800" cy="1493675"/>
          </a:xfrm>
        </p:grpSpPr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65852AE0-9E74-4CC9-AF4D-AD4BE0EFE486}"/>
                </a:ext>
              </a:extLst>
            </p:cNvPr>
            <p:cNvSpPr/>
            <p:nvPr/>
          </p:nvSpPr>
          <p:spPr bwMode="auto">
            <a:xfrm>
              <a:off x="1022647" y="3317410"/>
              <a:ext cx="4114800" cy="1493675"/>
            </a:xfrm>
            <a:prstGeom prst="wedgeRoundRectCallout">
              <a:avLst>
                <a:gd name="adj1" fmla="val 37419"/>
                <a:gd name="adj2" fmla="val 64754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A52449-8F4C-4DCD-A5CF-8F60742401D2}"/>
                </a:ext>
              </a:extLst>
            </p:cNvPr>
            <p:cNvSpPr txBox="1"/>
            <p:nvPr/>
          </p:nvSpPr>
          <p:spPr>
            <a:xfrm>
              <a:off x="1454704" y="3468563"/>
              <a:ext cx="3153816" cy="125788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Runtime error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526640B-ABDF-4FCE-88D7-9AAC6C0FEA88}"/>
              </a:ext>
            </a:extLst>
          </p:cNvPr>
          <p:cNvGrpSpPr/>
          <p:nvPr/>
        </p:nvGrpSpPr>
        <p:grpSpPr>
          <a:xfrm>
            <a:off x="7600341" y="4584873"/>
            <a:ext cx="3804561" cy="1673707"/>
            <a:chOff x="1051483" y="4124632"/>
            <a:chExt cx="4114800" cy="1493675"/>
          </a:xfrm>
          <a:solidFill>
            <a:srgbClr val="60BFB7"/>
          </a:solidFill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38386E56-6AC7-4E60-B358-3537BB179600}"/>
                </a:ext>
              </a:extLst>
            </p:cNvPr>
            <p:cNvSpPr/>
            <p:nvPr/>
          </p:nvSpPr>
          <p:spPr bwMode="auto">
            <a:xfrm>
              <a:off x="1051483" y="412463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154C5A-3C28-4971-B49F-F5F5726A331A}"/>
                </a:ext>
              </a:extLst>
            </p:cNvPr>
            <p:cNvSpPr txBox="1"/>
            <p:nvPr/>
          </p:nvSpPr>
          <p:spPr>
            <a:xfrm>
              <a:off x="1365255" y="4307762"/>
              <a:ext cx="3515718" cy="1214542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Compile time error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9E396-D65F-41DC-9F88-F93378AEB206}"/>
              </a:ext>
            </a:extLst>
          </p:cNvPr>
          <p:cNvGrpSpPr/>
          <p:nvPr/>
        </p:nvGrpSpPr>
        <p:grpSpPr>
          <a:xfrm>
            <a:off x="2652367" y="3008509"/>
            <a:ext cx="2931372" cy="2344154"/>
            <a:chOff x="5383671" y="4398726"/>
            <a:chExt cx="3048000" cy="2438818"/>
          </a:xfrm>
        </p:grpSpPr>
        <p:sp>
          <p:nvSpPr>
            <p:cNvPr id="22" name="Speech Bubble: Oval 21">
              <a:extLst>
                <a:ext uri="{FF2B5EF4-FFF2-40B4-BE49-F238E27FC236}">
                  <a16:creationId xmlns:a16="http://schemas.microsoft.com/office/drawing/2014/main" id="{90F8F129-FD09-4084-826F-461572C4BC0A}"/>
                </a:ext>
              </a:extLst>
            </p:cNvPr>
            <p:cNvSpPr/>
            <p:nvPr/>
          </p:nvSpPr>
          <p:spPr bwMode="auto">
            <a:xfrm>
              <a:off x="5383671" y="4398726"/>
              <a:ext cx="3048000" cy="2438818"/>
            </a:xfrm>
            <a:prstGeom prst="wedgeEllipseCallout">
              <a:avLst>
                <a:gd name="adj1" fmla="val 31199"/>
                <a:gd name="adj2" fmla="val 60372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CE9A96-0384-4423-8AAF-67B3C123036A}"/>
                </a:ext>
              </a:extLst>
            </p:cNvPr>
            <p:cNvSpPr txBox="1"/>
            <p:nvPr/>
          </p:nvSpPr>
          <p:spPr>
            <a:xfrm>
              <a:off x="5528901" y="5171420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0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BE0A13-936B-4B5E-B42D-9A84F05A242C}"/>
              </a:ext>
            </a:extLst>
          </p:cNvPr>
          <p:cNvGrpSpPr/>
          <p:nvPr/>
        </p:nvGrpSpPr>
        <p:grpSpPr>
          <a:xfrm>
            <a:off x="5485167" y="3102512"/>
            <a:ext cx="3086935" cy="2429836"/>
            <a:chOff x="8179623" y="2362198"/>
            <a:chExt cx="3048000" cy="2133600"/>
          </a:xfrm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ADCF6939-8ED6-4118-85B1-4F662F6E9365}"/>
                </a:ext>
              </a:extLst>
            </p:cNvPr>
            <p:cNvSpPr/>
            <p:nvPr/>
          </p:nvSpPr>
          <p:spPr bwMode="auto">
            <a:xfrm>
              <a:off x="8179623" y="2362198"/>
              <a:ext cx="3048000" cy="2133600"/>
            </a:xfrm>
            <a:prstGeom prst="wedgeEllipseCallout">
              <a:avLst>
                <a:gd name="adj1" fmla="val -39259"/>
                <a:gd name="adj2" fmla="val 50815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BE5BAB-F2D8-4EAE-A78E-957443B4BF6B}"/>
                </a:ext>
              </a:extLst>
            </p:cNvPr>
            <p:cNvSpPr txBox="1"/>
            <p:nvPr/>
          </p:nvSpPr>
          <p:spPr>
            <a:xfrm>
              <a:off x="9013711" y="3053153"/>
              <a:ext cx="1777668" cy="77248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0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054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1" y="1219200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Какво</a:t>
            </a:r>
            <a:r>
              <a:rPr lang="en-US" dirty="0"/>
              <a:t> ще се </a:t>
            </a:r>
            <a:r>
              <a:rPr lang="bg-BG" dirty="0"/>
              <a:t>отпечата</a:t>
            </a:r>
            <a:r>
              <a:rPr lang="en-US" dirty="0"/>
              <a:t> </a:t>
            </a:r>
            <a:r>
              <a:rPr lang="bg-BG" dirty="0"/>
              <a:t>на конзолата, ако изпълним следната команда:</a:t>
            </a:r>
          </a:p>
          <a:p>
            <a:pPr marL="514350" indent="-514350">
              <a:buAutoNum type="arabicPeriod"/>
            </a:pPr>
            <a:endParaRPr lang="bg-BG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2C3521-A3BA-47AF-BF9D-EA9ECCA11FE5}"/>
              </a:ext>
            </a:extLst>
          </p:cNvPr>
          <p:cNvGrpSpPr/>
          <p:nvPr/>
        </p:nvGrpSpPr>
        <p:grpSpPr>
          <a:xfrm>
            <a:off x="528903" y="4449310"/>
            <a:ext cx="3250647" cy="1729686"/>
            <a:chOff x="1022647" y="3317410"/>
            <a:chExt cx="4114800" cy="1493675"/>
          </a:xfrm>
        </p:grpSpPr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65852AE0-9E74-4CC9-AF4D-AD4BE0EFE486}"/>
                </a:ext>
              </a:extLst>
            </p:cNvPr>
            <p:cNvSpPr/>
            <p:nvPr/>
          </p:nvSpPr>
          <p:spPr bwMode="auto">
            <a:xfrm>
              <a:off x="1022647" y="3317410"/>
              <a:ext cx="4114800" cy="1493675"/>
            </a:xfrm>
            <a:prstGeom prst="wedgeRoundRectCallout">
              <a:avLst>
                <a:gd name="adj1" fmla="val 37419"/>
                <a:gd name="adj2" fmla="val 64754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A52449-8F4C-4DCD-A5CF-8F60742401D2}"/>
                </a:ext>
              </a:extLst>
            </p:cNvPr>
            <p:cNvSpPr txBox="1"/>
            <p:nvPr/>
          </p:nvSpPr>
          <p:spPr>
            <a:xfrm>
              <a:off x="1454704" y="3468563"/>
              <a:ext cx="3153816" cy="125788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Runtime error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526640B-ABDF-4FCE-88D7-9AAC6C0FEA88}"/>
              </a:ext>
            </a:extLst>
          </p:cNvPr>
          <p:cNvGrpSpPr/>
          <p:nvPr/>
        </p:nvGrpSpPr>
        <p:grpSpPr>
          <a:xfrm>
            <a:off x="7600341" y="4584873"/>
            <a:ext cx="3804561" cy="1673707"/>
            <a:chOff x="1051483" y="4124632"/>
            <a:chExt cx="4114800" cy="1493675"/>
          </a:xfrm>
          <a:solidFill>
            <a:srgbClr val="60BFB7"/>
          </a:solidFill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38386E56-6AC7-4E60-B358-3537BB179600}"/>
                </a:ext>
              </a:extLst>
            </p:cNvPr>
            <p:cNvSpPr/>
            <p:nvPr/>
          </p:nvSpPr>
          <p:spPr bwMode="auto">
            <a:xfrm>
              <a:off x="1051483" y="412463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154C5A-3C28-4971-B49F-F5F5726A331A}"/>
                </a:ext>
              </a:extLst>
            </p:cNvPr>
            <p:cNvSpPr txBox="1"/>
            <p:nvPr/>
          </p:nvSpPr>
          <p:spPr>
            <a:xfrm>
              <a:off x="1365255" y="4307762"/>
              <a:ext cx="3515718" cy="121454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Compile time error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9E396-D65F-41DC-9F88-F93378AEB206}"/>
              </a:ext>
            </a:extLst>
          </p:cNvPr>
          <p:cNvGrpSpPr/>
          <p:nvPr/>
        </p:nvGrpSpPr>
        <p:grpSpPr>
          <a:xfrm>
            <a:off x="2652367" y="3008509"/>
            <a:ext cx="2931372" cy="2344154"/>
            <a:chOff x="5383671" y="4398726"/>
            <a:chExt cx="3048000" cy="2438818"/>
          </a:xfrm>
        </p:grpSpPr>
        <p:sp>
          <p:nvSpPr>
            <p:cNvPr id="22" name="Speech Bubble: Oval 21">
              <a:extLst>
                <a:ext uri="{FF2B5EF4-FFF2-40B4-BE49-F238E27FC236}">
                  <a16:creationId xmlns:a16="http://schemas.microsoft.com/office/drawing/2014/main" id="{90F8F129-FD09-4084-826F-461572C4BC0A}"/>
                </a:ext>
              </a:extLst>
            </p:cNvPr>
            <p:cNvSpPr/>
            <p:nvPr/>
          </p:nvSpPr>
          <p:spPr bwMode="auto">
            <a:xfrm>
              <a:off x="5383671" y="4398726"/>
              <a:ext cx="3048000" cy="2438818"/>
            </a:xfrm>
            <a:prstGeom prst="wedgeEllipseCallout">
              <a:avLst>
                <a:gd name="adj1" fmla="val 31199"/>
                <a:gd name="adj2" fmla="val 60372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CE9A96-0384-4423-8AAF-67B3C123036A}"/>
                </a:ext>
              </a:extLst>
            </p:cNvPr>
            <p:cNvSpPr txBox="1"/>
            <p:nvPr/>
          </p:nvSpPr>
          <p:spPr>
            <a:xfrm>
              <a:off x="5528901" y="5171420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0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BE0A13-936B-4B5E-B42D-9A84F05A242C}"/>
              </a:ext>
            </a:extLst>
          </p:cNvPr>
          <p:cNvGrpSpPr/>
          <p:nvPr/>
        </p:nvGrpSpPr>
        <p:grpSpPr>
          <a:xfrm>
            <a:off x="5485167" y="3102512"/>
            <a:ext cx="3086935" cy="2429836"/>
            <a:chOff x="8179623" y="2362198"/>
            <a:chExt cx="3048000" cy="2133600"/>
          </a:xfrm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ADCF6939-8ED6-4118-85B1-4F662F6E9365}"/>
                </a:ext>
              </a:extLst>
            </p:cNvPr>
            <p:cNvSpPr/>
            <p:nvPr/>
          </p:nvSpPr>
          <p:spPr bwMode="auto">
            <a:xfrm>
              <a:off x="8179623" y="2362198"/>
              <a:ext cx="3048000" cy="2133600"/>
            </a:xfrm>
            <a:prstGeom prst="wedgeEllipseCallout">
              <a:avLst>
                <a:gd name="adj1" fmla="val -39259"/>
                <a:gd name="adj2" fmla="val 50815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BE5BAB-F2D8-4EAE-A78E-957443B4BF6B}"/>
                </a:ext>
              </a:extLst>
            </p:cNvPr>
            <p:cNvSpPr txBox="1"/>
            <p:nvPr/>
          </p:nvSpPr>
          <p:spPr>
            <a:xfrm>
              <a:off x="9013711" y="3053153"/>
              <a:ext cx="1777668" cy="77248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0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D898D7A8-5E22-49FB-9318-16CC8881C5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1136" y="1805715"/>
            <a:ext cx="7848600" cy="587121"/>
          </a:xfrm>
        </p:spPr>
        <p:txBody>
          <a:bodyPr/>
          <a:lstStyle/>
          <a:p>
            <a:r>
              <a:rPr lang="en-US" dirty="0"/>
              <a:t>Console.WriteLine(!(5 == 5) &amp;&amp; (4 + 1 == 5));</a:t>
            </a:r>
          </a:p>
        </p:txBody>
      </p:sp>
    </p:spTree>
    <p:extLst>
      <p:ext uri="{BB962C8B-B14F-4D97-AF65-F5344CB8AC3E}">
        <p14:creationId xmlns:p14="http://schemas.microsoft.com/office/powerpoint/2010/main" val="170247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63" y="131091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Какво </a:t>
            </a:r>
            <a:r>
              <a:rPr lang="bg-BG" dirty="0"/>
              <a:t>ще се отпечата на конзолата, ако изпълним следната                 команда</a:t>
            </a:r>
            <a:r>
              <a:rPr lang="en-US" dirty="0"/>
              <a:t>:</a:t>
            </a:r>
          </a:p>
          <a:p>
            <a:pPr marL="514350" indent="-514350">
              <a:buAutoNum type="arabicPeriod" startAt="2"/>
            </a:pPr>
            <a:endParaRPr lang="bg-BG" dirty="0"/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5412" y="1902061"/>
            <a:ext cx="7162800" cy="587121"/>
          </a:xfrm>
        </p:spPr>
        <p:txBody>
          <a:bodyPr/>
          <a:lstStyle/>
          <a:p>
            <a:r>
              <a:rPr lang="en-US" dirty="0"/>
              <a:t>Console.WriteLine(!(3 == 3) || (3 == 5));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313612" y="4346316"/>
            <a:ext cx="3893324" cy="2023447"/>
            <a:chOff x="1047229" y="4098002"/>
            <a:chExt cx="4114800" cy="1493675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9" y="409800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65255" y="4307762"/>
              <a:ext cx="3515718" cy="1263513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02332" y="3759539"/>
            <a:ext cx="3008540" cy="2720441"/>
            <a:chOff x="5541569" y="4570824"/>
            <a:chExt cx="3048000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765887" y="5387729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2542678" y="2953651"/>
            <a:ext cx="3530995" cy="2023447"/>
            <a:chOff x="1063130" y="3246971"/>
            <a:chExt cx="4114800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11732"/>
                <a:gd name="adj2" fmla="val 82599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8BB7FC-6F0C-4A28-8913-7C5160408401}"/>
              </a:ext>
            </a:extLst>
          </p:cNvPr>
          <p:cNvGrpSpPr/>
          <p:nvPr/>
        </p:nvGrpSpPr>
        <p:grpSpPr>
          <a:xfrm>
            <a:off x="5427702" y="2652937"/>
            <a:ext cx="2877700" cy="2501581"/>
            <a:chOff x="8273212" y="2372594"/>
            <a:chExt cx="3048000" cy="2133600"/>
          </a:xfrm>
        </p:grpSpPr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AA3689B5-A398-4CA8-9087-F65690EDE2BC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-8754"/>
                <a:gd name="adj2" fmla="val 66116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6CA757-0AA2-4AA5-A66D-2164B1D43D2B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512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1663" y="131091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Какво </a:t>
            </a:r>
            <a:r>
              <a:rPr lang="bg-BG" dirty="0"/>
              <a:t>ще се отпечата на конзолата, ако изпълним следната                 команда</a:t>
            </a:r>
            <a:r>
              <a:rPr lang="en-US" dirty="0"/>
              <a:t>:</a:t>
            </a:r>
          </a:p>
          <a:p>
            <a:pPr marL="514350" indent="-514350">
              <a:buAutoNum type="arabicPeriod" startAt="2"/>
            </a:pPr>
            <a:endParaRPr lang="bg-BG" dirty="0"/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65412" y="1902061"/>
            <a:ext cx="7162800" cy="587121"/>
          </a:xfrm>
        </p:spPr>
        <p:txBody>
          <a:bodyPr/>
          <a:lstStyle/>
          <a:p>
            <a:r>
              <a:rPr lang="en-US" dirty="0"/>
              <a:t>Console.WriteLine(!(3 == 3) || (3 == 5));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313612" y="4346316"/>
            <a:ext cx="3893324" cy="2023447"/>
            <a:chOff x="1047229" y="4098002"/>
            <a:chExt cx="4114800" cy="1493675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9" y="409800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65255" y="4307762"/>
              <a:ext cx="3515718" cy="126351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02332" y="3759539"/>
            <a:ext cx="3008540" cy="2720441"/>
            <a:chOff x="5541569" y="4570824"/>
            <a:chExt cx="3048000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765887" y="5387729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2542678" y="2953651"/>
            <a:ext cx="3530995" cy="2023447"/>
            <a:chOff x="1063130" y="3246971"/>
            <a:chExt cx="4114800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11732"/>
                <a:gd name="adj2" fmla="val 82599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8BB7FC-6F0C-4A28-8913-7C5160408401}"/>
              </a:ext>
            </a:extLst>
          </p:cNvPr>
          <p:cNvGrpSpPr/>
          <p:nvPr/>
        </p:nvGrpSpPr>
        <p:grpSpPr>
          <a:xfrm>
            <a:off x="5427702" y="2652937"/>
            <a:ext cx="2877700" cy="2501581"/>
            <a:chOff x="8273212" y="2372594"/>
            <a:chExt cx="3048000" cy="2133600"/>
          </a:xfrm>
        </p:grpSpPr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AA3689B5-A398-4CA8-9087-F65690EDE2BC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-8754"/>
                <a:gd name="adj2" fmla="val 66116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6CA757-0AA2-4AA5-A66D-2164B1D43D2B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4652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Какво </a:t>
            </a:r>
            <a:r>
              <a:rPr lang="bg-BG" dirty="0"/>
              <a:t>ще се отпечата на конзолата, ако изпълним следната   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3"/>
            </a:pPr>
            <a:endParaRPr lang="bg-BG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1612" y="1828800"/>
            <a:ext cx="7162800" cy="587121"/>
          </a:xfrm>
        </p:spPr>
        <p:txBody>
          <a:bodyPr/>
          <a:lstStyle/>
          <a:p>
            <a:r>
              <a:rPr lang="en-US" dirty="0"/>
              <a:t>Console.WriteLine(!(3 &gt; 5) || (1 == 1));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9C47A8-18C0-4A8D-AA35-198791083351}"/>
              </a:ext>
            </a:extLst>
          </p:cNvPr>
          <p:cNvGrpSpPr/>
          <p:nvPr/>
        </p:nvGrpSpPr>
        <p:grpSpPr>
          <a:xfrm>
            <a:off x="887043" y="3139890"/>
            <a:ext cx="3709138" cy="1816544"/>
            <a:chOff x="1065712" y="4121282"/>
            <a:chExt cx="4114800" cy="1505094"/>
          </a:xfrm>
          <a:solidFill>
            <a:srgbClr val="60BFB7"/>
          </a:solidFill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4AE007E9-D57E-4DFF-BA26-BF502FFA5E77}"/>
                </a:ext>
              </a:extLst>
            </p:cNvPr>
            <p:cNvSpPr/>
            <p:nvPr/>
          </p:nvSpPr>
          <p:spPr bwMode="auto">
            <a:xfrm>
              <a:off x="1065712" y="4121282"/>
              <a:ext cx="4114800" cy="1493675"/>
            </a:xfrm>
            <a:prstGeom prst="wedgeRoundRectCallout">
              <a:avLst>
                <a:gd name="adj1" fmla="val -8443"/>
                <a:gd name="adj2" fmla="val 65917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E93C4B-BAE8-4D7B-A81E-93C3E8B689CB}"/>
                </a:ext>
              </a:extLst>
            </p:cNvPr>
            <p:cNvSpPr txBox="1"/>
            <p:nvPr/>
          </p:nvSpPr>
          <p:spPr>
            <a:xfrm>
              <a:off x="1365254" y="4307762"/>
              <a:ext cx="3515717" cy="1318614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617635-D8AB-46F2-932B-1EEDE4BD4CA1}"/>
              </a:ext>
            </a:extLst>
          </p:cNvPr>
          <p:cNvGrpSpPr/>
          <p:nvPr/>
        </p:nvGrpSpPr>
        <p:grpSpPr>
          <a:xfrm>
            <a:off x="7999412" y="3661310"/>
            <a:ext cx="3008540" cy="2720441"/>
            <a:chOff x="5686304" y="4518492"/>
            <a:chExt cx="3048000" cy="2438818"/>
          </a:xfrm>
        </p:grpSpPr>
        <p:sp>
          <p:nvSpPr>
            <p:cNvPr id="12" name="Speech Bubble: Oval 11">
              <a:extLst>
                <a:ext uri="{FF2B5EF4-FFF2-40B4-BE49-F238E27FC236}">
                  <a16:creationId xmlns:a16="http://schemas.microsoft.com/office/drawing/2014/main" id="{00BC79FD-D0C6-404D-9C07-2F174B961F62}"/>
                </a:ext>
              </a:extLst>
            </p:cNvPr>
            <p:cNvSpPr/>
            <p:nvPr/>
          </p:nvSpPr>
          <p:spPr bwMode="auto">
            <a:xfrm>
              <a:off x="5686304" y="4518492"/>
              <a:ext cx="3048000" cy="2438818"/>
            </a:xfrm>
            <a:prstGeom prst="wedgeEllipseCallout">
              <a:avLst>
                <a:gd name="adj1" fmla="val -34900"/>
                <a:gd name="adj2" fmla="val 52290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5B43E8-1B5A-436B-ADF5-2D0125EF1C31}"/>
                </a:ext>
              </a:extLst>
            </p:cNvPr>
            <p:cNvSpPr txBox="1"/>
            <p:nvPr/>
          </p:nvSpPr>
          <p:spPr>
            <a:xfrm>
              <a:off x="5921955" y="5374470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48998B-FAFE-445F-9A3E-1FA6D414A6DB}"/>
              </a:ext>
            </a:extLst>
          </p:cNvPr>
          <p:cNvGrpSpPr/>
          <p:nvPr/>
        </p:nvGrpSpPr>
        <p:grpSpPr>
          <a:xfrm>
            <a:off x="5422082" y="2932987"/>
            <a:ext cx="3530995" cy="2023447"/>
            <a:chOff x="1063130" y="3246971"/>
            <a:chExt cx="4114800" cy="1493675"/>
          </a:xfrm>
        </p:grpSpPr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90604D9A-0F93-4C39-86D0-47A8139AB76A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4189"/>
                <a:gd name="adj2" fmla="val 68120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40423-DCAE-42EF-8603-CB7CE6D9AD44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156991-F43C-4280-8C77-46589B09C2FF}"/>
              </a:ext>
            </a:extLst>
          </p:cNvPr>
          <p:cNvGrpSpPr/>
          <p:nvPr/>
        </p:nvGrpSpPr>
        <p:grpSpPr>
          <a:xfrm>
            <a:off x="3506332" y="3994539"/>
            <a:ext cx="2877700" cy="2501581"/>
            <a:chOff x="8273212" y="2372594"/>
            <a:chExt cx="3048000" cy="2133600"/>
          </a:xfrm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1B7411D7-31EF-431B-BBA8-AD98E15F5BB9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20553"/>
                <a:gd name="adj2" fmla="val 58663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7F3AC2-049D-47F6-9DE8-7BBF820D0F82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398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Какво </a:t>
            </a:r>
            <a:r>
              <a:rPr lang="bg-BG" dirty="0"/>
              <a:t>ще се отпечата на конзолата, ако изпълним следната   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3"/>
            </a:pPr>
            <a:endParaRPr lang="bg-BG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41612" y="1828800"/>
            <a:ext cx="7162800" cy="587121"/>
          </a:xfrm>
        </p:spPr>
        <p:txBody>
          <a:bodyPr/>
          <a:lstStyle/>
          <a:p>
            <a:r>
              <a:rPr lang="en-US" dirty="0"/>
              <a:t>Console.WriteLine(!(3 &gt; 5) || (1 == 1));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9C47A8-18C0-4A8D-AA35-198791083351}"/>
              </a:ext>
            </a:extLst>
          </p:cNvPr>
          <p:cNvGrpSpPr/>
          <p:nvPr/>
        </p:nvGrpSpPr>
        <p:grpSpPr>
          <a:xfrm>
            <a:off x="887043" y="3139890"/>
            <a:ext cx="3709138" cy="1816544"/>
            <a:chOff x="1065712" y="4121282"/>
            <a:chExt cx="4114800" cy="1505094"/>
          </a:xfrm>
          <a:solidFill>
            <a:srgbClr val="60BFB7"/>
          </a:solidFill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4AE007E9-D57E-4DFF-BA26-BF502FFA5E77}"/>
                </a:ext>
              </a:extLst>
            </p:cNvPr>
            <p:cNvSpPr/>
            <p:nvPr/>
          </p:nvSpPr>
          <p:spPr bwMode="auto">
            <a:xfrm>
              <a:off x="1065712" y="4121282"/>
              <a:ext cx="4114800" cy="1493675"/>
            </a:xfrm>
            <a:prstGeom prst="wedgeRoundRectCallout">
              <a:avLst>
                <a:gd name="adj1" fmla="val -8443"/>
                <a:gd name="adj2" fmla="val 65917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E93C4B-BAE8-4D7B-A81E-93C3E8B689CB}"/>
                </a:ext>
              </a:extLst>
            </p:cNvPr>
            <p:cNvSpPr txBox="1"/>
            <p:nvPr/>
          </p:nvSpPr>
          <p:spPr>
            <a:xfrm>
              <a:off x="1365254" y="4307762"/>
              <a:ext cx="3515717" cy="13186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617635-D8AB-46F2-932B-1EEDE4BD4CA1}"/>
              </a:ext>
            </a:extLst>
          </p:cNvPr>
          <p:cNvGrpSpPr/>
          <p:nvPr/>
        </p:nvGrpSpPr>
        <p:grpSpPr>
          <a:xfrm>
            <a:off x="7999412" y="3661310"/>
            <a:ext cx="3008540" cy="2720441"/>
            <a:chOff x="5686304" y="4518492"/>
            <a:chExt cx="3048000" cy="2438818"/>
          </a:xfrm>
        </p:grpSpPr>
        <p:sp>
          <p:nvSpPr>
            <p:cNvPr id="12" name="Speech Bubble: Oval 11">
              <a:extLst>
                <a:ext uri="{FF2B5EF4-FFF2-40B4-BE49-F238E27FC236}">
                  <a16:creationId xmlns:a16="http://schemas.microsoft.com/office/drawing/2014/main" id="{00BC79FD-D0C6-404D-9C07-2F174B961F62}"/>
                </a:ext>
              </a:extLst>
            </p:cNvPr>
            <p:cNvSpPr/>
            <p:nvPr/>
          </p:nvSpPr>
          <p:spPr bwMode="auto">
            <a:xfrm>
              <a:off x="5686304" y="4518492"/>
              <a:ext cx="3048000" cy="2438818"/>
            </a:xfrm>
            <a:prstGeom prst="wedgeEllipseCallout">
              <a:avLst>
                <a:gd name="adj1" fmla="val -34900"/>
                <a:gd name="adj2" fmla="val 52290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5B43E8-1B5A-436B-ADF5-2D0125EF1C31}"/>
                </a:ext>
              </a:extLst>
            </p:cNvPr>
            <p:cNvSpPr txBox="1"/>
            <p:nvPr/>
          </p:nvSpPr>
          <p:spPr>
            <a:xfrm>
              <a:off x="5921955" y="5374470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48998B-FAFE-445F-9A3E-1FA6D414A6DB}"/>
              </a:ext>
            </a:extLst>
          </p:cNvPr>
          <p:cNvGrpSpPr/>
          <p:nvPr/>
        </p:nvGrpSpPr>
        <p:grpSpPr>
          <a:xfrm>
            <a:off x="5422082" y="2932987"/>
            <a:ext cx="3530995" cy="2023447"/>
            <a:chOff x="1063130" y="3246971"/>
            <a:chExt cx="4114800" cy="1493675"/>
          </a:xfrm>
        </p:grpSpPr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90604D9A-0F93-4C39-86D0-47A8139AB76A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4189"/>
                <a:gd name="adj2" fmla="val 68120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40423-DCAE-42EF-8603-CB7CE6D9AD44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156991-F43C-4280-8C77-46589B09C2FF}"/>
              </a:ext>
            </a:extLst>
          </p:cNvPr>
          <p:cNvGrpSpPr/>
          <p:nvPr/>
        </p:nvGrpSpPr>
        <p:grpSpPr>
          <a:xfrm>
            <a:off x="3506332" y="3994539"/>
            <a:ext cx="2877700" cy="2501581"/>
            <a:chOff x="8273212" y="2372594"/>
            <a:chExt cx="3048000" cy="2133600"/>
          </a:xfrm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1B7411D7-31EF-431B-BBA8-AD98E15F5BB9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20553"/>
                <a:gd name="adj2" fmla="val 58663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7F3AC2-049D-47F6-9DE8-7BBF820D0F82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847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129239" y="4453005"/>
            <a:ext cx="2722115" cy="1318666"/>
            <a:chOff x="1039935" y="4225124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671" y="119023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bg-BG" dirty="0"/>
              <a:t>Какво ще се отпечата на конзолата, ако изпълним следната логическа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4"/>
            </a:pPr>
            <a:endParaRPr lang="bg-BG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6026" y="2509467"/>
            <a:ext cx="6600362" cy="3203542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sz="2400" dirty="0"/>
              <a:t>int number = 101;</a:t>
            </a:r>
          </a:p>
          <a:p>
            <a:r>
              <a:rPr lang="en-US" sz="2400" dirty="0"/>
              <a:t>if (number &gt;= 1)</a:t>
            </a:r>
          </a:p>
          <a:p>
            <a:r>
              <a:rPr lang="en-US" sz="2400" dirty="0"/>
              <a:t>  Console.WriteLine("Larger than 1");</a:t>
            </a:r>
          </a:p>
          <a:p>
            <a:r>
              <a:rPr lang="en-US" sz="2400" dirty="0"/>
              <a:t>if (number &lt;= 101)</a:t>
            </a:r>
          </a:p>
          <a:p>
            <a:r>
              <a:rPr lang="en-US" sz="2400" dirty="0"/>
              <a:t>  Console.WriteLine("Less than 101");</a:t>
            </a:r>
          </a:p>
          <a:p>
            <a:r>
              <a:rPr lang="en-US" sz="2400" dirty="0"/>
              <a:t>  Console.WriteLine("Equal to 101");</a:t>
            </a:r>
            <a:endParaRPr lang="en-US" sz="1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901162" y="3271238"/>
            <a:ext cx="3657600" cy="1927074"/>
            <a:chOff x="5152379" y="4659415"/>
            <a:chExt cx="3743045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14317" y="4659415"/>
              <a:ext cx="3048000" cy="2438818"/>
            </a:xfrm>
            <a:prstGeom prst="wedgeEllipseCallout">
              <a:avLst>
                <a:gd name="adj1" fmla="val -13814"/>
                <a:gd name="adj2" fmla="val 65114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152379" y="5423176"/>
              <a:ext cx="3743045" cy="94566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Equal to 101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094412" y="2393072"/>
            <a:ext cx="3153550" cy="1246436"/>
            <a:chOff x="874338" y="1992405"/>
            <a:chExt cx="4114800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5"/>
              <a:ext cx="4114800" cy="1493675"/>
            </a:xfrm>
            <a:prstGeom prst="wedgeRoundRectCallout">
              <a:avLst>
                <a:gd name="adj1" fmla="val 31702"/>
                <a:gd name="adj2" fmla="val 86479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8506" y="2269412"/>
              <a:ext cx="4070632" cy="9551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Larger than 1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9018508" y="1863858"/>
            <a:ext cx="3248104" cy="1295309"/>
            <a:chOff x="8967919" y="2302916"/>
            <a:chExt cx="3210491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140699" y="2584755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Less than 101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74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129239" y="4453005"/>
            <a:ext cx="2722115" cy="1318666"/>
            <a:chOff x="1039935" y="4225124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671" y="119023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bg-BG" dirty="0"/>
              <a:t>Какво ще се отпечата на конзолата, ако изпълним следната логическа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4"/>
            </a:pPr>
            <a:endParaRPr lang="bg-BG" dirty="0"/>
          </a:p>
          <a:p>
            <a:pPr marL="514350" indent="-514350">
              <a:buFont typeface="+mj-lt"/>
              <a:buAutoNum type="arabicPeriod" startAt="4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6026" y="2509467"/>
            <a:ext cx="6600362" cy="3203542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sz="2400" dirty="0"/>
              <a:t>int number = 101;</a:t>
            </a:r>
          </a:p>
          <a:p>
            <a:r>
              <a:rPr lang="en-US" sz="2400" dirty="0"/>
              <a:t>if (number &gt;= 1)</a:t>
            </a:r>
          </a:p>
          <a:p>
            <a:r>
              <a:rPr lang="en-US" sz="2400" dirty="0"/>
              <a:t>  Console.WriteLine("Larger than 1");</a:t>
            </a:r>
          </a:p>
          <a:p>
            <a:r>
              <a:rPr lang="en-US" sz="2400" dirty="0"/>
              <a:t>if (number &lt;= 101)</a:t>
            </a:r>
          </a:p>
          <a:p>
            <a:r>
              <a:rPr lang="en-US" sz="2400" dirty="0"/>
              <a:t>  Console.WriteLine("Less than 101");</a:t>
            </a:r>
          </a:p>
          <a:p>
            <a:r>
              <a:rPr lang="en-US" sz="2400" dirty="0"/>
              <a:t>  Console.WriteLine("Equal to 101");</a:t>
            </a:r>
            <a:endParaRPr lang="en-US" sz="1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901162" y="3271238"/>
            <a:ext cx="3657600" cy="1927074"/>
            <a:chOff x="5152379" y="4659415"/>
            <a:chExt cx="3743045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14317" y="4659415"/>
              <a:ext cx="3048000" cy="2438818"/>
            </a:xfrm>
            <a:prstGeom prst="wedgeEllipseCallout">
              <a:avLst>
                <a:gd name="adj1" fmla="val -13814"/>
                <a:gd name="adj2" fmla="val 65114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152379" y="5423176"/>
              <a:ext cx="3743045" cy="94566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Equal to 101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094412" y="2393072"/>
            <a:ext cx="3153550" cy="1246436"/>
            <a:chOff x="874338" y="1992405"/>
            <a:chExt cx="4114800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5"/>
              <a:ext cx="4114800" cy="1493675"/>
            </a:xfrm>
            <a:prstGeom prst="wedgeRoundRectCallout">
              <a:avLst>
                <a:gd name="adj1" fmla="val 31702"/>
                <a:gd name="adj2" fmla="val 86479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8506" y="2269412"/>
              <a:ext cx="4070632" cy="9551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Larger than 1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9018508" y="1863858"/>
            <a:ext cx="3248104" cy="1295309"/>
            <a:chOff x="8967919" y="2302916"/>
            <a:chExt cx="3210491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140699" y="2584755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Less than 101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056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671" y="119023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bg-BG" dirty="0"/>
              <a:t>Какво ще се отпечата на конзолата, ако изпълним следната логическа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5"/>
            </a:pPr>
            <a:endParaRPr lang="bg-BG" dirty="0"/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860" y="2410500"/>
            <a:ext cx="5082590" cy="4172189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sz="2000" dirty="0"/>
              <a:t>string role = "Administrator";</a:t>
            </a:r>
          </a:p>
          <a:p>
            <a:r>
              <a:rPr lang="en-US" sz="2000" dirty="0"/>
              <a:t>string password = "SoftUni";</a:t>
            </a:r>
          </a:p>
          <a:p>
            <a:r>
              <a:rPr lang="en-US" sz="2000" dirty="0"/>
              <a:t>if(role == "Administrator")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if(password == "SoftUni")</a:t>
            </a:r>
          </a:p>
          <a:p>
            <a:r>
              <a:rPr lang="en-US" sz="2000" dirty="0"/>
              <a:t>  {</a:t>
            </a:r>
          </a:p>
          <a:p>
            <a:r>
              <a:rPr lang="en-US" sz="2000" dirty="0"/>
              <a:t>    Console.WriteLine("Welcome!");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719281" y="4038600"/>
            <a:ext cx="3151103" cy="1476635"/>
            <a:chOff x="1047227" y="4098001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849150" y="4263624"/>
            <a:ext cx="3077082" cy="1901866"/>
            <a:chOff x="4997283" y="4570824"/>
            <a:chExt cx="3592286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4997283" y="5295185"/>
              <a:ext cx="3375809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No output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107645" y="2849724"/>
            <a:ext cx="2751086" cy="1266985"/>
            <a:chOff x="919445" y="3246971"/>
            <a:chExt cx="4467419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9445" y="3552679"/>
              <a:ext cx="4467419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"Welcome!"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773659" y="2242603"/>
            <a:ext cx="3443170" cy="1266985"/>
            <a:chOff x="8967919" y="2302916"/>
            <a:chExt cx="3290638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220846" y="2547084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Runtime error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17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671" y="119023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bg-BG" dirty="0"/>
              <a:t>Какво ще се отпечата на конзолата, ако изпълним следната логическа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5"/>
            </a:pPr>
            <a:endParaRPr lang="bg-BG" dirty="0"/>
          </a:p>
          <a:p>
            <a:pPr marL="514350" indent="-514350">
              <a:buFont typeface="+mj-lt"/>
              <a:buAutoNum type="arabicPeriod" startAt="5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860" y="2410500"/>
            <a:ext cx="5082590" cy="4172189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sz="2000" dirty="0"/>
              <a:t>string role = "Administrator";</a:t>
            </a:r>
          </a:p>
          <a:p>
            <a:r>
              <a:rPr lang="en-US" sz="2000" dirty="0"/>
              <a:t>string password = "SoftUni";</a:t>
            </a:r>
          </a:p>
          <a:p>
            <a:r>
              <a:rPr lang="en-US" sz="2000" dirty="0"/>
              <a:t>if(role == "Administrator")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if(password == "SoftUni")</a:t>
            </a:r>
          </a:p>
          <a:p>
            <a:r>
              <a:rPr lang="en-US" sz="2000" dirty="0"/>
              <a:t>  {</a:t>
            </a:r>
          </a:p>
          <a:p>
            <a:r>
              <a:rPr lang="en-US" sz="2000" dirty="0"/>
              <a:t>    Console.WriteLine("Welcome!");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719281" y="4038600"/>
            <a:ext cx="3151103" cy="1476635"/>
            <a:chOff x="1047227" y="4098001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849150" y="4263624"/>
            <a:ext cx="3077082" cy="1901866"/>
            <a:chOff x="4997283" y="4570824"/>
            <a:chExt cx="3592286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4997283" y="5295185"/>
              <a:ext cx="3375809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No output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107645" y="2849724"/>
            <a:ext cx="2751086" cy="1266985"/>
            <a:chOff x="919445" y="3246971"/>
            <a:chExt cx="4467419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9445" y="3552679"/>
              <a:ext cx="4467419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"Welcome!"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773659" y="2242603"/>
            <a:ext cx="3443170" cy="1266985"/>
            <a:chOff x="8967919" y="2302916"/>
            <a:chExt cx="3290638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220846" y="2547084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Runtime error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739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671" y="119023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bg-BG" dirty="0"/>
              <a:t>Какво ще се отпечата на конзолата, ако изпълним следната логическа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6"/>
            </a:pPr>
            <a:endParaRPr lang="bg-BG" dirty="0"/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860" y="2410500"/>
            <a:ext cx="5082590" cy="4219205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sz="2000" dirty="0"/>
              <a:t>string role = "Administrator";</a:t>
            </a:r>
          </a:p>
          <a:p>
            <a:r>
              <a:rPr lang="en-US" sz="2000" dirty="0"/>
              <a:t>string password = "SoftUni";</a:t>
            </a:r>
          </a:p>
          <a:p>
            <a:r>
              <a:rPr lang="en-US" sz="2000" dirty="0"/>
              <a:t>if(role == "SoftUni")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if(password == "SoftUni")</a:t>
            </a:r>
          </a:p>
          <a:p>
            <a:r>
              <a:rPr lang="en-US" sz="2000" dirty="0"/>
              <a:t>  {</a:t>
            </a:r>
          </a:p>
          <a:p>
            <a:r>
              <a:rPr lang="en-US" sz="2000" dirty="0"/>
              <a:t>    Console.WriteLine("Welcome!");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719281" y="4038600"/>
            <a:ext cx="3151103" cy="1476635"/>
            <a:chOff x="1047227" y="4098001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grp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849150" y="4263624"/>
            <a:ext cx="3077082" cy="1901866"/>
            <a:chOff x="4997283" y="4570824"/>
            <a:chExt cx="3592286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4997283" y="5295185"/>
              <a:ext cx="3375809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No output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107645" y="2849724"/>
            <a:ext cx="2751086" cy="1266985"/>
            <a:chOff x="919445" y="3246971"/>
            <a:chExt cx="4467419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9445" y="3552679"/>
              <a:ext cx="4467419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"Welcome!"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773659" y="2242603"/>
            <a:ext cx="3443170" cy="1266985"/>
            <a:chOff x="8967919" y="2302916"/>
            <a:chExt cx="3290638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220846" y="2547084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Runtime error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8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2671" y="1190234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bg-BG" dirty="0"/>
              <a:t>Какво ще се отпечата на конзолата, ако изпълним следната логическа проверка</a:t>
            </a:r>
            <a:r>
              <a:rPr lang="en-US" dirty="0"/>
              <a:t>:</a:t>
            </a:r>
          </a:p>
          <a:p>
            <a:pPr marL="514350" indent="-514350">
              <a:buAutoNum type="arabicPeriod" startAt="6"/>
            </a:pPr>
            <a:endParaRPr lang="bg-BG" dirty="0"/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860" y="2410500"/>
            <a:ext cx="5082590" cy="4219205"/>
          </a:xfrm>
          <a:solidFill>
            <a:schemeClr val="accent6">
              <a:lumMod val="75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r>
              <a:rPr lang="en-US" sz="2000" dirty="0"/>
              <a:t>string role = "Administrator";</a:t>
            </a:r>
          </a:p>
          <a:p>
            <a:r>
              <a:rPr lang="en-US" sz="2000" dirty="0"/>
              <a:t>string password = "SoftUni";</a:t>
            </a:r>
          </a:p>
          <a:p>
            <a:r>
              <a:rPr lang="en-US" sz="2000" dirty="0"/>
              <a:t>if(role == "SoftUni")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if(password == "SoftUni")</a:t>
            </a:r>
          </a:p>
          <a:p>
            <a:r>
              <a:rPr lang="en-US" sz="2000" dirty="0"/>
              <a:t>  {</a:t>
            </a:r>
          </a:p>
          <a:p>
            <a:r>
              <a:rPr lang="en-US" sz="2000" dirty="0"/>
              <a:t>    Console.WriteLine("Welcome!");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719281" y="4038600"/>
            <a:ext cx="3151103" cy="1476635"/>
            <a:chOff x="1047227" y="4098001"/>
            <a:chExt cx="5767434" cy="2021280"/>
          </a:xfrm>
          <a:solidFill>
            <a:srgbClr val="60BFB7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5849150" y="4263624"/>
            <a:ext cx="3077082" cy="1901866"/>
            <a:chOff x="4997283" y="4570824"/>
            <a:chExt cx="3592286" cy="2438818"/>
          </a:xfrm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rgbClr val="6CBD44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4997283" y="5295185"/>
              <a:ext cx="3375809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No output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107645" y="2849724"/>
            <a:ext cx="2751086" cy="1266985"/>
            <a:chOff x="919445" y="3246971"/>
            <a:chExt cx="4467419" cy="1493675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solidFill>
              <a:srgbClr val="F5C300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9445" y="3552679"/>
              <a:ext cx="4467419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"Welcome!"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773659" y="2242603"/>
            <a:ext cx="3443170" cy="1266985"/>
            <a:chOff x="8967919" y="2302916"/>
            <a:chExt cx="3290638" cy="1266985"/>
          </a:xfrm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solidFill>
              <a:srgbClr val="F15721">
                <a:alpha val="80000"/>
              </a:srgb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220846" y="2547084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Runtime error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27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Прости повторения с 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while</a:t>
            </a:r>
            <a:r>
              <a:rPr lang="en-US" dirty="0"/>
              <a:t>-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Повторения (цикли)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D3D29C-BAF5-4006-8125-0CCBDDF50E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30" y="2496257"/>
            <a:ext cx="2212117" cy="551743"/>
          </a:xfrm>
          <a:prstGeom prst="rect">
            <a:avLst/>
          </a:prstGeom>
        </p:spPr>
      </p:pic>
      <p:pic>
        <p:nvPicPr>
          <p:cNvPr id="9218" name="Picture 2" descr="C:\Users\HP\Desktop\loop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7" y="1730179"/>
            <a:ext cx="2942872" cy="294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9AF590-2AD0-4628-AA55-C203CA4B7E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533" y="4221025"/>
            <a:ext cx="2003149" cy="986551"/>
          </a:xfrm>
          <a:prstGeom prst="rect">
            <a:avLst/>
          </a:prstGeom>
        </p:spPr>
      </p:pic>
      <p:sp>
        <p:nvSpPr>
          <p:cNvPr id="29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9904412" y="6136259"/>
            <a:ext cx="1842040" cy="444793"/>
          </a:xfrm>
        </p:spPr>
        <p:txBody>
          <a:bodyPr/>
          <a:lstStyle/>
          <a:p>
            <a:r>
              <a:rPr lang="en-US" sz="1800" dirty="0">
                <a:hlinkClick r:id="rId6"/>
              </a:rPr>
              <a:t>http://softuni.bg</a:t>
            </a:r>
            <a:endParaRPr lang="en-US" sz="1800" dirty="0"/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641602" y="5916124"/>
            <a:ext cx="2950749" cy="382788"/>
          </a:xfrm>
        </p:spPr>
        <p:txBody>
          <a:bodyPr/>
          <a:lstStyle/>
          <a:p>
            <a:r>
              <a:rPr lang="bg-BG" dirty="0"/>
              <a:t>Софтуерен университет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941D5C10-8D10-4D4A-BDC4-202C30EAE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0972" y="4876928"/>
            <a:ext cx="2950749" cy="506540"/>
          </a:xfrm>
        </p:spPr>
        <p:txBody>
          <a:bodyPr/>
          <a:lstStyle/>
          <a:p>
            <a:r>
              <a:rPr lang="bg-BG" noProof="1"/>
              <a:t>СофтУни</a:t>
            </a:r>
            <a:endParaRPr lang="en-US" noProof="1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76A05CC2-FC4D-4504-ABD3-8A2DED65D2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0972" y="5175129"/>
            <a:ext cx="3137440" cy="832014"/>
          </a:xfrm>
        </p:spPr>
        <p:txBody>
          <a:bodyPr/>
          <a:lstStyle/>
          <a:p>
            <a:r>
              <a:rPr lang="bg-BG" noProof="1"/>
              <a:t>Преподавателски</a:t>
            </a:r>
            <a:r>
              <a:rPr lang="bg-BG" dirty="0"/>
              <a:t> екип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7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</a:t>
            </a:r>
            <a:r>
              <a:rPr lang="en-US" sz="11500" b="1" noProof="1"/>
              <a:t>pb-jan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Имате въпроси?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3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en-US" sz="3600" dirty="0"/>
              <a:t> </a:t>
            </a: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Увеличаване и намаляване на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стойността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на променливи</a:t>
            </a:r>
            <a:endParaRPr lang="en-US" dirty="0"/>
          </a:p>
          <a:p>
            <a:pPr marL="514350" indent="-514350"/>
            <a:r>
              <a:rPr lang="bg-BG" dirty="0"/>
              <a:t>Повторения </a:t>
            </a:r>
            <a:r>
              <a:rPr lang="en-US" dirty="0"/>
              <a:t>(</a:t>
            </a:r>
            <a:r>
              <a:rPr lang="bg-BG" dirty="0"/>
              <a:t>цикли</a:t>
            </a:r>
            <a:r>
              <a:rPr lang="en-US" dirty="0"/>
              <a:t>)</a:t>
            </a:r>
          </a:p>
          <a:p>
            <a:pPr marL="819096" lvl="1" indent="-514350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bg-BG" dirty="0"/>
              <a:t>цикъл – конструкция</a:t>
            </a:r>
          </a:p>
          <a:p>
            <a:pPr marL="514350" indent="-514350"/>
            <a:r>
              <a:rPr lang="bg-BG" dirty="0"/>
              <a:t>Безкрайни цикли</a:t>
            </a:r>
          </a:p>
          <a:p>
            <a:pPr marL="819096" lvl="1" indent="-514350"/>
            <a:r>
              <a:rPr lang="bg-BG" dirty="0"/>
              <a:t>Прекъсване на цикли чрез оператора 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break</a:t>
            </a:r>
            <a:endParaRPr lang="bg-BG" b="1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514350" indent="-514350"/>
            <a:endParaRPr lang="en-US" dirty="0"/>
          </a:p>
          <a:p>
            <a:pPr marL="514350" indent="-514350">
              <a:buAutoNum type="arabicPeriod"/>
            </a:pPr>
            <a:endParaRPr lang="bg-BG" dirty="0"/>
          </a:p>
          <a:p>
            <a:pPr marL="304746" lvl="1" indent="0">
              <a:buNone/>
            </a:pPr>
            <a:endParaRPr lang="bg-BG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/>
          <p:cNvSpPr>
            <a:spLocks noGrp="1"/>
          </p:cNvSpPr>
          <p:nvPr>
            <p:ph type="body" sz="quarter" idx="10"/>
          </p:nvPr>
        </p:nvSpPr>
        <p:spPr>
          <a:xfrm>
            <a:off x="788637" y="5141974"/>
            <a:ext cx="10958928" cy="768084"/>
          </a:xfrm>
        </p:spPr>
        <p:txBody>
          <a:bodyPr/>
          <a:lstStyle/>
          <a:p>
            <a:r>
              <a:rPr lang="bg-BG" sz="4400" dirty="0">
                <a:latin typeface="Calibri" panose="020F0502020204030204" pitchFamily="34" charset="0"/>
                <a:cs typeface="Calibri" panose="020F0502020204030204" pitchFamily="34" charset="0"/>
              </a:rPr>
              <a:t>Увеличаване и намаляване на стойността </a:t>
            </a:r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4400" dirty="0">
                <a:latin typeface="Calibri" panose="020F0502020204030204" pitchFamily="34" charset="0"/>
                <a:cs typeface="Calibri" panose="020F0502020204030204" pitchFamily="34" charset="0"/>
              </a:rPr>
              <a:t>на променливи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FDBA25-671E-45C9-9CE0-F71A9CF15DF8}"/>
                  </a:ext>
                </a:extLst>
              </p14:cNvPr>
              <p14:cNvContentPartPr/>
              <p14:nvPr/>
            </p14:nvContentPartPr>
            <p14:xfrm>
              <a:off x="6268101" y="514197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FDBA25-671E-45C9-9CE0-F71A9CF15D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9101" y="5132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3A69E22-7FAF-41E1-8E20-09BD8AE616E3}"/>
                  </a:ext>
                </a:extLst>
              </p14:cNvPr>
              <p14:cNvContentPartPr/>
              <p14:nvPr/>
            </p14:nvContentPartPr>
            <p14:xfrm>
              <a:off x="7275381" y="508869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3A69E22-7FAF-41E1-8E20-09BD8AE616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66381" y="507969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331FE1F-0AA9-4A65-AE96-C8FA63D879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2" y="1219200"/>
            <a:ext cx="2683811" cy="268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25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нкрементиране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увеличаването на стойността на дадена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променлива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чрез оператори за инкрементиране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префиксни и постфиксни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bg-B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само върху променливи, които имат числена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стойност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Увеличаване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44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70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9621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81261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BBB00C-CE82-478C-8A9A-17A0F3670BE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60412" y="3657600"/>
          <a:ext cx="10896600" cy="164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90">
                  <a:extLst>
                    <a:ext uri="{9D8B030D-6E8A-4147-A177-3AD203B41FA5}">
                      <a16:colId xmlns:a16="http://schemas.microsoft.com/office/drawing/2014/main" val="3715383205"/>
                    </a:ext>
                  </a:extLst>
                </a:gridCol>
                <a:gridCol w="3106636">
                  <a:extLst>
                    <a:ext uri="{9D8B030D-6E8A-4147-A177-3AD203B41FA5}">
                      <a16:colId xmlns:a16="http://schemas.microsoft.com/office/drawing/2014/main" val="4207537303"/>
                    </a:ext>
                  </a:extLst>
                </a:gridCol>
                <a:gridCol w="6045374">
                  <a:extLst>
                    <a:ext uri="{9D8B030D-6E8A-4147-A177-3AD203B41FA5}">
                      <a16:colId xmlns:a16="http://schemas.microsoft.com/office/drawing/2014/main" val="3356020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Име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Резултат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</a:t>
                      </a: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Пре-инкрементация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Увеличава стойността с единица и връща 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0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а++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Пост-инкрементация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alibri" panose="020F0502020204030204" pitchFamily="34" charset="0"/>
                        </a:rPr>
                        <a:t>а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 увеличава стойността с единица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6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73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Пре-инкрементация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Пост-инкрементация</a:t>
            </a:r>
          </a:p>
          <a:p>
            <a:pPr marL="0" indent="0">
              <a:lnSpc>
                <a:spcPct val="100000"/>
              </a:lnSpc>
              <a:buNone/>
            </a:pPr>
            <a:endParaRPr lang="bg-BG" sz="3200" dirty="0"/>
          </a:p>
          <a:p>
            <a:pPr marL="377887" lvl="1" indent="0">
              <a:lnSpc>
                <a:spcPct val="100000"/>
              </a:lnSpc>
              <a:buNone/>
            </a:pPr>
            <a:endParaRPr lang="en-US" sz="24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355" y="60994"/>
            <a:ext cx="9503571" cy="882654"/>
          </a:xfrm>
        </p:spPr>
        <p:txBody>
          <a:bodyPr/>
          <a:lstStyle/>
          <a:p>
            <a:r>
              <a:rPr lang="bg-BG" dirty="0"/>
              <a:t>Увеличаване</a:t>
            </a:r>
            <a:r>
              <a:rPr lang="en-US" dirty="0"/>
              <a:t>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44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70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9621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81261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FDD0617A-1CAF-4870-9E08-F98ADAFB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891575"/>
            <a:ext cx="6173787" cy="164352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 Console.WriteLine(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++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a);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7E5A-D516-44CC-AE83-BEE99AEAF368}"/>
              </a:ext>
            </a:extLst>
          </p:cNvPr>
          <p:cNvSpPr txBox="1"/>
          <p:nvPr/>
        </p:nvSpPr>
        <p:spPr>
          <a:xfrm>
            <a:off x="5607740" y="2410950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E99A78C-12BB-46F7-9A53-078DEA18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4478505"/>
            <a:ext cx="6173787" cy="164352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Console.WriteLine(a++);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59D28-45A1-45CA-BF5A-5D4A85AC4848}"/>
              </a:ext>
            </a:extLst>
          </p:cNvPr>
          <p:cNvSpPr txBox="1"/>
          <p:nvPr/>
        </p:nvSpPr>
        <p:spPr>
          <a:xfrm>
            <a:off x="5611190" y="5012098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CB07D-C0AB-4AFB-AE20-FD527A17360E}"/>
              </a:ext>
            </a:extLst>
          </p:cNvPr>
          <p:cNvSpPr txBox="1"/>
          <p:nvPr/>
        </p:nvSpPr>
        <p:spPr>
          <a:xfrm>
            <a:off x="5604406" y="2899684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703DB-F577-42B0-BD39-20EECA7CB517}"/>
              </a:ext>
            </a:extLst>
          </p:cNvPr>
          <p:cNvSpPr txBox="1"/>
          <p:nvPr/>
        </p:nvSpPr>
        <p:spPr>
          <a:xfrm>
            <a:off x="5604405" y="5549568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7514CB40-AD68-4ACF-9BA8-D25A1D5EA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2" y="3831425"/>
            <a:ext cx="6173787" cy="1170582"/>
          </a:xfrm>
          <a:prstGeom prst="wedgeRoundRectCallout">
            <a:avLst>
              <a:gd name="adj1" fmla="val -55498"/>
              <a:gd name="adj2" fmla="val 46031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Първо се принтира променливата </a:t>
            </a:r>
            <a:r>
              <a:rPr lang="en-US" sz="2800" b="1" dirty="0">
                <a:solidFill>
                  <a:schemeClr val="bg2"/>
                </a:solidFill>
              </a:rPr>
              <a:t>a </a:t>
            </a:r>
            <a:r>
              <a:rPr lang="bg-BG" sz="2800" b="1" dirty="0">
                <a:solidFill>
                  <a:schemeClr val="bg2"/>
                </a:solidFill>
              </a:rPr>
              <a:t>и след това се увеличава с 1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A23AD7A1-7032-4158-9AF7-ED7F7647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2" y="1335054"/>
            <a:ext cx="6383388" cy="1127503"/>
          </a:xfrm>
          <a:prstGeom prst="wedgeRoundRectCallout">
            <a:avLst>
              <a:gd name="adj1" fmla="val -55299"/>
              <a:gd name="adj2" fmla="val 51637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Стойността на променливата </a:t>
            </a:r>
            <a:r>
              <a:rPr lang="en-US" sz="2800" b="1" dirty="0">
                <a:solidFill>
                  <a:schemeClr val="bg2"/>
                </a:solidFill>
                <a:latin typeface="Consolas"/>
              </a:rPr>
              <a:t>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се увеличава с 1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и след това се принтира</a:t>
            </a:r>
          </a:p>
        </p:txBody>
      </p:sp>
    </p:spTree>
    <p:extLst>
      <p:ext uri="{BB962C8B-B14F-4D97-AF65-F5344CB8AC3E}">
        <p14:creationId xmlns:p14="http://schemas.microsoft.com/office/powerpoint/2010/main" val="229578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2" grpId="0" animBg="1"/>
      <p:bldP spid="15" grpId="0"/>
      <p:bldP spid="17" grpId="0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27012" y="1295400"/>
            <a:ext cx="11815018" cy="5201066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Декрементиране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– намаляването на стойността на дадена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променлива </a:t>
            </a:r>
          </a:p>
          <a:p>
            <a:pPr lvl="1">
              <a:lnSpc>
                <a:spcPct val="100000"/>
              </a:lnSpc>
            </a:pP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чрез оператори за декрементиране – </a:t>
            </a:r>
            <a:r>
              <a:rPr lang="en-US" sz="3198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198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префиксни и постфиксни</a:t>
            </a:r>
            <a:r>
              <a:rPr lang="en-US" sz="3198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bg-BG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endParaRPr lang="bg-BG" sz="2800" b="1" dirty="0">
              <a:latin typeface="Consolas" pitchFamily="49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само върху променливи, които имат числена </a:t>
            </a:r>
            <a:r>
              <a:rPr lang="en-US" sz="3198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198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стойност </a:t>
            </a:r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Намаляване</a:t>
            </a: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44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70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9621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81261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able 16">
            <a:extLst>
              <a:ext uri="{FF2B5EF4-FFF2-40B4-BE49-F238E27FC236}">
                <a16:creationId xmlns:a16="http://schemas.microsoft.com/office/drawing/2014/main" id="{D6056DAD-992B-4D9B-A669-AF3F998BA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558589"/>
              </p:ext>
            </p:extLst>
          </p:nvPr>
        </p:nvGraphicFramePr>
        <p:xfrm>
          <a:off x="648121" y="3505200"/>
          <a:ext cx="10972800" cy="164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520">
                  <a:extLst>
                    <a:ext uri="{9D8B030D-6E8A-4147-A177-3AD203B41FA5}">
                      <a16:colId xmlns:a16="http://schemas.microsoft.com/office/drawing/2014/main" val="3715383205"/>
                    </a:ext>
                  </a:extLst>
                </a:gridCol>
                <a:gridCol w="3086280">
                  <a:extLst>
                    <a:ext uri="{9D8B030D-6E8A-4147-A177-3AD203B41FA5}">
                      <a16:colId xmlns:a16="http://schemas.microsoft.com/office/drawing/2014/main" val="4207537303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356020614"/>
                    </a:ext>
                  </a:extLst>
                </a:gridCol>
              </a:tblGrid>
              <a:tr h="4702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Резултат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4178"/>
                  </a:ext>
                </a:extLst>
              </a:tr>
              <a:tr h="508465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--a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Пре-декрементация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Намалява стойността с единица и 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08526"/>
                  </a:ext>
                </a:extLst>
              </a:tr>
              <a:tr h="508465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Пост-декрементация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</a:t>
                      </a: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намалява стойността с единица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6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34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Пре-декрементация</a:t>
            </a:r>
            <a:endParaRPr lang="en-US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Пост-декрементация</a:t>
            </a:r>
            <a:endParaRPr lang="en-US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bg-BG" sz="3200" dirty="0"/>
          </a:p>
          <a:p>
            <a:pPr marL="0" indent="0">
              <a:lnSpc>
                <a:spcPct val="100000"/>
              </a:lnSpc>
              <a:buNone/>
            </a:pPr>
            <a:endParaRPr lang="bg-BG" sz="3200" dirty="0"/>
          </a:p>
          <a:p>
            <a:pPr marL="377887" lvl="1" indent="0">
              <a:lnSpc>
                <a:spcPct val="100000"/>
              </a:lnSpc>
              <a:buNone/>
            </a:pPr>
            <a:endParaRPr lang="en-US" sz="2800" b="1" dirty="0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355" y="100750"/>
            <a:ext cx="9503571" cy="882654"/>
          </a:xfrm>
        </p:spPr>
        <p:txBody>
          <a:bodyPr/>
          <a:lstStyle/>
          <a:p>
            <a:r>
              <a:rPr lang="bg-BG" dirty="0"/>
              <a:t>Намаляване</a:t>
            </a:r>
            <a:r>
              <a:rPr lang="en-US" dirty="0"/>
              <a:t>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44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7061" y="7463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9621" y="5609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81261" y="65349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FDD0617A-1CAF-4870-9E08-F98ADAFB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867" y="1910883"/>
            <a:ext cx="6137345" cy="164352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 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a);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7E5A-D516-44CC-AE83-BEE99AEAF368}"/>
              </a:ext>
            </a:extLst>
          </p:cNvPr>
          <p:cNvSpPr txBox="1"/>
          <p:nvPr/>
        </p:nvSpPr>
        <p:spPr>
          <a:xfrm>
            <a:off x="5783243" y="2427947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en-US" sz="2800" b="1" dirty="0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E99A78C-12BB-46F7-9A53-078DEA18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986" y="4534581"/>
            <a:ext cx="6137345" cy="164352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59D28-45A1-45CA-BF5A-5D4A85AC4848}"/>
              </a:ext>
            </a:extLst>
          </p:cNvPr>
          <p:cNvSpPr txBox="1"/>
          <p:nvPr/>
        </p:nvSpPr>
        <p:spPr>
          <a:xfrm>
            <a:off x="5783243" y="5070112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en-US" sz="2800" b="1" dirty="0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2B4BFA-C160-4776-B83F-E0CE02BC3977}"/>
              </a:ext>
            </a:extLst>
          </p:cNvPr>
          <p:cNvSpPr txBox="1"/>
          <p:nvPr/>
        </p:nvSpPr>
        <p:spPr>
          <a:xfrm>
            <a:off x="5780582" y="2940760"/>
            <a:ext cx="117051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0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73870-457C-4B59-A2FF-E7FA53336949}"/>
              </a:ext>
            </a:extLst>
          </p:cNvPr>
          <p:cNvSpPr txBox="1"/>
          <p:nvPr/>
        </p:nvSpPr>
        <p:spPr>
          <a:xfrm>
            <a:off x="5765042" y="5605644"/>
            <a:ext cx="973343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0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E2CE95C1-A197-4534-AA1A-5B307B55D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194" y="1320627"/>
            <a:ext cx="6248400" cy="1116110"/>
          </a:xfrm>
          <a:prstGeom prst="wedgeRoundRectCallout">
            <a:avLst>
              <a:gd name="adj1" fmla="val -55157"/>
              <a:gd name="adj2" fmla="val 50379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Стойността на променливата </a:t>
            </a:r>
            <a:r>
              <a:rPr lang="en-US" sz="2800" b="1" dirty="0">
                <a:solidFill>
                  <a:schemeClr val="bg2"/>
                </a:solidFill>
                <a:latin typeface="Consolas"/>
              </a:rPr>
              <a:t>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се намалява с 1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и след това се принтира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6F129D96-EC66-4416-B3B2-B61F1556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194" y="3999449"/>
            <a:ext cx="6248400" cy="1116110"/>
          </a:xfrm>
          <a:prstGeom prst="wedgeRoundRectCallout">
            <a:avLst>
              <a:gd name="adj1" fmla="val -55498"/>
              <a:gd name="adj2" fmla="val 48417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Първо се принтира променливата </a:t>
            </a:r>
            <a:r>
              <a:rPr lang="en-US" sz="2800" b="1" dirty="0">
                <a:solidFill>
                  <a:schemeClr val="bg2"/>
                </a:solidFill>
              </a:rPr>
              <a:t>a </a:t>
            </a:r>
            <a:r>
              <a:rPr lang="bg-BG" sz="2800" b="1" dirty="0">
                <a:solidFill>
                  <a:schemeClr val="bg2"/>
                </a:solidFill>
              </a:rPr>
              <a:t>и след това се намалява с 1</a:t>
            </a:r>
          </a:p>
        </p:txBody>
      </p:sp>
    </p:spTree>
    <p:extLst>
      <p:ext uri="{BB962C8B-B14F-4D97-AF65-F5344CB8AC3E}">
        <p14:creationId xmlns:p14="http://schemas.microsoft.com/office/powerpoint/2010/main" val="348650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2" grpId="0" animBg="1"/>
      <p:bldP spid="14" grpId="0"/>
      <p:bldP spid="15" grpId="0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-</a:t>
            </a:r>
            <a:r>
              <a:rPr lang="bg-BG" dirty="0"/>
              <a:t>цикъл</a:t>
            </a:r>
            <a:endParaRPr lang="en-US" dirty="0"/>
          </a:p>
        </p:txBody>
      </p:sp>
      <p:sp>
        <p:nvSpPr>
          <p:cNvPr id="2" name="Текстов контейне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dirty="0"/>
              <a:t>Повторение докато е вярно дадено условие</a:t>
            </a:r>
            <a:endParaRPr lang="en-US" dirty="0"/>
          </a:p>
        </p:txBody>
      </p:sp>
      <p:sp>
        <p:nvSpPr>
          <p:cNvPr id="3" name="Текстово поле 2"/>
          <p:cNvSpPr txBox="1"/>
          <p:nvPr/>
        </p:nvSpPr>
        <p:spPr>
          <a:xfrm>
            <a:off x="4786828" y="2057400"/>
            <a:ext cx="2615167" cy="1273719"/>
          </a:xfrm>
          <a:prstGeom prst="rect">
            <a:avLst/>
          </a:prstGeom>
          <a:solidFill>
            <a:schemeClr val="tx1">
              <a:alpha val="15000"/>
            </a:schemeClr>
          </a:solidFill>
          <a:ln w="12700">
            <a:noFill/>
          </a:ln>
        </p:spPr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6600" b="1" dirty="0">
                <a:solidFill>
                  <a:schemeClr val="bg2"/>
                </a:solidFill>
                <a:latin typeface="Consolas" panose="020B0609020204030204" pitchFamily="49" charset="0"/>
              </a:rPr>
              <a:t>while</a:t>
            </a:r>
            <a:endParaRPr lang="bg-BG" sz="66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9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6715" y="1268124"/>
            <a:ext cx="11815018" cy="520106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sz="3200" dirty="0"/>
              <a:t>В програмирането често се налага да изпълним блок с команди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няколко</a:t>
            </a:r>
            <a:r>
              <a:rPr lang="bg-BG" sz="3200" dirty="0"/>
              <a:t> пъти</a:t>
            </a:r>
          </a:p>
          <a:p>
            <a:pPr lvl="1">
              <a:lnSpc>
                <a:spcPct val="100000"/>
              </a:lnSpc>
            </a:pPr>
            <a:r>
              <a:rPr lang="bg-BG" sz="3200" dirty="0"/>
              <a:t>За целта използваме </a:t>
            </a:r>
            <a:r>
              <a:rPr lang="bg-BG" sz="3000" b="1" dirty="0">
                <a:solidFill>
                  <a:schemeClr val="tx2">
                    <a:lumMod val="75000"/>
                  </a:schemeClr>
                </a:solidFill>
              </a:rPr>
              <a:t>цикли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</a:rPr>
              <a:t> –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while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for</a:t>
            </a:r>
            <a:r>
              <a:rPr lang="bg-BG" sz="3000" dirty="0">
                <a:solidFill>
                  <a:schemeClr val="bg1"/>
                </a:solidFill>
                <a:latin typeface="+mj-lt"/>
              </a:rPr>
              <a:t> </a:t>
            </a:r>
            <a:r>
              <a:rPr lang="bg-BG" sz="3200" dirty="0">
                <a:latin typeface="+mj-lt"/>
              </a:rPr>
              <a:t>и други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Повторения (цикли) – 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bg-BG" dirty="0"/>
              <a:t>-цикъл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5BC6D831-5D09-4103-8861-0EE49C88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498" y="3785673"/>
            <a:ext cx="3211077" cy="209563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pt-BR" sz="30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...</a:t>
            </a: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bg-BG" sz="3000" b="1" noProof="1">
                <a:solidFill>
                  <a:srgbClr val="FBEEDC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bg-BG" sz="3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//</a:t>
            </a:r>
            <a:r>
              <a:rPr lang="en-US" sz="30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code</a:t>
            </a:r>
            <a:endParaRPr lang="pt-BR" sz="3000" b="1" noProof="1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sz="3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8C25B769-D591-4C93-B1F4-227D9EE90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145" y="3200874"/>
            <a:ext cx="1752306" cy="583772"/>
          </a:xfrm>
          <a:prstGeom prst="wedgeRoundRectCallout">
            <a:avLst>
              <a:gd name="adj1" fmla="val -60319"/>
              <a:gd name="adj2" fmla="val 5530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38F5B571-5259-488A-92DE-85416C8C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5000" y="5241337"/>
            <a:ext cx="3337624" cy="1093612"/>
          </a:xfrm>
          <a:prstGeom prst="wedgeRoundRectCallout">
            <a:avLst>
              <a:gd name="adj1" fmla="val -59338"/>
              <a:gd name="adj2" fmla="val -4697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Код за изпълнение </a:t>
            </a:r>
            <a:r>
              <a:rPr lang="en-US" sz="2800" b="1" dirty="0">
                <a:solidFill>
                  <a:schemeClr val="bg2"/>
                </a:solidFill>
              </a:rPr>
              <a:t>(</a:t>
            </a:r>
            <a:r>
              <a:rPr lang="bg-BG" sz="2800" b="1" dirty="0">
                <a:solidFill>
                  <a:schemeClr val="bg2"/>
                </a:solidFill>
              </a:rPr>
              <a:t>повторение</a:t>
            </a:r>
            <a:r>
              <a:rPr lang="en-US" sz="2800" b="1" dirty="0">
                <a:solidFill>
                  <a:schemeClr val="bg2"/>
                </a:solidFill>
              </a:rPr>
              <a:t>)</a:t>
            </a:r>
            <a:endParaRPr lang="bg-BG" sz="2800" b="1" dirty="0">
              <a:solidFill>
                <a:schemeClr val="bg2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01C168-F6B8-4746-A71C-FC9EB5BF51AA}"/>
              </a:ext>
            </a:extLst>
          </p:cNvPr>
          <p:cNvCxnSpPr/>
          <p:nvPr/>
        </p:nvCxnSpPr>
        <p:spPr>
          <a:xfrm>
            <a:off x="9251044" y="2937361"/>
            <a:ext cx="0" cy="50972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2CE47D67-5BA9-44D0-B257-77D92294C88B}"/>
              </a:ext>
            </a:extLst>
          </p:cNvPr>
          <p:cNvSpPr/>
          <p:nvPr/>
        </p:nvSpPr>
        <p:spPr>
          <a:xfrm>
            <a:off x="8413440" y="3422342"/>
            <a:ext cx="1675208" cy="1328800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48F4A-6FAB-4A55-B0FD-1A71CABCC934}"/>
              </a:ext>
            </a:extLst>
          </p:cNvPr>
          <p:cNvSpPr txBox="1"/>
          <p:nvPr/>
        </p:nvSpPr>
        <p:spPr>
          <a:xfrm>
            <a:off x="8620799" y="3855909"/>
            <a:ext cx="1263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условие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D5C714-4F72-43DC-A328-1AC0AFA45E85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9251044" y="4751142"/>
            <a:ext cx="0" cy="5461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AB8B2C1-4794-4DB0-B91A-4A877777DA02}"/>
              </a:ext>
            </a:extLst>
          </p:cNvPr>
          <p:cNvSpPr/>
          <p:nvPr/>
        </p:nvSpPr>
        <p:spPr>
          <a:xfrm>
            <a:off x="8413440" y="5286871"/>
            <a:ext cx="1675208" cy="775043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>
              <a:solidFill>
                <a:schemeClr val="bg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606E6B-C3A5-4ED1-8D5F-C7928894E217}"/>
              </a:ext>
            </a:extLst>
          </p:cNvPr>
          <p:cNvSpPr txBox="1"/>
          <p:nvPr/>
        </p:nvSpPr>
        <p:spPr>
          <a:xfrm>
            <a:off x="8558346" y="5421461"/>
            <a:ext cx="1388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команди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26" name="Elbow Connector 18">
            <a:extLst>
              <a:ext uri="{FF2B5EF4-FFF2-40B4-BE49-F238E27FC236}">
                <a16:creationId xmlns:a16="http://schemas.microsoft.com/office/drawing/2014/main" id="{E2948230-CD36-46FA-A8B8-9CD60C9CB3FC}"/>
              </a:ext>
            </a:extLst>
          </p:cNvPr>
          <p:cNvCxnSpPr>
            <a:stCxn id="24" idx="2"/>
            <a:endCxn id="21" idx="1"/>
          </p:cNvCxnSpPr>
          <p:nvPr/>
        </p:nvCxnSpPr>
        <p:spPr>
          <a:xfrm rot="5400000" flipH="1">
            <a:off x="7844656" y="4655526"/>
            <a:ext cx="1975172" cy="837604"/>
          </a:xfrm>
          <a:prstGeom prst="bentConnector4">
            <a:avLst>
              <a:gd name="adj1" fmla="val -18343"/>
              <a:gd name="adj2" fmla="val 16776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19">
            <a:extLst>
              <a:ext uri="{FF2B5EF4-FFF2-40B4-BE49-F238E27FC236}">
                <a16:creationId xmlns:a16="http://schemas.microsoft.com/office/drawing/2014/main" id="{0149F1C6-10FC-4232-8D8F-F82A3CAB7D14}"/>
              </a:ext>
            </a:extLst>
          </p:cNvPr>
          <p:cNvCxnSpPr/>
          <p:nvPr/>
        </p:nvCxnSpPr>
        <p:spPr>
          <a:xfrm rot="16200000" flipH="1">
            <a:off x="9180784" y="4917253"/>
            <a:ext cx="2386947" cy="725923"/>
          </a:xfrm>
          <a:prstGeom prst="bentConnector3">
            <a:avLst>
              <a:gd name="adj1" fmla="val 27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A98BEB0-5ABC-4C8E-8DE2-B3F6715FF6FB}"/>
              </a:ext>
            </a:extLst>
          </p:cNvPr>
          <p:cNvSpPr txBox="1"/>
          <p:nvPr/>
        </p:nvSpPr>
        <p:spPr>
          <a:xfrm>
            <a:off x="9341212" y="4721387"/>
            <a:ext cx="723145" cy="386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вярно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C8489B-39AD-4B1B-8EF0-69F3D3A189B5}"/>
              </a:ext>
            </a:extLst>
          </p:cNvPr>
          <p:cNvSpPr txBox="1"/>
          <p:nvPr/>
        </p:nvSpPr>
        <p:spPr>
          <a:xfrm>
            <a:off x="10021658" y="3639022"/>
            <a:ext cx="960434" cy="386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невярно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277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21" grpId="0" animBg="1"/>
      <p:bldP spid="22" grpId="0"/>
      <p:bldP spid="24" grpId="0" animBg="1"/>
      <p:bldP spid="25" grpId="0"/>
      <p:bldP spid="28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-</a:t>
            </a:r>
            <a:r>
              <a:rPr lang="bg-BG" dirty="0"/>
              <a:t>цикъл </a:t>
            </a:r>
            <a:r>
              <a:rPr lang="en-US" dirty="0"/>
              <a:t>– </a:t>
            </a:r>
            <a:r>
              <a:rPr lang="bg-BG" dirty="0"/>
              <a:t>пример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56C384-38D5-421E-AFF5-6F314D3E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2" y="1828800"/>
            <a:ext cx="6781800" cy="341016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5;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(a &lt;= 10)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Console.WriteLine("a = " + a);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a++;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42DA5656-96EF-4369-BFA6-0C2937F0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1" y="1761186"/>
            <a:ext cx="4358265" cy="1093612"/>
          </a:xfrm>
          <a:prstGeom prst="wedgeRoundRectCallout">
            <a:avLst>
              <a:gd name="adj1" fmla="val -55422"/>
              <a:gd name="adj2" fmla="val 4378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прекратяване на повторението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05858" y="4386910"/>
            <a:ext cx="4176136" cy="2189306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гъната нагоре стрелка 2"/>
          <p:cNvSpPr/>
          <p:nvPr/>
        </p:nvSpPr>
        <p:spPr>
          <a:xfrm rot="5400000">
            <a:off x="6551258" y="5344205"/>
            <a:ext cx="838908" cy="8382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/>
          </a:p>
        </p:txBody>
      </p:sp>
      <p:pic>
        <p:nvPicPr>
          <p:cNvPr id="2050" name="Picture 2" descr="C:\Users\HP\Desktop\1a2430b6757f6c5b520332cc380b7fb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812" y="1295400"/>
            <a:ext cx="2465011" cy="25349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09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6231F094-ABB5-467F-8E71-1F4604A91B04}"/>
              </a:ext>
            </a:extLst>
          </p:cNvPr>
          <p:cNvSpPr/>
          <p:nvPr/>
        </p:nvSpPr>
        <p:spPr>
          <a:xfrm>
            <a:off x="9761539" y="2605591"/>
            <a:ext cx="2224200" cy="1483090"/>
          </a:xfrm>
          <a:prstGeom prst="flowChartDecision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Напишете програма, която:</a:t>
            </a:r>
          </a:p>
          <a:p>
            <a:pPr lvl="1"/>
            <a:r>
              <a:rPr lang="bg-BG" dirty="0"/>
              <a:t>Прочита цяло число</a:t>
            </a:r>
          </a:p>
          <a:p>
            <a:pPr lvl="1"/>
            <a:r>
              <a:rPr lang="bg-BG" dirty="0"/>
              <a:t>Проверява дали е в диапазона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[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en-US" dirty="0"/>
              <a:t>…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100</a:t>
            </a:r>
            <a:r>
              <a:rPr lang="en-US" dirty="0"/>
              <a:t>]</a:t>
            </a:r>
            <a:endParaRPr lang="bg-BG" dirty="0"/>
          </a:p>
          <a:p>
            <a:pPr lvl="1"/>
            <a:r>
              <a:rPr lang="bg-BG" dirty="0"/>
              <a:t>При</a:t>
            </a:r>
            <a:r>
              <a:rPr lang="en-US" dirty="0"/>
              <a:t>:</a:t>
            </a:r>
            <a:endParaRPr lang="bg-BG" dirty="0"/>
          </a:p>
          <a:p>
            <a:pPr lvl="2"/>
            <a:r>
              <a:rPr lang="bg-BG" dirty="0"/>
              <a:t>Невалидно число, прочита</a:t>
            </a:r>
            <a:r>
              <a:rPr lang="en-US" dirty="0"/>
              <a:t> </a:t>
            </a:r>
            <a:r>
              <a:rPr lang="bg-BG" dirty="0"/>
              <a:t>ново</a:t>
            </a:r>
          </a:p>
          <a:p>
            <a:pPr lvl="2"/>
            <a:r>
              <a:rPr lang="bg-BG" dirty="0"/>
              <a:t>Намиране на число в диапазона,</a:t>
            </a:r>
            <a:r>
              <a:rPr lang="en-US" dirty="0"/>
              <a:t> </a:t>
            </a:r>
            <a:r>
              <a:rPr lang="bg-BG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bg-BG" dirty="0"/>
              <a:t>прекратява изпълнение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Число в диапазона </a:t>
            </a:r>
            <a:r>
              <a:rPr lang="en-US" dirty="0"/>
              <a:t>[1…100]</a:t>
            </a:r>
            <a:r>
              <a:rPr lang="bg-BG" dirty="0"/>
              <a:t> - условие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15FA900E-24AF-48C9-AFB7-40F94801C15F}"/>
              </a:ext>
            </a:extLst>
          </p:cNvPr>
          <p:cNvSpPr/>
          <p:nvPr/>
        </p:nvSpPr>
        <p:spPr>
          <a:xfrm>
            <a:off x="7700773" y="3207713"/>
            <a:ext cx="2224200" cy="1477489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grpSp>
        <p:nvGrpSpPr>
          <p:cNvPr id="4097" name="Group 4096">
            <a:extLst>
              <a:ext uri="{FF2B5EF4-FFF2-40B4-BE49-F238E27FC236}">
                <a16:creationId xmlns:a16="http://schemas.microsoft.com/office/drawing/2014/main" id="{B0D21B68-56C7-41DD-98A9-E6AA008715B3}"/>
              </a:ext>
            </a:extLst>
          </p:cNvPr>
          <p:cNvGrpSpPr/>
          <p:nvPr/>
        </p:nvGrpSpPr>
        <p:grpSpPr>
          <a:xfrm>
            <a:off x="7858235" y="1757268"/>
            <a:ext cx="2407034" cy="918037"/>
            <a:chOff x="7704229" y="1749836"/>
            <a:chExt cx="2224200" cy="918037"/>
          </a:xfrm>
          <a:solidFill>
            <a:schemeClr val="tx1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CFF464B-816D-4545-9BE8-3313D72654C2}"/>
                </a:ext>
              </a:extLst>
            </p:cNvPr>
            <p:cNvSpPr/>
            <p:nvPr/>
          </p:nvSpPr>
          <p:spPr>
            <a:xfrm>
              <a:off x="7704229" y="1749836"/>
              <a:ext cx="2224200" cy="9180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FF8352-D576-426F-9060-DD0C407543AD}"/>
                </a:ext>
              </a:extLst>
            </p:cNvPr>
            <p:cNvSpPr txBox="1"/>
            <p:nvPr/>
          </p:nvSpPr>
          <p:spPr>
            <a:xfrm>
              <a:off x="7733363" y="1767162"/>
              <a:ext cx="2165931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bg-BG" b="1" dirty="0">
                  <a:solidFill>
                    <a:schemeClr val="bg2"/>
                  </a:solidFill>
                </a:rPr>
                <a:t>Прочитане </a:t>
              </a:r>
              <a:br>
                <a:rPr lang="bg-BG" b="1" dirty="0">
                  <a:solidFill>
                    <a:schemeClr val="bg2"/>
                  </a:solidFill>
                </a:rPr>
              </a:br>
              <a:r>
                <a:rPr lang="bg-BG" b="1" dirty="0">
                  <a:solidFill>
                    <a:schemeClr val="bg2"/>
                  </a:solidFill>
                </a:rPr>
                <a:t>на число </a:t>
              </a:r>
              <a:r>
                <a:rPr lang="en-US" b="1" dirty="0">
                  <a:solidFill>
                    <a:schemeClr val="bg2"/>
                  </a:solidFill>
                </a:rPr>
                <a:t>(</a:t>
              </a:r>
              <a:r>
                <a:rPr lang="en-US" b="1" dirty="0">
                  <a:solidFill>
                    <a:schemeClr val="bg2"/>
                  </a:solidFill>
                  <a:latin typeface="Consolas" panose="020B0609020204030204" pitchFamily="49" charset="0"/>
                </a:rPr>
                <a:t>num</a:t>
              </a:r>
              <a:r>
                <a:rPr lang="en-US" b="1" dirty="0">
                  <a:solidFill>
                    <a:schemeClr val="bg2"/>
                  </a:solidFill>
                </a:rPr>
                <a:t>)</a:t>
              </a:r>
            </a:p>
          </p:txBody>
        </p:sp>
      </p:grpSp>
      <p:cxnSp>
        <p:nvCxnSpPr>
          <p:cNvPr id="11" name="Elbow Connector 19">
            <a:extLst>
              <a:ext uri="{FF2B5EF4-FFF2-40B4-BE49-F238E27FC236}">
                <a16:creationId xmlns:a16="http://schemas.microsoft.com/office/drawing/2014/main" id="{57328969-1F49-490C-8F2C-6CBCC69CB089}"/>
              </a:ext>
            </a:extLst>
          </p:cNvPr>
          <p:cNvCxnSpPr/>
          <p:nvPr/>
        </p:nvCxnSpPr>
        <p:spPr>
          <a:xfrm rot="16200000" flipH="1">
            <a:off x="9329356" y="3176797"/>
            <a:ext cx="2386947" cy="725923"/>
          </a:xfrm>
          <a:prstGeom prst="bentConnector3">
            <a:avLst>
              <a:gd name="adj1" fmla="val -4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A3E11B-167C-490D-BE8B-7FD3C2B7FB84}"/>
              </a:ext>
            </a:extLst>
          </p:cNvPr>
          <p:cNvGrpSpPr/>
          <p:nvPr/>
        </p:nvGrpSpPr>
        <p:grpSpPr>
          <a:xfrm>
            <a:off x="9973178" y="4685202"/>
            <a:ext cx="1869354" cy="513105"/>
            <a:chOff x="8421954" y="3780528"/>
            <a:chExt cx="1264818" cy="38052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2B2836B-8D91-4E46-9700-7A0E5774C541}"/>
                </a:ext>
              </a:extLst>
            </p:cNvPr>
            <p:cNvSpPr/>
            <p:nvPr/>
          </p:nvSpPr>
          <p:spPr>
            <a:xfrm>
              <a:off x="8458256" y="3780528"/>
              <a:ext cx="1192216" cy="38052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9DA524-2B0E-4A6D-BFBC-BAD3CEFE0322}"/>
                </a:ext>
              </a:extLst>
            </p:cNvPr>
            <p:cNvSpPr txBox="1"/>
            <p:nvPr/>
          </p:nvSpPr>
          <p:spPr>
            <a:xfrm>
              <a:off x="8421954" y="3811015"/>
              <a:ext cx="1264818" cy="319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2200" b="1" dirty="0">
                  <a:solidFill>
                    <a:schemeClr val="bg2"/>
                  </a:solidFill>
                </a:rPr>
                <a:t>Принтиране</a:t>
              </a:r>
              <a:endParaRPr lang="en-US" sz="2200" b="1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12" name="Elbow Connector 18">
            <a:extLst>
              <a:ext uri="{FF2B5EF4-FFF2-40B4-BE49-F238E27FC236}">
                <a16:creationId xmlns:a16="http://schemas.microsoft.com/office/drawing/2014/main" id="{72516E31-A3D1-4C37-BC61-3B49064D9966}"/>
              </a:ext>
            </a:extLst>
          </p:cNvPr>
          <p:cNvCxnSpPr>
            <a:cxnSpLocks/>
            <a:stCxn id="25" idx="2"/>
            <a:endCxn id="10" idx="1"/>
          </p:cNvCxnSpPr>
          <p:nvPr/>
        </p:nvCxnSpPr>
        <p:spPr>
          <a:xfrm rot="5400000" flipH="1">
            <a:off x="7103764" y="2976094"/>
            <a:ext cx="2495109" cy="923109"/>
          </a:xfrm>
          <a:prstGeom prst="bentConnector4">
            <a:avLst>
              <a:gd name="adj1" fmla="val -9162"/>
              <a:gd name="adj2" fmla="val 145237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FF3FDD5-8E99-47AD-B1BC-95E37DBB2701}"/>
              </a:ext>
            </a:extLst>
          </p:cNvPr>
          <p:cNvSpPr txBox="1"/>
          <p:nvPr/>
        </p:nvSpPr>
        <p:spPr>
          <a:xfrm>
            <a:off x="7809057" y="3411931"/>
            <a:ext cx="20001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  <a:latin typeface="Consolas" panose="020B0609020204030204" pitchFamily="49" charset="0"/>
              </a:rPr>
              <a:t>num</a:t>
            </a:r>
            <a:r>
              <a:rPr lang="en-US" sz="2000" b="1" dirty="0">
                <a:solidFill>
                  <a:schemeClr val="bg2"/>
                </a:solidFill>
              </a:rPr>
              <a:t> &lt; 1 </a:t>
            </a:r>
            <a:br>
              <a:rPr lang="en-US" sz="2000" b="1" dirty="0">
                <a:solidFill>
                  <a:schemeClr val="bg2"/>
                </a:solidFill>
              </a:rPr>
            </a:br>
            <a:r>
              <a:rPr lang="en-US" sz="2000" b="1" dirty="0">
                <a:solidFill>
                  <a:schemeClr val="bg2"/>
                </a:solidFill>
              </a:rPr>
              <a:t>||</a:t>
            </a:r>
            <a:r>
              <a:rPr lang="bg-BG" sz="2000" b="1" dirty="0">
                <a:solidFill>
                  <a:schemeClr val="bg2"/>
                </a:solidFill>
              </a:rPr>
              <a:t> </a:t>
            </a:r>
            <a:r>
              <a:rPr lang="en-US" sz="2000" b="1" dirty="0">
                <a:solidFill>
                  <a:schemeClr val="bg2"/>
                </a:solidFill>
              </a:rPr>
              <a:t/>
            </a:r>
            <a:br>
              <a:rPr lang="en-US" sz="2000" b="1" dirty="0">
                <a:solidFill>
                  <a:schemeClr val="bg2"/>
                </a:solidFill>
              </a:rPr>
            </a:br>
            <a:r>
              <a:rPr lang="en-US" sz="2000" b="1" dirty="0">
                <a:solidFill>
                  <a:schemeClr val="bg2"/>
                </a:solidFill>
                <a:latin typeface="Consolas" panose="020B0609020204030204" pitchFamily="49" charset="0"/>
              </a:rPr>
              <a:t>num</a:t>
            </a:r>
            <a:r>
              <a:rPr lang="en-US" sz="2000" b="1" dirty="0">
                <a:solidFill>
                  <a:schemeClr val="bg2"/>
                </a:solidFill>
              </a:rPr>
              <a:t> &gt; 100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15877D-6CF8-433B-8198-170BAAF42A95}"/>
              </a:ext>
            </a:extLst>
          </p:cNvPr>
          <p:cNvSpPr txBox="1"/>
          <p:nvPr/>
        </p:nvSpPr>
        <p:spPr>
          <a:xfrm>
            <a:off x="9718171" y="3109645"/>
            <a:ext cx="222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bg2"/>
                </a:solidFill>
              </a:rPr>
              <a:t>1 &lt;= n</a:t>
            </a:r>
            <a:r>
              <a:rPr lang="en-US" sz="2000" b="1" dirty="0">
                <a:solidFill>
                  <a:schemeClr val="bg2"/>
                </a:solidFill>
                <a:latin typeface="Consolas" panose="020B0609020204030204" pitchFamily="49" charset="0"/>
              </a:rPr>
              <a:t>u</a:t>
            </a:r>
            <a:r>
              <a:rPr lang="en-US" sz="2000" b="1" dirty="0">
                <a:solidFill>
                  <a:schemeClr val="bg2"/>
                </a:solidFill>
              </a:rPr>
              <a:t>m &lt;= 100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241B6E-CE17-41EC-AC3D-EE79822DC6FE}"/>
              </a:ext>
            </a:extLst>
          </p:cNvPr>
          <p:cNvCxnSpPr>
            <a:cxnSpLocks/>
          </p:cNvCxnSpPr>
          <p:nvPr/>
        </p:nvCxnSpPr>
        <p:spPr>
          <a:xfrm>
            <a:off x="8825752" y="2714549"/>
            <a:ext cx="0" cy="51127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18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5" grpId="0" animBg="1"/>
      <p:bldP spid="20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Число в диапазона </a:t>
            </a:r>
            <a:r>
              <a:rPr lang="en-US" dirty="0"/>
              <a:t>[1…100]</a:t>
            </a:r>
            <a:r>
              <a:rPr lang="bg-BG" dirty="0"/>
              <a:t> - решение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703061" y="1501273"/>
            <a:ext cx="8782702" cy="412420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int num = int.Parse(Console.ReadLine());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2800" b="1" noProof="1">
                <a:latin typeface="Consolas" pitchFamily="49" charset="0"/>
                <a:cs typeface="Consolas" pitchFamily="49" charset="0"/>
              </a:rPr>
              <a:t> (num &lt; 1 || num &gt; 100)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 Console.WriteLine("Invalid number!");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   num = int.Parse(Console.ReadLine());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pt-BR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2800" b="1" noProof="1">
                <a:latin typeface="Consolas" pitchFamily="49" charset="0"/>
                <a:cs typeface="Consolas" pitchFamily="49" charset="0"/>
              </a:rPr>
              <a:t>Console.WriteLine("The number is: " + num);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0412" y="6244375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https://judge.softuni.bg/Contests/Compete/Index/1014#0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77092" y="1196129"/>
            <a:ext cx="11815018" cy="5201066"/>
          </a:xfrm>
        </p:spPr>
        <p:txBody>
          <a:bodyPr/>
          <a:lstStyle/>
          <a:p>
            <a:r>
              <a:rPr lang="bg-BG" sz="3200" dirty="0"/>
              <a:t>Напишете програма, която: </a:t>
            </a:r>
          </a:p>
          <a:p>
            <a:pPr lvl="1"/>
            <a:r>
              <a:rPr lang="bg-BG" sz="3000" dirty="0"/>
              <a:t>Прочита цяло число </a:t>
            </a:r>
            <a:r>
              <a:rPr lang="en-US" sz="3000" b="1" dirty="0">
                <a:solidFill>
                  <a:schemeClr val="bg1"/>
                </a:solidFill>
              </a:rPr>
              <a:t>n</a:t>
            </a:r>
            <a:endParaRPr lang="bg-BG" sz="3000" b="1" dirty="0">
              <a:solidFill>
                <a:schemeClr val="bg1"/>
              </a:solidFill>
            </a:endParaRPr>
          </a:p>
          <a:p>
            <a:pPr lvl="1"/>
            <a:r>
              <a:rPr lang="bg-BG" sz="3000" dirty="0"/>
              <a:t>Отпечатва всички числа </a:t>
            </a:r>
            <a:r>
              <a:rPr lang="en-US" sz="3000" dirty="0"/>
              <a:t>≤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bg-BG" sz="3000" dirty="0"/>
              <a:t> от редицата:</a:t>
            </a:r>
            <a:r>
              <a:rPr lang="en-US" sz="3000" dirty="0"/>
              <a:t> 1, 3, 7, 15, 31, …</a:t>
            </a:r>
          </a:p>
          <a:p>
            <a:pPr lvl="1"/>
            <a:r>
              <a:rPr lang="bg-BG" sz="3000" dirty="0"/>
              <a:t>Всяко следващо число </a:t>
            </a:r>
            <a:r>
              <a:rPr lang="en-US" sz="3000" dirty="0"/>
              <a:t>e </a:t>
            </a:r>
            <a:r>
              <a:rPr lang="bg-BG" sz="3000" dirty="0"/>
              <a:t>равно на </a:t>
            </a:r>
            <a:r>
              <a:rPr lang="bg-BG" sz="3000" b="1" dirty="0">
                <a:solidFill>
                  <a:schemeClr val="bg1"/>
                </a:solidFill>
              </a:rPr>
              <a:t>предишното</a:t>
            </a:r>
            <a:r>
              <a:rPr lang="bg-BG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bg-BG" sz="3000" dirty="0"/>
              <a:t>*</a:t>
            </a:r>
            <a:r>
              <a:rPr lang="en-US" sz="3000" dirty="0"/>
              <a:t> </a:t>
            </a:r>
            <a:r>
              <a:rPr lang="bg-BG" sz="3000" dirty="0"/>
              <a:t> 2 + 1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Редица числа 2</a:t>
            </a:r>
            <a:r>
              <a:rPr lang="en-US" dirty="0"/>
              <a:t>k</a:t>
            </a:r>
            <a:r>
              <a:rPr lang="bg-BG" dirty="0"/>
              <a:t>+1 - условие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12601" y="3826994"/>
            <a:ext cx="9143999" cy="5741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,</a:t>
            </a:r>
            <a:r>
              <a:rPr lang="bg-BG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2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)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sz="3000" b="1" noProof="1">
                <a:latin typeface="+mj-lt"/>
                <a:cs typeface="Consolas" pitchFamily="49" charset="0"/>
              </a:rPr>
              <a:t>,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(3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2)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7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,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(7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2)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+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=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15</a:t>
            </a:r>
            <a:r>
              <a:rPr lang="en-US" sz="3000" b="1" noProof="1">
                <a:latin typeface="+mj-lt"/>
                <a:cs typeface="Consolas" pitchFamily="49" charset="0"/>
              </a:rPr>
              <a:t> </a:t>
            </a:r>
            <a:r>
              <a:rPr lang="en-US" sz="3000" b="1" noProof="1">
                <a:latin typeface="Consolas" pitchFamily="49" charset="0"/>
                <a:cs typeface="Consolas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2490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760200" y="6397625"/>
            <a:ext cx="428625" cy="307975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 bwMode="auto">
          <a:xfrm>
            <a:off x="4722811" y="1429829"/>
            <a:ext cx="2447925" cy="457200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</a:rPr>
              <a:t>k = 1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936232" y="1081179"/>
            <a:ext cx="4762" cy="3249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945757" y="1902125"/>
            <a:ext cx="952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 bwMode="auto">
          <a:xfrm>
            <a:off x="4722812" y="2283125"/>
            <a:ext cx="2447924" cy="1255144"/>
          </a:xfrm>
          <a:prstGeom prst="diamond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</a:rPr>
              <a:t>k &lt;=</a:t>
            </a:r>
            <a:r>
              <a:rPr lang="bg-BG" dirty="0">
                <a:solidFill>
                  <a:srgbClr val="FFFFFF"/>
                </a:solidFill>
              </a:rPr>
              <a:t> </a:t>
            </a:r>
            <a:r>
              <a:rPr lang="en-GB" dirty="0">
                <a:solidFill>
                  <a:srgbClr val="FFFFFF"/>
                </a:solidFill>
              </a:rPr>
              <a:t>n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5940994" y="3553365"/>
            <a:ext cx="952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arallelogram 33"/>
          <p:cNvSpPr/>
          <p:nvPr/>
        </p:nvSpPr>
        <p:spPr bwMode="auto">
          <a:xfrm>
            <a:off x="4722811" y="3949461"/>
            <a:ext cx="2447926" cy="680768"/>
          </a:xfrm>
          <a:prstGeom prst="parallelogram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k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5926707" y="4645325"/>
            <a:ext cx="9525" cy="381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36" idx="1"/>
            <a:endCxn id="23" idx="1"/>
          </p:cNvCxnSpPr>
          <p:nvPr/>
        </p:nvCxnSpPr>
        <p:spPr>
          <a:xfrm rot="10800000">
            <a:off x="4722812" y="2910698"/>
            <a:ext cx="12700" cy="2446307"/>
          </a:xfrm>
          <a:prstGeom prst="bentConnector3">
            <a:avLst>
              <a:gd name="adj1" fmla="val 375728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Terminator 45"/>
          <p:cNvSpPr/>
          <p:nvPr/>
        </p:nvSpPr>
        <p:spPr bwMode="auto">
          <a:xfrm>
            <a:off x="4735512" y="500333"/>
            <a:ext cx="2435224" cy="580846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input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722812" y="5029200"/>
            <a:ext cx="2447924" cy="655608"/>
          </a:xfrm>
          <a:prstGeom prst="rec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k = </a:t>
            </a:r>
            <a:r>
              <a:rPr lang="bg-BG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2 * </a:t>
            </a:r>
            <a:r>
              <a:rPr lang="pt-BR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k </a:t>
            </a:r>
            <a:r>
              <a:rPr lang="bg-BG" noProof="1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+ 1</a:t>
            </a:r>
            <a:endParaRPr lang="en-US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78EA80-7B10-4552-97A2-AACEC0482F42}"/>
              </a:ext>
            </a:extLst>
          </p:cNvPr>
          <p:cNvSpPr txBox="1"/>
          <p:nvPr/>
        </p:nvSpPr>
        <p:spPr>
          <a:xfrm>
            <a:off x="7008812" y="2438400"/>
            <a:ext cx="776330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BB5AD8-AB75-4F23-AE6A-E521D2C6B528}"/>
              </a:ext>
            </a:extLst>
          </p:cNvPr>
          <p:cNvCxnSpPr>
            <a:cxnSpLocks/>
          </p:cNvCxnSpPr>
          <p:nvPr/>
        </p:nvCxnSpPr>
        <p:spPr>
          <a:xfrm>
            <a:off x="7170736" y="2912842"/>
            <a:ext cx="82867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8AF30D3D-9BFC-424A-BC1C-DCA4880910ED}"/>
              </a:ext>
            </a:extLst>
          </p:cNvPr>
          <p:cNvSpPr/>
          <p:nvPr/>
        </p:nvSpPr>
        <p:spPr bwMode="auto">
          <a:xfrm>
            <a:off x="8009478" y="2620274"/>
            <a:ext cx="2435224" cy="580846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loop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42009-B203-48FA-8914-66BBB7F723A0}"/>
              </a:ext>
            </a:extLst>
          </p:cNvPr>
          <p:cNvSpPr txBox="1"/>
          <p:nvPr/>
        </p:nvSpPr>
        <p:spPr>
          <a:xfrm>
            <a:off x="5926707" y="3361921"/>
            <a:ext cx="730035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4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 animBg="1"/>
      <p:bldP spid="34" grpId="0" animBg="1"/>
      <p:bldP spid="36" grpId="0" animBg="1"/>
      <p:bldP spid="15" grpId="0"/>
      <p:bldP spid="20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Редица числа 2</a:t>
            </a:r>
            <a:r>
              <a:rPr lang="en-US" dirty="0"/>
              <a:t>k</a:t>
            </a:r>
            <a:r>
              <a:rPr lang="bg-BG" dirty="0"/>
              <a:t>+1 - решение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79512" y="1447800"/>
            <a:ext cx="9753600" cy="36471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int k = 1;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latin typeface="Consolas" pitchFamily="49" charset="0"/>
                <a:cs typeface="Consolas" pitchFamily="49" charset="0"/>
              </a:rPr>
              <a:t>while 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(k &lt;= n)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30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 Console.WriteLine(k);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   k = 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2 * 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k </a:t>
            </a:r>
            <a:r>
              <a:rPr lang="bg-BG" sz="3000" b="1" noProof="1">
                <a:latin typeface="Consolas" pitchFamily="49" charset="0"/>
                <a:cs typeface="Consolas" pitchFamily="49" charset="0"/>
              </a:rPr>
              <a:t>+ 1</a:t>
            </a:r>
            <a:r>
              <a:rPr lang="pt-BR" sz="3000" b="1" noProof="1"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0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212" y="6226790"/>
            <a:ext cx="10744200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https://judge.softuni.bg/Contests/Compete/Index/1014#1</a:t>
            </a:r>
            <a:endParaRPr lang="en-US" dirty="0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570412" y="2264302"/>
            <a:ext cx="4191000" cy="970208"/>
          </a:xfrm>
          <a:prstGeom prst="wedgeRoundRectCallout">
            <a:avLst>
              <a:gd name="adj1" fmla="val -56617"/>
              <a:gd name="adj2" fmla="val -129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</a:rPr>
              <a:t>Повторение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</a:rPr>
              <a:t>докато е в сила условието </a:t>
            </a:r>
            <a:r>
              <a:rPr lang="en-US" sz="2800" b="1" noProof="1">
                <a:solidFill>
                  <a:schemeClr val="bg2"/>
                </a:solidFill>
                <a:latin typeface="Consolas" panose="020B0609020204030204" pitchFamily="49" charset="0"/>
              </a:rPr>
              <a:t>k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chemeClr val="bg2"/>
                </a:solidFill>
              </a:rPr>
              <a:t>≤ </a:t>
            </a:r>
            <a:r>
              <a:rPr lang="en-US" sz="2800" b="1" dirty="0">
                <a:solidFill>
                  <a:schemeClr val="bg2"/>
                </a:solidFill>
                <a:latin typeface="Consolas" panose="020B0609020204030204" pitchFamily="49" charset="0"/>
              </a:rPr>
              <a:t>n</a:t>
            </a:r>
            <a:endParaRPr lang="bg-BG" sz="2800" b="1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81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Прекъсване чрез оператор </a:t>
            </a:r>
            <a:r>
              <a:rPr lang="en-US" sz="4800" b="1" dirty="0">
                <a:latin typeface="Consolas" panose="020B0609020204030204" pitchFamily="49" charset="0"/>
              </a:rPr>
              <a:t>break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2" name="Текстов контейне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dirty="0"/>
              <a:t>Безкрайни цикли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C8A035-77B2-4E08-96D7-777F254C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12" y="1600200"/>
            <a:ext cx="2590800" cy="215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Безкраен цикъл </a:t>
            </a:r>
            <a:r>
              <a:rPr lang="en-US" dirty="0"/>
              <a:t>– </a:t>
            </a:r>
            <a:r>
              <a:rPr lang="bg-BG" dirty="0"/>
              <a:t>повтаряне на блок от код безкраен брой </a:t>
            </a:r>
            <a:r>
              <a:rPr lang="en-US" dirty="0"/>
              <a:t/>
            </a:r>
            <a:br>
              <a:rPr lang="en-US" dirty="0"/>
            </a:br>
            <a:r>
              <a:rPr lang="bg-BG" dirty="0"/>
              <a:t>пъти:</a:t>
            </a:r>
          </a:p>
          <a:p>
            <a:endParaRPr lang="bg-BG" dirty="0"/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Безкраен цикъл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732212" y="3957272"/>
            <a:ext cx="7927976" cy="196207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while 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true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Console.WriteLine("Infinite loop");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5820304" y="3119727"/>
            <a:ext cx="3429000" cy="908001"/>
          </a:xfrm>
          <a:prstGeom prst="wedgeRoundRectCallout">
            <a:avLst>
              <a:gd name="adj1" fmla="val -57455"/>
              <a:gd name="adj2" fmla="val 5267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Условието е винаги вярно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CD967551-4CE2-4F34-BD31-90BC777B1FE6}"/>
              </a:ext>
            </a:extLst>
          </p:cNvPr>
          <p:cNvSpPr/>
          <p:nvPr/>
        </p:nvSpPr>
        <p:spPr>
          <a:xfrm>
            <a:off x="1370012" y="2465828"/>
            <a:ext cx="1675208" cy="1328800"/>
          </a:xfrm>
          <a:prstGeom prst="flowChartDecision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D5E66-7AA8-4093-ACB4-AFF3DD171CDA}"/>
              </a:ext>
            </a:extLst>
          </p:cNvPr>
          <p:cNvSpPr txBox="1"/>
          <p:nvPr/>
        </p:nvSpPr>
        <p:spPr>
          <a:xfrm>
            <a:off x="1576035" y="2906703"/>
            <a:ext cx="1263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условие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DBF614-FA83-439A-BA3D-83AE00EE1655}"/>
              </a:ext>
            </a:extLst>
          </p:cNvPr>
          <p:cNvCxnSpPr/>
          <p:nvPr/>
        </p:nvCxnSpPr>
        <p:spPr>
          <a:xfrm>
            <a:off x="2207616" y="3573728"/>
            <a:ext cx="0" cy="7670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F52B4-595E-49C2-82F0-F461D422382B}"/>
              </a:ext>
            </a:extLst>
          </p:cNvPr>
          <p:cNvSpPr/>
          <p:nvPr/>
        </p:nvSpPr>
        <p:spPr>
          <a:xfrm>
            <a:off x="1370012" y="4330357"/>
            <a:ext cx="1675208" cy="775043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B2830-9DE9-42C5-9B7C-2B2455C89939}"/>
              </a:ext>
            </a:extLst>
          </p:cNvPr>
          <p:cNvSpPr txBox="1"/>
          <p:nvPr/>
        </p:nvSpPr>
        <p:spPr>
          <a:xfrm>
            <a:off x="1514918" y="4503732"/>
            <a:ext cx="1388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bg-BG" b="1" dirty="0">
                <a:solidFill>
                  <a:schemeClr val="bg2"/>
                </a:solidFill>
              </a:rPr>
              <a:t>команди</a:t>
            </a:r>
            <a:endParaRPr lang="en-US" b="1" dirty="0">
              <a:solidFill>
                <a:schemeClr val="bg2"/>
              </a:solidFill>
            </a:endParaRPr>
          </a:p>
        </p:txBody>
      </p:sp>
      <p:cxnSp>
        <p:nvCxnSpPr>
          <p:cNvPr id="14" name="Elbow Connector 18">
            <a:extLst>
              <a:ext uri="{FF2B5EF4-FFF2-40B4-BE49-F238E27FC236}">
                <a16:creationId xmlns:a16="http://schemas.microsoft.com/office/drawing/2014/main" id="{70DCD1DC-929F-4AB0-8E1E-C26BA6E8C411}"/>
              </a:ext>
            </a:extLst>
          </p:cNvPr>
          <p:cNvCxnSpPr>
            <a:cxnSpLocks/>
            <a:stCxn id="12" idx="2"/>
            <a:endCxn id="8" idx="1"/>
          </p:cNvCxnSpPr>
          <p:nvPr/>
        </p:nvCxnSpPr>
        <p:spPr>
          <a:xfrm rot="5400000" flipH="1">
            <a:off x="801228" y="3699012"/>
            <a:ext cx="1975172" cy="837604"/>
          </a:xfrm>
          <a:prstGeom prst="bentConnector4">
            <a:avLst>
              <a:gd name="adj1" fmla="val -18343"/>
              <a:gd name="adj2" fmla="val 16776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5B7F70E-0192-48D7-9A5E-272458A14269}"/>
              </a:ext>
            </a:extLst>
          </p:cNvPr>
          <p:cNvSpPr txBox="1"/>
          <p:nvPr/>
        </p:nvSpPr>
        <p:spPr>
          <a:xfrm>
            <a:off x="2297784" y="3764873"/>
            <a:ext cx="723145" cy="386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b="1" dirty="0"/>
              <a:t>вярно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06B1E-5EE8-4444-A397-56BCDD4AE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12" y="2053100"/>
            <a:ext cx="1988485" cy="102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8" grpId="0" animBg="1"/>
      <p:bldP spid="9" grpId="0"/>
      <p:bldP spid="12" grpId="0" animBg="1"/>
      <p:bldP spid="13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Оператор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break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– </a:t>
            </a:r>
            <a:r>
              <a:rPr lang="bg-BG" dirty="0"/>
              <a:t>прекъсва цикъла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Прекратяване на цикъл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055812" y="2057400"/>
            <a:ext cx="7848600" cy="388414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(true)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Console.WriteLine("Infinite loop");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if (…)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break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646612" y="3657600"/>
            <a:ext cx="4294496" cy="990600"/>
          </a:xfrm>
          <a:prstGeom prst="wedgeRoundRectCallout">
            <a:avLst>
              <a:gd name="adj1" fmla="val -64142"/>
              <a:gd name="adj2" fmla="val -3554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прекъсване на цикъла</a:t>
            </a:r>
          </a:p>
        </p:txBody>
      </p:sp>
    </p:spTree>
    <p:extLst>
      <p:ext uri="{BB962C8B-B14F-4D97-AF65-F5344CB8AC3E}">
        <p14:creationId xmlns:p14="http://schemas.microsoft.com/office/powerpoint/2010/main" val="409344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303212" y="1216644"/>
            <a:ext cx="11815018" cy="5201066"/>
          </a:xfrm>
        </p:spPr>
        <p:txBody>
          <a:bodyPr>
            <a:normAutofit/>
          </a:bodyPr>
          <a:lstStyle/>
          <a:p>
            <a:r>
              <a:rPr lang="bg-BG" sz="3200" dirty="0"/>
              <a:t>Напишете програма, която:</a:t>
            </a:r>
          </a:p>
          <a:p>
            <a:pPr lvl="1"/>
            <a:r>
              <a:rPr lang="bg-BG" sz="3000" dirty="0"/>
              <a:t>Чете</a:t>
            </a:r>
            <a:r>
              <a:rPr lang="en-US" sz="3000" dirty="0"/>
              <a:t> n –</a:t>
            </a:r>
            <a:r>
              <a:rPr lang="bg-BG" sz="3000" dirty="0"/>
              <a:t> на</a:t>
            </a:r>
            <a:r>
              <a:rPr lang="en-US" sz="3000" dirty="0"/>
              <a:t> </a:t>
            </a:r>
            <a:r>
              <a:rPr lang="bg-BG" sz="3000" dirty="0"/>
              <a:t>брой числа, които представляват вноски по банкова 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g-BG" sz="3000" dirty="0"/>
              <a:t>сметка</a:t>
            </a:r>
          </a:p>
          <a:p>
            <a:pPr lvl="1"/>
            <a:r>
              <a:rPr lang="bg-BG" sz="3000" dirty="0"/>
              <a:t>При всяка вноска принтира: </a:t>
            </a:r>
          </a:p>
          <a:p>
            <a:pPr marL="377887" lvl="1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bg-BG" sz="2800" b="1" dirty="0"/>
              <a:t>       </a:t>
            </a:r>
            <a:r>
              <a:rPr lang="en-US" sz="2800" b="1" dirty="0"/>
              <a:t>"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Increase: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3100" b="1" dirty="0"/>
              <a:t>{</a:t>
            </a:r>
            <a:r>
              <a:rPr lang="bg-BG" sz="3100" b="1" dirty="0"/>
              <a:t>сумата</a:t>
            </a:r>
            <a:r>
              <a:rPr lang="en-US" sz="3100" b="1" dirty="0"/>
              <a:t>} </a:t>
            </a:r>
            <a:r>
              <a:rPr lang="en-US" sz="2800" b="1" dirty="0"/>
              <a:t>"</a:t>
            </a:r>
            <a:endParaRPr lang="en-US" sz="2400" b="1" dirty="0"/>
          </a:p>
          <a:p>
            <a:pPr marL="609219" lvl="1" indent="0">
              <a:buNone/>
            </a:pPr>
            <a:endParaRPr lang="en-US" sz="3000" dirty="0"/>
          </a:p>
          <a:p>
            <a:pPr marL="377887" lvl="1" indent="0">
              <a:buNone/>
            </a:pPr>
            <a:endParaRPr lang="bg-BG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Баланс на сметка - условие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075" name="Picture 3" descr="C:\Users\HP\Desktop\5f44f3160a09b51b4fa4634ecdff62dd-money-icon-by-vexel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2" y="3928056"/>
            <a:ext cx="3042119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73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40913" y="1371600"/>
            <a:ext cx="11815018" cy="5201066"/>
          </a:xfrm>
        </p:spPr>
        <p:txBody>
          <a:bodyPr>
            <a:normAutofit/>
          </a:bodyPr>
          <a:lstStyle/>
          <a:p>
            <a:pPr lvl="1"/>
            <a:r>
              <a:rPr lang="bg-BG" sz="3000" dirty="0"/>
              <a:t>Ако се въведе отрицателно число да се изпише</a:t>
            </a:r>
            <a:endParaRPr lang="en-US" sz="3000" dirty="0"/>
          </a:p>
          <a:p>
            <a:pPr marL="377887" lvl="1" indent="0">
              <a:buNone/>
            </a:pPr>
            <a:r>
              <a:rPr lang="bg-BG" b="1" dirty="0"/>
              <a:t>    </a:t>
            </a:r>
            <a:r>
              <a:rPr lang="en-US" b="1" dirty="0"/>
              <a:t>"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Invalid operation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!</a:t>
            </a:r>
            <a:r>
              <a:rPr lang="en-US" b="1" dirty="0"/>
              <a:t>"</a:t>
            </a:r>
            <a:r>
              <a:rPr lang="bg-BG" b="1" dirty="0"/>
              <a:t> </a:t>
            </a:r>
            <a:r>
              <a:rPr lang="bg-BG" sz="3000" dirty="0"/>
              <a:t>и програмата да приключи </a:t>
            </a:r>
          </a:p>
          <a:p>
            <a:pPr lvl="1"/>
            <a:r>
              <a:rPr lang="bg-BG" sz="3000" dirty="0"/>
              <a:t>Накрая на програмата трябва да се изпише:</a:t>
            </a:r>
          </a:p>
          <a:p>
            <a:pPr marL="377887" lvl="1" indent="0">
              <a:buNone/>
            </a:pPr>
            <a:r>
              <a:rPr lang="bg-BG" sz="2800" b="1" dirty="0"/>
              <a:t>     "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Total</a:t>
            </a:r>
            <a:r>
              <a:rPr lang="bg-BG" sz="2800" b="1" dirty="0">
                <a:latin typeface="Consolas" pitchFamily="49" charset="0"/>
                <a:cs typeface="Consolas" pitchFamily="49" charset="0"/>
              </a:rPr>
              <a:t>: </a:t>
            </a:r>
            <a:r>
              <a:rPr lang="en-US" sz="2800" b="1" dirty="0"/>
              <a:t>{</a:t>
            </a:r>
            <a:r>
              <a:rPr lang="bg-BG" sz="2800" b="1" dirty="0"/>
              <a:t>общата сума в сметката</a:t>
            </a:r>
            <a:r>
              <a:rPr lang="en-US" sz="2800" b="1" dirty="0"/>
              <a:t>}</a:t>
            </a:r>
            <a:r>
              <a:rPr lang="bg-BG" sz="2800" b="1" dirty="0"/>
              <a:t>"</a:t>
            </a:r>
            <a:endParaRPr lang="en-US" sz="3000" b="1" dirty="0"/>
          </a:p>
          <a:p>
            <a:pPr lvl="1"/>
            <a:endParaRPr lang="en-US" sz="3000" dirty="0"/>
          </a:p>
          <a:p>
            <a:pPr marL="377887" lvl="1" indent="0">
              <a:buNone/>
            </a:pPr>
            <a:endParaRPr lang="bg-BG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Баланс на сметка - условие</a:t>
            </a:r>
            <a:r>
              <a:rPr lang="en-US" dirty="0"/>
              <a:t>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026" name="Picture 2" descr="C:\Users\HP\Desktop\Work\SVN\PB-AprilSVN\Exam\18909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481" y="4119671"/>
            <a:ext cx="3968431" cy="208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10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Примерен вход и изход:</a:t>
            </a:r>
          </a:p>
          <a:p>
            <a:pPr lvl="1"/>
            <a:endParaRPr lang="en-US" sz="3000" dirty="0"/>
          </a:p>
          <a:p>
            <a:pPr marL="377887" lvl="1" indent="0">
              <a:buNone/>
            </a:pPr>
            <a:endParaRPr lang="bg-BG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Баланс на сметка </a:t>
            </a:r>
            <a:r>
              <a:rPr lang="en-US" dirty="0"/>
              <a:t>-</a:t>
            </a:r>
            <a:r>
              <a:rPr lang="bg-BG" dirty="0"/>
              <a:t> условие</a:t>
            </a:r>
            <a:r>
              <a:rPr lang="en-US" dirty="0"/>
              <a:t>(3)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205425" y="2009789"/>
            <a:ext cx="1139263" cy="153719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b="1" dirty="0">
                <a:latin typeface="Consolas" pitchFamily="49" charset="0"/>
                <a:cs typeface="Consolas" pitchFamily="49" charset="0"/>
              </a:rPr>
              <a:t>3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5.51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69.42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100</a:t>
            </a:r>
            <a:endParaRPr lang="en-US" b="1" noProof="1">
              <a:solidFill>
                <a:srgbClr val="FBEED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ight Arrow 11"/>
          <p:cNvSpPr/>
          <p:nvPr/>
        </p:nvSpPr>
        <p:spPr>
          <a:xfrm>
            <a:off x="2691031" y="2625984"/>
            <a:ext cx="34472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382097" y="2030526"/>
            <a:ext cx="3398116" cy="1537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b="1" dirty="0">
                <a:latin typeface="Consolas" pitchFamily="49" charset="0"/>
                <a:cs typeface="Consolas" pitchFamily="49" charset="0"/>
              </a:rPr>
              <a:t>Increase: 5.51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Increase: 69.42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Increase: 100.00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Total: 174.93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3244" y="4128812"/>
            <a:ext cx="1139263" cy="168959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en-US" b="1" dirty="0">
                <a:latin typeface="Consolas" pitchFamily="49" charset="0"/>
                <a:cs typeface="Consolas" pitchFamily="49" charset="0"/>
              </a:rPr>
              <a:t>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120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45.55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-150</a:t>
            </a:r>
            <a:endParaRPr lang="en-US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ight Arrow 11"/>
          <p:cNvSpPr/>
          <p:nvPr/>
        </p:nvSpPr>
        <p:spPr>
          <a:xfrm>
            <a:off x="2690673" y="4850194"/>
            <a:ext cx="344722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401023" y="4128812"/>
            <a:ext cx="3379190" cy="16895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b="1" dirty="0">
                <a:latin typeface="Consolas" pitchFamily="49" charset="0"/>
                <a:cs typeface="Consolas" pitchFamily="49" charset="0"/>
              </a:rPr>
              <a:t>Increase: 120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Increase: 45.55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Invalid operation!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r>
              <a:rPr lang="en-US" b="1" dirty="0">
                <a:latin typeface="Consolas" pitchFamily="49" charset="0"/>
                <a:cs typeface="Consolas" pitchFamily="49" charset="0"/>
              </a:rPr>
              <a:t>Total: 165.55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3" name="Picture 2" descr="C:\Users\HP\Desktop\money-flat-money-png-15.png">
            <a:extLst>
              <a:ext uri="{FF2B5EF4-FFF2-40B4-BE49-F238E27FC236}">
                <a16:creationId xmlns:a16="http://schemas.microsoft.com/office/drawing/2014/main" id="{CC837297-6DF7-4098-9A32-B5D1FC032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1112" y="1883581"/>
            <a:ext cx="2801690" cy="1789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78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760200" y="6397625"/>
            <a:ext cx="428625" cy="307975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Flowchart: Terminator 2"/>
          <p:cNvSpPr/>
          <p:nvPr/>
        </p:nvSpPr>
        <p:spPr bwMode="auto">
          <a:xfrm>
            <a:off x="4858267" y="418393"/>
            <a:ext cx="2302945" cy="533400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input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" name="Straight Arrow Connector 10"/>
          <p:cNvCxnSpPr>
            <a:cxnSpLocks/>
            <a:stCxn id="3" idx="2"/>
            <a:endCxn id="12" idx="0"/>
          </p:cNvCxnSpPr>
          <p:nvPr/>
        </p:nvCxnSpPr>
        <p:spPr>
          <a:xfrm flipH="1">
            <a:off x="6007431" y="951793"/>
            <a:ext cx="2309" cy="3274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ocess 11"/>
          <p:cNvSpPr/>
          <p:nvPr/>
        </p:nvSpPr>
        <p:spPr bwMode="auto">
          <a:xfrm>
            <a:off x="4951412" y="1279194"/>
            <a:ext cx="2112038" cy="762000"/>
          </a:xfrm>
          <a:prstGeom prst="flowChartProcess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 = 0</a:t>
            </a:r>
          </a:p>
          <a:p>
            <a:pPr algn="ctr"/>
            <a:r>
              <a:rPr lang="en-GB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balance = 0</a:t>
            </a: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4" name="Straight Arrow Connector 13"/>
          <p:cNvCxnSpPr>
            <a:cxnSpLocks/>
            <a:stCxn id="12" idx="2"/>
            <a:endCxn id="15" idx="0"/>
          </p:cNvCxnSpPr>
          <p:nvPr/>
        </p:nvCxnSpPr>
        <p:spPr>
          <a:xfrm>
            <a:off x="6007431" y="2041194"/>
            <a:ext cx="2310" cy="3322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3E4B317-EA2D-4FE1-899B-D50140912A2F}"/>
              </a:ext>
            </a:extLst>
          </p:cNvPr>
          <p:cNvGrpSpPr/>
          <p:nvPr/>
        </p:nvGrpSpPr>
        <p:grpSpPr>
          <a:xfrm>
            <a:off x="4909467" y="2373464"/>
            <a:ext cx="2210181" cy="1120472"/>
            <a:chOff x="4909467" y="2525864"/>
            <a:chExt cx="2210181" cy="1120472"/>
          </a:xfrm>
        </p:grpSpPr>
        <p:sp>
          <p:nvSpPr>
            <p:cNvPr id="15" name="Flowchart: Decision 14"/>
            <p:cNvSpPr/>
            <p:nvPr/>
          </p:nvSpPr>
          <p:spPr bwMode="auto">
            <a:xfrm>
              <a:off x="4909467" y="2525864"/>
              <a:ext cx="2200548" cy="1120472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919101" y="2886045"/>
              <a:ext cx="22005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Counter &lt; n</a:t>
              </a:r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9" name="Straight Arrow Connector 18"/>
          <p:cNvCxnSpPr>
            <a:cxnSpLocks/>
            <a:stCxn id="15" idx="2"/>
            <a:endCxn id="24" idx="1"/>
          </p:cNvCxnSpPr>
          <p:nvPr/>
        </p:nvCxnSpPr>
        <p:spPr>
          <a:xfrm>
            <a:off x="6009741" y="3493936"/>
            <a:ext cx="9633" cy="3632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  <a:stCxn id="15" idx="3"/>
            <a:endCxn id="92" idx="2"/>
          </p:cNvCxnSpPr>
          <p:nvPr/>
        </p:nvCxnSpPr>
        <p:spPr>
          <a:xfrm>
            <a:off x="7110015" y="2933700"/>
            <a:ext cx="11035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54296" y="3278979"/>
            <a:ext cx="891973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7006474" y="2502321"/>
            <a:ext cx="776330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4741100" y="3857139"/>
            <a:ext cx="2556547" cy="685800"/>
            <a:chOff x="4554445" y="3718098"/>
            <a:chExt cx="2514600" cy="685800"/>
          </a:xfrm>
        </p:grpSpPr>
        <p:sp>
          <p:nvSpPr>
            <p:cNvPr id="24" name="Flowchart: Data 23"/>
            <p:cNvSpPr/>
            <p:nvPr/>
          </p:nvSpPr>
          <p:spPr bwMode="auto">
            <a:xfrm>
              <a:off x="4554445" y="3718098"/>
              <a:ext cx="2514600" cy="685800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50639" y="3850896"/>
              <a:ext cx="2302945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Read amount</a:t>
              </a:r>
              <a:endPara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27" name="Straight Arrow Connector 26"/>
          <p:cNvCxnSpPr>
            <a:stCxn id="24" idx="4"/>
            <a:endCxn id="33" idx="0"/>
          </p:cNvCxnSpPr>
          <p:nvPr/>
        </p:nvCxnSpPr>
        <p:spPr>
          <a:xfrm>
            <a:off x="6019374" y="4542939"/>
            <a:ext cx="15966" cy="3428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4909467" y="4885838"/>
            <a:ext cx="2251745" cy="1281272"/>
            <a:chOff x="4607359" y="4738528"/>
            <a:chExt cx="2408772" cy="1104900"/>
          </a:xfrm>
        </p:grpSpPr>
        <p:sp>
          <p:nvSpPr>
            <p:cNvPr id="33" name="Flowchart: Decision 32"/>
            <p:cNvSpPr/>
            <p:nvPr/>
          </p:nvSpPr>
          <p:spPr bwMode="auto">
            <a:xfrm>
              <a:off x="4607359" y="4738528"/>
              <a:ext cx="2408772" cy="1104900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862226" y="5074420"/>
              <a:ext cx="1930972" cy="371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amount &lt; 0</a:t>
              </a:r>
              <a:endPara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063449" y="5057937"/>
            <a:ext cx="762000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cxnSp>
        <p:nvCxnSpPr>
          <p:cNvPr id="63" name="Straight Arrow Connector 62"/>
          <p:cNvCxnSpPr>
            <a:stCxn id="33" idx="1"/>
            <a:endCxn id="46" idx="3"/>
          </p:cNvCxnSpPr>
          <p:nvPr/>
        </p:nvCxnSpPr>
        <p:spPr>
          <a:xfrm flipH="1">
            <a:off x="4176254" y="5526474"/>
            <a:ext cx="73321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389667" y="5080690"/>
            <a:ext cx="725547" cy="5075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1800" dirty="0"/>
              <a:t>false</a:t>
            </a:r>
            <a:endParaRPr lang="en-US" sz="1800" dirty="0"/>
          </a:p>
        </p:txBody>
      </p:sp>
      <p:grpSp>
        <p:nvGrpSpPr>
          <p:cNvPr id="80" name="Group 79"/>
          <p:cNvGrpSpPr/>
          <p:nvPr/>
        </p:nvGrpSpPr>
        <p:grpSpPr>
          <a:xfrm>
            <a:off x="1996366" y="4941029"/>
            <a:ext cx="2265205" cy="1170889"/>
            <a:chOff x="1915467" y="4091945"/>
            <a:chExt cx="2265205" cy="1795622"/>
          </a:xfrm>
        </p:grpSpPr>
        <p:grpSp>
          <p:nvGrpSpPr>
            <p:cNvPr id="78" name="Group 77"/>
            <p:cNvGrpSpPr/>
            <p:nvPr/>
          </p:nvGrpSpPr>
          <p:grpSpPr>
            <a:xfrm>
              <a:off x="1915467" y="4091945"/>
              <a:ext cx="2265205" cy="1795622"/>
              <a:chOff x="1843231" y="3930890"/>
              <a:chExt cx="2363687" cy="2133600"/>
            </a:xfrm>
          </p:grpSpPr>
          <p:sp>
            <p:nvSpPr>
              <p:cNvPr id="46" name="Flowchart: Process 45"/>
              <p:cNvSpPr/>
              <p:nvPr/>
            </p:nvSpPr>
            <p:spPr bwMode="auto">
              <a:xfrm>
                <a:off x="1843231" y="3930890"/>
                <a:ext cx="2274661" cy="2133600"/>
              </a:xfrm>
              <a:prstGeom prst="flowChartProcess">
                <a:avLst/>
              </a:prstGeom>
              <a:solidFill>
                <a:schemeClr val="dk2">
                  <a:alpha val="80000"/>
                </a:schemeClr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2127662" y="5247751"/>
                <a:ext cx="2079256" cy="475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noProof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counter++;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1975342" y="4617648"/>
                <a:ext cx="1943806" cy="785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22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print message,</a:t>
                </a:r>
                <a:endParaRPr lang="en-US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9" name="Rectangle 78"/>
            <p:cNvSpPr/>
            <p:nvPr/>
          </p:nvSpPr>
          <p:spPr>
            <a:xfrm>
              <a:off x="1925884" y="4195336"/>
              <a:ext cx="2159053" cy="66078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increase balance,</a:t>
              </a:r>
              <a:endPara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82" name="Elbow Connector 81"/>
          <p:cNvCxnSpPr>
            <a:cxnSpLocks/>
            <a:stCxn id="46" idx="0"/>
            <a:endCxn id="15" idx="1"/>
          </p:cNvCxnSpPr>
          <p:nvPr/>
        </p:nvCxnSpPr>
        <p:spPr>
          <a:xfrm rot="5400000" flipH="1" flipV="1">
            <a:off x="2994224" y="3025787"/>
            <a:ext cx="2007329" cy="1823157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/>
          <p:cNvGrpSpPr/>
          <p:nvPr/>
        </p:nvGrpSpPr>
        <p:grpSpPr>
          <a:xfrm>
            <a:off x="7962790" y="2590800"/>
            <a:ext cx="2507730" cy="685800"/>
            <a:chOff x="8162707" y="2474267"/>
            <a:chExt cx="2590800" cy="685800"/>
          </a:xfrm>
        </p:grpSpPr>
        <p:sp>
          <p:nvSpPr>
            <p:cNvPr id="92" name="Flowchart: Data 91"/>
            <p:cNvSpPr/>
            <p:nvPr/>
          </p:nvSpPr>
          <p:spPr bwMode="auto">
            <a:xfrm>
              <a:off x="8162707" y="2474267"/>
              <a:ext cx="2590800" cy="685800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8599439" y="2586335"/>
              <a:ext cx="1628876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Print output</a:t>
              </a:r>
              <a:endPara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100" name="Elbow Connector 99"/>
          <p:cNvCxnSpPr>
            <a:cxnSpLocks/>
            <a:stCxn id="33" idx="3"/>
            <a:endCxn id="92" idx="4"/>
          </p:cNvCxnSpPr>
          <p:nvPr/>
        </p:nvCxnSpPr>
        <p:spPr>
          <a:xfrm flipV="1">
            <a:off x="7161212" y="3276600"/>
            <a:ext cx="2055443" cy="224987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13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/>
      <p:bldP spid="23" grpId="0"/>
      <p:bldP spid="50" grpId="0"/>
      <p:bldP spid="7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Баланс на сметка </a:t>
            </a:r>
            <a:r>
              <a:rPr lang="en-US" dirty="0"/>
              <a:t>-</a:t>
            </a:r>
            <a:r>
              <a:rPr lang="bg-BG" dirty="0"/>
              <a:t> решение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3473" y="1447800"/>
            <a:ext cx="10061877" cy="432107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int counter = 0;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double balance = 0.0;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while (counter &lt; n)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  double amount = double.Parse(Console.ReadLine());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  if (amount &lt; 0) { </a:t>
            </a:r>
            <a:r>
              <a:rPr lang="en-US" sz="23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//TODO: Print output and exit the loop </a:t>
            </a:r>
            <a:r>
              <a:rPr lang="en-US" sz="23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  balance += amount;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  Console.WriteLine($"Increase: {amount:F2}");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  counter++;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sz="2300" b="1" noProof="1">
                <a:latin typeface="Consolas" pitchFamily="49" charset="0"/>
                <a:cs typeface="Consolas" pitchFamily="49" charset="0"/>
              </a:rPr>
              <a:t>Console.WriteLine($"Total: {balance:F2}");</a:t>
            </a:r>
            <a:endParaRPr lang="bg-BG" sz="23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Правоъгълник 12"/>
          <p:cNvSpPr/>
          <p:nvPr/>
        </p:nvSpPr>
        <p:spPr>
          <a:xfrm>
            <a:off x="341311" y="6259171"/>
            <a:ext cx="11506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https://judge.softuni.bg/Contests/Compete/Index/1014#5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08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Напишете програма, която: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bg-BG" sz="3000" dirty="0"/>
              <a:t>Чете цели числа, докато не получи</a:t>
            </a:r>
          </a:p>
          <a:p>
            <a:pPr marL="377887" lvl="1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bg-BG" sz="3000" dirty="0"/>
              <a:t> команда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"</a:t>
            </a:r>
            <a:endParaRPr lang="en-US" sz="2800" dirty="0"/>
          </a:p>
          <a:p>
            <a:pPr lvl="1"/>
            <a:r>
              <a:rPr lang="bg-BG" sz="3000" dirty="0"/>
              <a:t>Принтира най-голямото и 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g-BG" sz="3000" dirty="0"/>
              <a:t>най-малкото</a:t>
            </a:r>
            <a:r>
              <a:rPr lang="en-US" sz="3000" dirty="0"/>
              <a:t> </a:t>
            </a:r>
            <a:r>
              <a:rPr lang="bg-BG" sz="3000" dirty="0"/>
              <a:t>число</a:t>
            </a:r>
            <a:endParaRPr lang="bg-BG" sz="3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Редица цели числа - условие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B7AD2D-4440-4380-8428-3460FBB4C15C}"/>
              </a:ext>
            </a:extLst>
          </p:cNvPr>
          <p:cNvGrpSpPr/>
          <p:nvPr/>
        </p:nvGrpSpPr>
        <p:grpSpPr>
          <a:xfrm>
            <a:off x="1293812" y="4196498"/>
            <a:ext cx="4516675" cy="2233244"/>
            <a:chOff x="1370012" y="4321112"/>
            <a:chExt cx="4516675" cy="22332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5263D7-30E8-4632-A53A-1912A0331D8E}"/>
                </a:ext>
              </a:extLst>
            </p:cNvPr>
            <p:cNvGrpSpPr/>
            <p:nvPr/>
          </p:nvGrpSpPr>
          <p:grpSpPr>
            <a:xfrm>
              <a:off x="1370012" y="4321112"/>
              <a:ext cx="1447799" cy="2233244"/>
              <a:chOff x="1370012" y="4321112"/>
              <a:chExt cx="1447799" cy="2233244"/>
            </a:xfrm>
          </p:grpSpPr>
          <p:sp>
            <p:nvSpPr>
              <p:cNvPr id="18" name="Rectangle 9"/>
              <p:cNvSpPr>
                <a:spLocks noChangeArrowheads="1"/>
              </p:cNvSpPr>
              <p:nvPr/>
            </p:nvSpPr>
            <p:spPr bwMode="auto">
              <a:xfrm>
                <a:off x="1370012" y="4321112"/>
                <a:ext cx="914399" cy="223324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anchor="ctr">
                <a:noAutofit/>
              </a:bodyPr>
              <a:lstStyle/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10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20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304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50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END</a:t>
                </a:r>
                <a:endParaRPr lang="en-US" b="1" noProof="1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0" name="Right Arrow 11"/>
              <p:cNvSpPr/>
              <p:nvPr/>
            </p:nvSpPr>
            <p:spPr>
              <a:xfrm>
                <a:off x="2479790" y="5285333"/>
                <a:ext cx="338021" cy="3048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</p:grp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2991087" y="5002493"/>
              <a:ext cx="2895600" cy="870479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noAutofit/>
            </a:bodyPr>
            <a:lstStyle/>
            <a:p>
              <a:r>
                <a:rPr lang="en-US" b="1" dirty="0">
                  <a:latin typeface="Consolas" pitchFamily="49" charset="0"/>
                  <a:cs typeface="Consolas" pitchFamily="49" charset="0"/>
                </a:rPr>
                <a:t>Max number: 304</a:t>
              </a:r>
              <a:endParaRPr lang="bg-BG" b="1" dirty="0">
                <a:latin typeface="Consolas" pitchFamily="49" charset="0"/>
                <a:cs typeface="Consolas" pitchFamily="49" charset="0"/>
              </a:endParaRPr>
            </a:p>
            <a:p>
              <a:r>
                <a:rPr lang="en-US" b="1" dirty="0">
                  <a:latin typeface="Consolas" pitchFamily="49" charset="0"/>
                  <a:cs typeface="Consolas" pitchFamily="49" charset="0"/>
                </a:rPr>
                <a:t>Min number: 0</a:t>
              </a:r>
              <a:endParaRPr lang="bg-BG" b="1" noProof="1"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Редица цели числа - решение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42141" y="1470134"/>
            <a:ext cx="10504541" cy="452431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int smallest = int.MaxValue;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int biggest = int.MinValue;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while (true)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string command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if (command == "END")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int num = int.Parse(command);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if (num &lt; smallest)  smallest = num;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if (num &gt; biggest)  biggest = num;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Console.WriteLine($"Max number: {biggest}");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Console.WriteLine($"Min number: {smallest}");</a:t>
            </a:r>
          </a:p>
        </p:txBody>
      </p:sp>
      <p:sp>
        <p:nvSpPr>
          <p:cNvPr id="3" name="Правоъгълник 2"/>
          <p:cNvSpPr/>
          <p:nvPr/>
        </p:nvSpPr>
        <p:spPr>
          <a:xfrm>
            <a:off x="341311" y="6287398"/>
            <a:ext cx="11506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https://judge.softuni.bg/Contests/Compete/Index/1014#6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194" name="Picture 2" descr="C:\Users\HP\Desktop\Number_one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80663">
            <a:off x="7400573" y="1464308"/>
            <a:ext cx="1250285" cy="125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C:\Users\HP\Desktop\number3_PNG14969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2" y="1676400"/>
            <a:ext cx="1537213" cy="174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:\Users\HP\Desktop\seven-png-black-and-white-alphanumerics-number-7-icon-style-simple-black-512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8904">
            <a:off x="9818380" y="2497383"/>
            <a:ext cx="1380204" cy="1380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21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11760200" y="6397625"/>
            <a:ext cx="428625" cy="307975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40</a:t>
            </a:fld>
            <a:endParaRPr lang="en-US" dirty="0"/>
          </a:p>
        </p:txBody>
      </p:sp>
      <p:cxnSp>
        <p:nvCxnSpPr>
          <p:cNvPr id="11" name="Straight Arrow Connector 10"/>
          <p:cNvCxnSpPr>
            <a:cxnSpLocks/>
            <a:stCxn id="5" idx="2"/>
            <a:endCxn id="14" idx="1"/>
          </p:cNvCxnSpPr>
          <p:nvPr/>
        </p:nvCxnSpPr>
        <p:spPr>
          <a:xfrm flipH="1">
            <a:off x="6094412" y="1088703"/>
            <a:ext cx="18504" cy="3069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4951412" y="1395608"/>
            <a:ext cx="2285999" cy="513825"/>
            <a:chOff x="4784210" y="1589547"/>
            <a:chExt cx="2133600" cy="533400"/>
          </a:xfrm>
        </p:grpSpPr>
        <p:sp>
          <p:nvSpPr>
            <p:cNvPr id="14" name="Flowchart: Data 13"/>
            <p:cNvSpPr/>
            <p:nvPr/>
          </p:nvSpPr>
          <p:spPr bwMode="auto">
            <a:xfrm>
              <a:off x="4784210" y="1589547"/>
              <a:ext cx="2133600" cy="533400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96018" y="1634143"/>
              <a:ext cx="1327254" cy="4473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Read input</a:t>
              </a:r>
              <a:endPara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25" name="Straight Arrow Connector 24"/>
          <p:cNvCxnSpPr>
            <a:stCxn id="14" idx="4"/>
            <a:endCxn id="23" idx="0"/>
          </p:cNvCxnSpPr>
          <p:nvPr/>
        </p:nvCxnSpPr>
        <p:spPr>
          <a:xfrm>
            <a:off x="6094412" y="1909433"/>
            <a:ext cx="18504" cy="4330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4815342" y="2342462"/>
            <a:ext cx="2595147" cy="1524000"/>
            <a:chOff x="4331526" y="2532780"/>
            <a:chExt cx="3030898" cy="1524000"/>
          </a:xfrm>
        </p:grpSpPr>
        <p:sp>
          <p:nvSpPr>
            <p:cNvPr id="23" name="Flowchart: Decision 22"/>
            <p:cNvSpPr/>
            <p:nvPr/>
          </p:nvSpPr>
          <p:spPr bwMode="auto">
            <a:xfrm>
              <a:off x="4331526" y="2532780"/>
              <a:ext cx="3030898" cy="1524000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36904" y="3080621"/>
              <a:ext cx="288036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noProof="1">
                  <a:solidFill>
                    <a:schemeClr val="bg2"/>
                  </a:solidFill>
                  <a:latin typeface="Consolas" pitchFamily="49" charset="0"/>
                  <a:cs typeface="Consolas" pitchFamily="49" charset="0"/>
                </a:rPr>
                <a:t>command</a:t>
              </a:r>
              <a:r>
                <a:rPr lang="en-US" sz="2000" noProof="1">
                  <a:solidFill>
                    <a:schemeClr val="bg2"/>
                  </a:solidFill>
                  <a:cs typeface="Consolas" pitchFamily="49" charset="0"/>
                </a:rPr>
                <a:t> </a:t>
              </a:r>
              <a:r>
                <a:rPr lang="en-US" sz="2000" noProof="1">
                  <a:solidFill>
                    <a:schemeClr val="bg2"/>
                  </a:solidFill>
                  <a:latin typeface="Consolas" pitchFamily="49" charset="0"/>
                  <a:cs typeface="Consolas" pitchFamily="49" charset="0"/>
                </a:rPr>
                <a:t>!=</a:t>
              </a:r>
              <a:r>
                <a:rPr lang="en-US" sz="2000" noProof="1">
                  <a:solidFill>
                    <a:schemeClr val="bg2"/>
                  </a:solidFill>
                  <a:cs typeface="Consolas" pitchFamily="49" charset="0"/>
                </a:rPr>
                <a:t> </a:t>
              </a:r>
              <a:r>
                <a:rPr lang="en-US" sz="2000" noProof="1">
                  <a:solidFill>
                    <a:schemeClr val="bg2"/>
                  </a:solidFill>
                  <a:latin typeface="Consolas" pitchFamily="49" charset="0"/>
                  <a:cs typeface="Consolas" pitchFamily="49" charset="0"/>
                </a:rPr>
                <a:t>"END"</a:t>
              </a:r>
              <a:endParaRPr lang="en-US" sz="20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8" name="Flowchart: Data 27"/>
          <p:cNvSpPr/>
          <p:nvPr/>
        </p:nvSpPr>
        <p:spPr bwMode="auto">
          <a:xfrm>
            <a:off x="7817848" y="2760954"/>
            <a:ext cx="2848563" cy="671473"/>
          </a:xfrm>
          <a:prstGeom prst="flowChartInputOutpu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3470" y="3747651"/>
            <a:ext cx="730035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dirty="0"/>
              <a:t>true</a:t>
            </a:r>
            <a:endParaRPr lang="en-US" sz="2400" dirty="0"/>
          </a:p>
        </p:txBody>
      </p:sp>
      <p:sp>
        <p:nvSpPr>
          <p:cNvPr id="47" name="Flowchart: Process 46"/>
          <p:cNvSpPr/>
          <p:nvPr/>
        </p:nvSpPr>
        <p:spPr bwMode="auto">
          <a:xfrm>
            <a:off x="6462300" y="5073885"/>
            <a:ext cx="2057400" cy="420326"/>
          </a:xfrm>
          <a:prstGeom prst="flowChartProcess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Parse input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4095871" y="5420682"/>
            <a:ext cx="1864287" cy="1004260"/>
            <a:chOff x="1443039" y="1637912"/>
            <a:chExt cx="2605489" cy="1360277"/>
          </a:xfrm>
        </p:grpSpPr>
        <p:sp>
          <p:nvSpPr>
            <p:cNvPr id="50" name="Flowchart: Decision 49"/>
            <p:cNvSpPr/>
            <p:nvPr/>
          </p:nvSpPr>
          <p:spPr bwMode="auto">
            <a:xfrm>
              <a:off x="1443039" y="1637912"/>
              <a:ext cx="2605489" cy="1360277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540008" y="2016059"/>
              <a:ext cx="2411551" cy="4537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num &lt; smaller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4050672" y="4206259"/>
            <a:ext cx="1954683" cy="1004260"/>
            <a:chOff x="2954808" y="5165807"/>
            <a:chExt cx="2301403" cy="1231817"/>
          </a:xfrm>
        </p:grpSpPr>
        <p:sp>
          <p:nvSpPr>
            <p:cNvPr id="51" name="Flowchart: Decision 50"/>
            <p:cNvSpPr/>
            <p:nvPr/>
          </p:nvSpPr>
          <p:spPr bwMode="auto">
            <a:xfrm>
              <a:off x="2954808" y="5165807"/>
              <a:ext cx="2301403" cy="1231817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280316" y="5519032"/>
              <a:ext cx="1650387" cy="4001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num &gt; biggest</a:t>
              </a:r>
            </a:p>
          </p:txBody>
        </p:sp>
      </p:grpSp>
      <p:cxnSp>
        <p:nvCxnSpPr>
          <p:cNvPr id="61" name="Elbow Connector 60"/>
          <p:cNvCxnSpPr>
            <a:stCxn id="47" idx="1"/>
            <a:endCxn id="50" idx="3"/>
          </p:cNvCxnSpPr>
          <p:nvPr/>
        </p:nvCxnSpPr>
        <p:spPr>
          <a:xfrm rot="10800000" flipV="1">
            <a:off x="5960158" y="5284048"/>
            <a:ext cx="502142" cy="638764"/>
          </a:xfrm>
          <a:prstGeom prst="bentConnector3">
            <a:avLst>
              <a:gd name="adj1" fmla="val 4484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8" name="Elbow Connector 8207"/>
          <p:cNvCxnSpPr>
            <a:stCxn id="23" idx="2"/>
            <a:endCxn id="47" idx="0"/>
          </p:cNvCxnSpPr>
          <p:nvPr/>
        </p:nvCxnSpPr>
        <p:spPr>
          <a:xfrm rot="16200000" flipH="1">
            <a:off x="6198247" y="3781131"/>
            <a:ext cx="1207423" cy="137808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8" name="Elbow Connector 8227"/>
          <p:cNvCxnSpPr>
            <a:stCxn id="47" idx="1"/>
            <a:endCxn id="51" idx="3"/>
          </p:cNvCxnSpPr>
          <p:nvPr/>
        </p:nvCxnSpPr>
        <p:spPr>
          <a:xfrm rot="10800000">
            <a:off x="6005356" y="4708390"/>
            <a:ext cx="456945" cy="57565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51" idx="1"/>
            <a:endCxn id="8238" idx="3"/>
          </p:cNvCxnSpPr>
          <p:nvPr/>
        </p:nvCxnSpPr>
        <p:spPr>
          <a:xfrm flipH="1">
            <a:off x="3752014" y="4708389"/>
            <a:ext cx="2986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50" idx="1"/>
            <a:endCxn id="8239" idx="3"/>
          </p:cNvCxnSpPr>
          <p:nvPr/>
        </p:nvCxnSpPr>
        <p:spPr>
          <a:xfrm flipH="1">
            <a:off x="3812011" y="5922812"/>
            <a:ext cx="2838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8" name="Flowchart: Process 8237"/>
          <p:cNvSpPr/>
          <p:nvPr/>
        </p:nvSpPr>
        <p:spPr bwMode="auto">
          <a:xfrm>
            <a:off x="1981780" y="4484558"/>
            <a:ext cx="1770234" cy="447662"/>
          </a:xfrm>
          <a:prstGeom prst="flowChartProcess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biggest = num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06EF5C-A2AC-4BBA-AA3C-8AF0A1EEE6CE}"/>
              </a:ext>
            </a:extLst>
          </p:cNvPr>
          <p:cNvGrpSpPr/>
          <p:nvPr/>
        </p:nvGrpSpPr>
        <p:grpSpPr>
          <a:xfrm>
            <a:off x="865914" y="-501155"/>
            <a:ext cx="6922451" cy="1589858"/>
            <a:chOff x="4266852" y="45856"/>
            <a:chExt cx="6820854" cy="1572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6C143C-2D1A-4362-8E5F-0A57FC72A2E3}"/>
                </a:ext>
              </a:extLst>
            </p:cNvPr>
            <p:cNvSpPr/>
            <p:nvPr/>
          </p:nvSpPr>
          <p:spPr bwMode="auto">
            <a:xfrm>
              <a:off x="7981333" y="778106"/>
              <a:ext cx="2911028" cy="839863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4266852" y="45856"/>
              <a:ext cx="6416583" cy="1524000"/>
              <a:chOff x="4192090" y="201817"/>
              <a:chExt cx="6783985" cy="176232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8229590" y="1476839"/>
                <a:ext cx="2746485" cy="487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sz="2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biggest = int.MinValue</a:t>
                </a:r>
                <a:endParaRPr lang="en-US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192090" y="201817"/>
                <a:ext cx="3317839" cy="5622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en-GB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240" name="Rectangle 8239"/>
            <p:cNvSpPr/>
            <p:nvPr/>
          </p:nvSpPr>
          <p:spPr>
            <a:xfrm>
              <a:off x="7816596" y="807856"/>
              <a:ext cx="327111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smallest = int.MaxValue</a:t>
              </a:r>
            </a:p>
          </p:txBody>
        </p:sp>
      </p:grpSp>
      <p:grpSp>
        <p:nvGrpSpPr>
          <p:cNvPr id="8243" name="Group 8242"/>
          <p:cNvGrpSpPr/>
          <p:nvPr/>
        </p:nvGrpSpPr>
        <p:grpSpPr>
          <a:xfrm>
            <a:off x="1921783" y="5693073"/>
            <a:ext cx="1890228" cy="459477"/>
            <a:chOff x="2007238" y="5636523"/>
            <a:chExt cx="1763946" cy="459477"/>
          </a:xfrm>
        </p:grpSpPr>
        <p:sp>
          <p:nvSpPr>
            <p:cNvPr id="8239" name="Flowchart: Process 8238"/>
            <p:cNvSpPr/>
            <p:nvPr/>
          </p:nvSpPr>
          <p:spPr bwMode="auto">
            <a:xfrm>
              <a:off x="2038471" y="5636523"/>
              <a:ext cx="1732713" cy="459477"/>
            </a:xfrm>
            <a:prstGeom prst="flowChartProcess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2" name="Rectangle 8241"/>
            <p:cNvSpPr/>
            <p:nvPr/>
          </p:nvSpPr>
          <p:spPr>
            <a:xfrm>
              <a:off x="2007238" y="5636523"/>
              <a:ext cx="176394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smallest = num</a:t>
              </a:r>
            </a:p>
          </p:txBody>
        </p:sp>
      </p:grpSp>
      <p:cxnSp>
        <p:nvCxnSpPr>
          <p:cNvPr id="8248" name="Elbow Connector 8247"/>
          <p:cNvCxnSpPr>
            <a:cxnSpLocks/>
            <a:stCxn id="8238" idx="1"/>
            <a:endCxn id="23" idx="1"/>
          </p:cNvCxnSpPr>
          <p:nvPr/>
        </p:nvCxnSpPr>
        <p:spPr>
          <a:xfrm rot="10800000" flipH="1">
            <a:off x="1981780" y="3104463"/>
            <a:ext cx="2833562" cy="1603927"/>
          </a:xfrm>
          <a:prstGeom prst="bentConnector3">
            <a:avLst>
              <a:gd name="adj1" fmla="val -806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2" name="Elbow Connector 8251"/>
          <p:cNvCxnSpPr>
            <a:cxnSpLocks/>
            <a:endCxn id="23" idx="1"/>
          </p:cNvCxnSpPr>
          <p:nvPr/>
        </p:nvCxnSpPr>
        <p:spPr>
          <a:xfrm flipV="1">
            <a:off x="1986692" y="3104462"/>
            <a:ext cx="2828650" cy="2804246"/>
          </a:xfrm>
          <a:prstGeom prst="bentConnector3">
            <a:avLst>
              <a:gd name="adj1" fmla="val -837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371AA7-1DBD-4F3D-A41B-1CB1F45ED9A5}"/>
              </a:ext>
            </a:extLst>
          </p:cNvPr>
          <p:cNvGrpSpPr/>
          <p:nvPr/>
        </p:nvGrpSpPr>
        <p:grpSpPr>
          <a:xfrm>
            <a:off x="7353473" y="2646616"/>
            <a:ext cx="776330" cy="457846"/>
            <a:chOff x="7353473" y="2274338"/>
            <a:chExt cx="776330" cy="830124"/>
          </a:xfrm>
        </p:grpSpPr>
        <p:cxnSp>
          <p:nvCxnSpPr>
            <p:cNvPr id="39" name="Straight Arrow Connector 38"/>
            <p:cNvCxnSpPr>
              <a:cxnSpLocks/>
              <a:stCxn id="23" idx="3"/>
              <a:endCxn id="28" idx="2"/>
            </p:cNvCxnSpPr>
            <p:nvPr/>
          </p:nvCxnSpPr>
          <p:spPr>
            <a:xfrm flipV="1">
              <a:off x="7410489" y="3096691"/>
              <a:ext cx="692215" cy="777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353473" y="2274338"/>
              <a:ext cx="776330" cy="53973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dirty="0"/>
                <a:t>false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8715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8" grpId="0"/>
      <p:bldP spid="47" grpId="0" animBg="1"/>
      <p:bldP spid="82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Напишете програма, която: </a:t>
            </a:r>
          </a:p>
          <a:p>
            <a:pPr lvl="1"/>
            <a:r>
              <a:rPr lang="bg-BG" sz="3000" dirty="0"/>
              <a:t>Изчислява </a:t>
            </a:r>
            <a:r>
              <a:rPr lang="bg-BG" sz="3000" b="1" dirty="0"/>
              <a:t>средната оценка </a:t>
            </a:r>
            <a:r>
              <a:rPr lang="bg-BG" sz="3000" dirty="0"/>
              <a:t>на ученик от цялото му обучение</a:t>
            </a:r>
          </a:p>
          <a:p>
            <a:pPr lvl="1"/>
            <a:r>
              <a:rPr lang="bg-BG" sz="3000" dirty="0"/>
              <a:t>Ако годишната му оценка е</a:t>
            </a:r>
            <a:r>
              <a:rPr lang="en-US" sz="3000" dirty="0"/>
              <a:t>:</a:t>
            </a:r>
          </a:p>
          <a:p>
            <a:pPr lvl="2">
              <a:buClr>
                <a:schemeClr val="tx1"/>
              </a:buClr>
            </a:pPr>
            <a:r>
              <a:rPr lang="en-US" sz="2800" b="1" dirty="0">
                <a:latin typeface="Consolas" panose="020B0609020204030204" pitchFamily="49" charset="0"/>
              </a:rPr>
              <a:t>&gt;=</a:t>
            </a:r>
            <a:r>
              <a:rPr lang="en-US" sz="2800" dirty="0"/>
              <a:t> </a:t>
            </a:r>
            <a:r>
              <a:rPr lang="bg-BG" sz="2800" b="1" dirty="0">
                <a:latin typeface="Consolas" panose="020B0609020204030204" pitchFamily="49" charset="0"/>
              </a:rPr>
              <a:t>4.00</a:t>
            </a:r>
            <a:r>
              <a:rPr lang="bg-BG" sz="2800" dirty="0"/>
              <a:t>,</a:t>
            </a:r>
            <a:r>
              <a:rPr lang="en-US" sz="2800" dirty="0"/>
              <a:t> </a:t>
            </a:r>
            <a:r>
              <a:rPr lang="bg-BG" sz="2800" dirty="0"/>
              <a:t>ученикът преминава е следващия клас</a:t>
            </a:r>
          </a:p>
          <a:p>
            <a:pPr lvl="2">
              <a:buClr>
                <a:schemeClr val="tx1"/>
              </a:buClr>
            </a:pPr>
            <a:r>
              <a:rPr lang="en-US" sz="2800" b="1" dirty="0">
                <a:latin typeface="Consolas" panose="020B0609020204030204" pitchFamily="49" charset="0"/>
              </a:rPr>
              <a:t>&lt;</a:t>
            </a:r>
            <a:r>
              <a:rPr lang="bg-BG" sz="2800" b="1" dirty="0">
                <a:latin typeface="+mj-lt"/>
              </a:rPr>
              <a:t> </a:t>
            </a:r>
            <a:r>
              <a:rPr lang="bg-BG" sz="2800" b="1" dirty="0">
                <a:latin typeface="Consolas" panose="020B0609020204030204" pitchFamily="49" charset="0"/>
              </a:rPr>
              <a:t>4.00</a:t>
            </a:r>
            <a:r>
              <a:rPr lang="bg-BG" sz="2800" dirty="0"/>
              <a:t>, той ще повтори класа</a:t>
            </a:r>
          </a:p>
          <a:p>
            <a:pPr lvl="1"/>
            <a:r>
              <a:rPr lang="bg-BG" sz="3000" dirty="0"/>
              <a:t>При </a:t>
            </a:r>
            <a:r>
              <a:rPr lang="bg-BG" sz="3000" b="1" dirty="0"/>
              <a:t>завършване</a:t>
            </a:r>
            <a:r>
              <a:rPr lang="bg-BG" sz="3000" dirty="0"/>
              <a:t> да се отпечата:</a:t>
            </a:r>
          </a:p>
          <a:p>
            <a:pPr marL="377887" lvl="1" indent="0">
              <a:buNone/>
            </a:pPr>
            <a:r>
              <a:rPr lang="bg-BG" sz="3000" dirty="0"/>
              <a:t>"</a:t>
            </a:r>
            <a:r>
              <a:rPr lang="en-US" sz="3000" dirty="0"/>
              <a:t>{</a:t>
            </a:r>
            <a:r>
              <a:rPr lang="bg-BG" sz="3000" dirty="0"/>
              <a:t>име на ученика</a:t>
            </a:r>
            <a:r>
              <a:rPr lang="en-US" sz="3000" dirty="0"/>
              <a:t>} 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graduated.</a:t>
            </a:r>
            <a:r>
              <a:rPr lang="en-US" sz="2800" b="1" dirty="0">
                <a:latin typeface="+mj-lt"/>
                <a:cs typeface="Consolas" pitchFamily="49" charset="0"/>
              </a:rPr>
              <a:t> 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Average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grade</a:t>
            </a:r>
            <a:r>
              <a:rPr lang="en-US" sz="2800" b="1" dirty="0"/>
              <a:t>: </a:t>
            </a:r>
            <a:r>
              <a:rPr lang="en-US" sz="3000" dirty="0"/>
              <a:t>{</a:t>
            </a:r>
            <a:r>
              <a:rPr lang="bg-BG" sz="3000" dirty="0"/>
              <a:t>средната оценка от </a:t>
            </a:r>
            <a:r>
              <a:rPr lang="en-US" sz="3000" dirty="0"/>
              <a:t/>
            </a:r>
            <a:br>
              <a:rPr lang="en-US" sz="3000" dirty="0"/>
            </a:br>
            <a:r>
              <a:rPr lang="bg-BG" sz="3000" dirty="0"/>
              <a:t>цялото обучение</a:t>
            </a:r>
            <a:r>
              <a:rPr lang="en-US" sz="3000" dirty="0"/>
              <a:t>}</a:t>
            </a:r>
            <a:r>
              <a:rPr lang="bg-BG" sz="3000" dirty="0"/>
              <a:t>"</a:t>
            </a:r>
          </a:p>
          <a:p>
            <a:pPr lvl="1"/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Завършване </a:t>
            </a:r>
            <a:r>
              <a:rPr lang="en-US" dirty="0"/>
              <a:t>-</a:t>
            </a:r>
            <a:r>
              <a:rPr lang="bg-BG" dirty="0"/>
              <a:t> условие</a:t>
            </a: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62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200" dirty="0"/>
              <a:t>Примерен вход и изход: 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Завършване </a:t>
            </a:r>
            <a:r>
              <a:rPr lang="en-US" dirty="0"/>
              <a:t>-</a:t>
            </a:r>
            <a:r>
              <a:rPr lang="bg-BG" dirty="0"/>
              <a:t> условие</a:t>
            </a:r>
            <a:r>
              <a:rPr lang="en-US" dirty="0"/>
              <a:t>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7200" y="1841002"/>
            <a:ext cx="1143000" cy="4800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Pesho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4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5.43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4.5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5.55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5.43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ight Arrow 11"/>
          <p:cNvSpPr/>
          <p:nvPr/>
        </p:nvSpPr>
        <p:spPr>
          <a:xfrm>
            <a:off x="1735045" y="40889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2360612" y="3744123"/>
            <a:ext cx="3581400" cy="9943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Pesho graduated. Average grade: 5.37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248400" y="1841267"/>
            <a:ext cx="1143000" cy="48006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Ani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5.32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5.43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4.55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5.56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6</a:t>
            </a:r>
            <a:endParaRPr lang="bg-BG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ight Arrow 11"/>
          <p:cNvSpPr/>
          <p:nvPr/>
        </p:nvSpPr>
        <p:spPr>
          <a:xfrm>
            <a:off x="7574538" y="4089167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8229600" y="3748414"/>
            <a:ext cx="3581400" cy="99435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itchFamily="49" charset="0"/>
                <a:cs typeface="Consolas" pitchFamily="49" charset="0"/>
              </a:rPr>
              <a:t>Ani graduated. Average grade: 5.45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0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Завършване </a:t>
            </a:r>
            <a:r>
              <a:rPr lang="en-US" dirty="0"/>
              <a:t>-</a:t>
            </a:r>
            <a:r>
              <a:rPr lang="bg-BG" dirty="0"/>
              <a:t> решение 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051519" y="1408354"/>
            <a:ext cx="9780986" cy="49336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string name = Console.ReadLine();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double grades = 1;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double sum = 0;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while (grades &lt;= 12)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double grade = double.Parse(Console.ReadLine());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if (grade &gt;= 4.00</a:t>
            </a:r>
            <a:r>
              <a:rPr lang="en-US" sz="2200" b="1" noProof="1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b="1" noProof="1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200" b="1" noProof="1" smtClean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b="1" noProof="1" smtClean="0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TODO: add grade to sum and increase grades count</a:t>
            </a:r>
            <a:endParaRPr lang="en-US" sz="2200" b="1" noProof="1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latin typeface="Consolas" pitchFamily="49" charset="0"/>
                <a:cs typeface="Consolas" pitchFamily="49" charset="0"/>
              </a:rPr>
              <a:t>  }</a:t>
            </a:r>
            <a:endParaRPr lang="en-US" sz="2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double average = sum / 12;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//TODO: print the output</a:t>
            </a:r>
            <a:endParaRPr lang="bg-BG" sz="2200" b="1" noProof="1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8012" y="6244375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https://judge.softuni.bg/Contests/Compete/Index/1014#1</a:t>
            </a:r>
            <a:endParaRPr lang="en-US" dirty="0"/>
          </a:p>
        </p:txBody>
      </p:sp>
      <p:pic>
        <p:nvPicPr>
          <p:cNvPr id="10" name="Picture 2" descr="C:\Users\HP\Desktop\Graduation-Transparent-Background-P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0105">
            <a:off x="7635334" y="1162249"/>
            <a:ext cx="3363400" cy="2302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2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Напишете програма, която:</a:t>
            </a:r>
          </a:p>
          <a:p>
            <a:pPr lvl="1">
              <a:lnSpc>
                <a:spcPct val="100000"/>
              </a:lnSpc>
            </a:pPr>
            <a:r>
              <a:rPr lang="bg-BG" sz="3000" dirty="0"/>
              <a:t>Прочита </a:t>
            </a:r>
            <a:r>
              <a:rPr lang="bg-BG" sz="3000" dirty="0">
                <a:latin typeface="+mj-lt"/>
              </a:rPr>
              <a:t>3 цели </a:t>
            </a:r>
            <a:r>
              <a:rPr lang="bg-BG" sz="3000" dirty="0"/>
              <a:t>числа – </a:t>
            </a:r>
            <a:r>
              <a:rPr lang="bg-BG" sz="3000" dirty="0">
                <a:latin typeface="+mj-lt"/>
              </a:rPr>
              <a:t>широчина, дължина, височина</a:t>
            </a:r>
            <a:endParaRPr lang="en-US" sz="3000" dirty="0">
              <a:latin typeface="+mj-lt"/>
            </a:endParaRP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+mj-lt"/>
              </a:rPr>
              <a:t>Прочита брой кашони до получаване на команда </a:t>
            </a:r>
            <a:r>
              <a:rPr lang="en-US" sz="3000" dirty="0">
                <a:latin typeface="+mj-lt"/>
              </a:rPr>
              <a:t>"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Done</a:t>
            </a:r>
            <a:r>
              <a:rPr lang="en-US" sz="3000" dirty="0">
                <a:latin typeface="+mj-lt"/>
              </a:rPr>
              <a:t>"</a:t>
            </a:r>
            <a:endParaRPr lang="en-US" sz="2800" dirty="0">
              <a:latin typeface="+mj-lt"/>
            </a:endParaRPr>
          </a:p>
          <a:p>
            <a:pPr lvl="1">
              <a:lnSpc>
                <a:spcPct val="100000"/>
              </a:lnSpc>
            </a:pPr>
            <a:r>
              <a:rPr lang="bg-BG" sz="3000" dirty="0">
                <a:latin typeface="+mj-lt"/>
              </a:rPr>
              <a:t>Изчислява дали кашоните могат да се преместят в помещение с прочетените размери</a:t>
            </a:r>
          </a:p>
          <a:p>
            <a:pPr lvl="2">
              <a:lnSpc>
                <a:spcPct val="100000"/>
              </a:lnSpc>
            </a:pPr>
            <a:r>
              <a:rPr lang="bg-BG" sz="3000" dirty="0">
                <a:latin typeface="+mj-lt"/>
              </a:rPr>
              <a:t>1 кашон е с размери 1м </a:t>
            </a:r>
            <a:r>
              <a:rPr lang="en-US" sz="3000" dirty="0">
                <a:latin typeface="+mj-lt"/>
              </a:rPr>
              <a:t>x 1</a:t>
            </a:r>
            <a:r>
              <a:rPr lang="bg-BG" sz="3000" dirty="0">
                <a:latin typeface="+mj-lt"/>
              </a:rPr>
              <a:t>м </a:t>
            </a:r>
            <a:r>
              <a:rPr lang="en-US" sz="3000" dirty="0">
                <a:latin typeface="+mj-lt"/>
              </a:rPr>
              <a:t>x 1</a:t>
            </a:r>
            <a:r>
              <a:rPr lang="bg-BG" sz="3000" dirty="0">
                <a:latin typeface="+mj-lt"/>
              </a:rPr>
              <a:t>м</a:t>
            </a:r>
            <a:endParaRPr lang="en-US" sz="3000" dirty="0">
              <a:latin typeface="+mj-lt"/>
            </a:endParaRPr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Преместване - условие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DF5408-5F5D-41C4-B93F-BBCF4928CD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001" y="4566283"/>
            <a:ext cx="2041764" cy="1700789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C155B0A-60A4-4AE8-962E-3E0AC9464264}"/>
              </a:ext>
            </a:extLst>
          </p:cNvPr>
          <p:cNvSpPr/>
          <p:nvPr/>
        </p:nvSpPr>
        <p:spPr>
          <a:xfrm>
            <a:off x="8637601" y="5149977"/>
            <a:ext cx="5334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7447CF-72B2-43D9-BCB9-203874D07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612" y="3930777"/>
            <a:ext cx="2438400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58858C-59FE-4E91-AD70-26671E107D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934" y="5426913"/>
            <a:ext cx="1120134" cy="93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52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800" dirty="0">
                <a:latin typeface="+mj-lt"/>
              </a:rPr>
              <a:t>Ако помещението 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не може </a:t>
            </a:r>
            <a:r>
              <a:rPr lang="bg-BG" sz="2800" dirty="0">
                <a:latin typeface="+mj-lt"/>
              </a:rPr>
              <a:t>да събере кашоните, трябва да се </a:t>
            </a:r>
            <a:r>
              <a:rPr lang="en-US" sz="2800" dirty="0">
                <a:latin typeface="+mj-lt"/>
              </a:rPr>
              <a:t/>
            </a:r>
            <a:br>
              <a:rPr lang="en-US" sz="2800" dirty="0">
                <a:latin typeface="+mj-lt"/>
              </a:rPr>
            </a:br>
            <a:r>
              <a:rPr lang="bg-BG" sz="2800" dirty="0">
                <a:latin typeface="+mj-lt"/>
              </a:rPr>
              <a:t>принтира:</a:t>
            </a:r>
          </a:p>
          <a:p>
            <a:pPr lvl="1">
              <a:lnSpc>
                <a:spcPct val="100000"/>
              </a:lnSpc>
            </a:pPr>
            <a:r>
              <a:rPr lang="en-GB" sz="2800" b="1" dirty="0">
                <a:latin typeface="Consolas" panose="020B0609020204030204" pitchFamily="49" charset="0"/>
              </a:rPr>
              <a:t>"No</a:t>
            </a:r>
            <a:r>
              <a:rPr lang="en-GB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more</a:t>
            </a:r>
            <a:r>
              <a:rPr lang="en-GB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free</a:t>
            </a:r>
            <a:r>
              <a:rPr lang="en-GB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space!</a:t>
            </a:r>
            <a:r>
              <a:rPr lang="en-GB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You</a:t>
            </a:r>
            <a:r>
              <a:rPr lang="en-GB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need</a:t>
            </a:r>
            <a:r>
              <a:rPr lang="bg-BG" sz="2800" b="1" dirty="0">
                <a:latin typeface="+mj-lt"/>
              </a:rPr>
              <a:t> </a:t>
            </a:r>
            <a:r>
              <a:rPr lang="bg-BG" sz="2800" b="1" dirty="0"/>
              <a:t>{брой недостигащи куб. метри}</a:t>
            </a:r>
            <a:r>
              <a:rPr lang="bg-BG" sz="2800" b="1" dirty="0">
                <a:latin typeface="+mj-lt"/>
              </a:rPr>
              <a:t> </a:t>
            </a:r>
            <a:r>
              <a:rPr lang="en-US" sz="2800" b="1" dirty="0">
                <a:latin typeface="+mj-lt"/>
              </a:rPr>
              <a:t/>
            </a:r>
            <a:br>
              <a:rPr lang="en-US" sz="2800" b="1" dirty="0">
                <a:latin typeface="+mj-lt"/>
              </a:rPr>
            </a:br>
            <a:r>
              <a:rPr lang="en-US" sz="2800" b="1" dirty="0">
                <a:latin typeface="Consolas" panose="020B0609020204030204" pitchFamily="49" charset="0"/>
              </a:rPr>
              <a:t>Cubic meters</a:t>
            </a:r>
            <a:r>
              <a:rPr lang="en-US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more</a:t>
            </a:r>
            <a:r>
              <a:rPr lang="bg-BG" sz="2800" b="1" dirty="0">
                <a:latin typeface="Consolas" panose="020B0609020204030204" pitchFamily="49" charset="0"/>
              </a:rPr>
              <a:t>."</a:t>
            </a:r>
            <a:endParaRPr lang="en-US" sz="2800" b="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bg-BG" sz="3000" dirty="0">
                <a:latin typeface="+mj-lt"/>
              </a:rPr>
              <a:t>При получаване на </a:t>
            </a:r>
            <a:r>
              <a:rPr lang="bg-BG" sz="2800" b="1" dirty="0">
                <a:latin typeface="Consolas" panose="020B0609020204030204" pitchFamily="49" charset="0"/>
              </a:rPr>
              <a:t>команда</a:t>
            </a:r>
            <a:r>
              <a:rPr lang="bg-BG" sz="3000" dirty="0">
                <a:latin typeface="+mj-lt"/>
              </a:rPr>
              <a:t> </a:t>
            </a:r>
            <a:r>
              <a:rPr lang="en-US" sz="3000" dirty="0">
                <a:latin typeface="Consolas" panose="020B0609020204030204" pitchFamily="49" charset="0"/>
              </a:rPr>
              <a:t>"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Done</a:t>
            </a:r>
            <a:r>
              <a:rPr lang="en-US" sz="3000" dirty="0">
                <a:latin typeface="+mj-lt"/>
              </a:rPr>
              <a:t>" </a:t>
            </a:r>
            <a:r>
              <a:rPr lang="bg-BG" sz="3000" dirty="0">
                <a:latin typeface="+mj-lt"/>
              </a:rPr>
              <a:t>и налично свободно място</a:t>
            </a:r>
            <a:r>
              <a:rPr lang="en-US" sz="3000" dirty="0">
                <a:latin typeface="+mj-lt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sz="2800" b="1" dirty="0"/>
              <a:t>"</a:t>
            </a:r>
            <a:r>
              <a:rPr lang="bg-BG" sz="2800" b="1" dirty="0">
                <a:latin typeface="Consolas" panose="020B0609020204030204" pitchFamily="49" charset="0"/>
              </a:rPr>
              <a:t>{</a:t>
            </a:r>
            <a:r>
              <a:rPr lang="bg-BG" sz="2800" b="1" dirty="0"/>
              <a:t>брой свободни куб. метри</a:t>
            </a:r>
            <a:r>
              <a:rPr lang="bg-BG" sz="2800" b="1" dirty="0">
                <a:latin typeface="Consolas" panose="020B0609020204030204" pitchFamily="49" charset="0"/>
              </a:rPr>
              <a:t>}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latin typeface="Consolas" panose="020B0609020204030204" pitchFamily="49" charset="0"/>
              </a:rPr>
              <a:t>Cubic</a:t>
            </a:r>
            <a:r>
              <a:rPr lang="en-US" sz="2800" b="1" dirty="0">
                <a:latin typeface="+mj-lt"/>
              </a:rPr>
              <a:t> </a:t>
            </a:r>
            <a:r>
              <a:rPr lang="en-US" sz="2800" b="1" dirty="0">
                <a:latin typeface="Consolas" panose="020B0609020204030204" pitchFamily="49" charset="0"/>
              </a:rPr>
              <a:t>meters</a:t>
            </a:r>
            <a:r>
              <a:rPr lang="en-US" sz="2800" b="1" dirty="0">
                <a:latin typeface="+mj-lt"/>
              </a:rPr>
              <a:t> </a:t>
            </a:r>
            <a:r>
              <a:rPr lang="en-GB" sz="2800" b="1" dirty="0">
                <a:latin typeface="Consolas" panose="020B0609020204030204" pitchFamily="49" charset="0"/>
              </a:rPr>
              <a:t>left</a:t>
            </a:r>
            <a:r>
              <a:rPr lang="bg-BG" sz="2800" b="1" dirty="0">
                <a:latin typeface="Consolas" panose="020B0609020204030204" pitchFamily="49" charset="0"/>
              </a:rPr>
              <a:t>.</a:t>
            </a:r>
            <a:r>
              <a:rPr lang="bg-BG" sz="2800" b="1" dirty="0"/>
              <a:t>"</a:t>
            </a:r>
            <a:endParaRPr lang="bg-BG" sz="2800" dirty="0"/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Преместване </a:t>
            </a:r>
            <a:r>
              <a:rPr lang="en-US" dirty="0"/>
              <a:t>-</a:t>
            </a:r>
            <a:r>
              <a:rPr lang="bg-BG" dirty="0"/>
              <a:t> условие </a:t>
            </a:r>
            <a:r>
              <a:rPr lang="en-US" dirty="0"/>
              <a:t>(2)</a:t>
            </a:r>
            <a:endParaRPr lang="bg-B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2015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3A1A0-A705-48E1-9418-284B6D287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Примерен вход и изход:</a:t>
            </a:r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Преместване </a:t>
            </a:r>
            <a:r>
              <a:rPr lang="en-US" dirty="0"/>
              <a:t>-</a:t>
            </a:r>
            <a:r>
              <a:rPr lang="bg-BG" dirty="0"/>
              <a:t> условие </a:t>
            </a:r>
            <a:r>
              <a:rPr lang="en-US" dirty="0"/>
              <a:t>(3)</a:t>
            </a:r>
            <a:endParaRPr lang="bg-B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56D95-AC3D-4EF0-A3D9-028C415C5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4" y="5247659"/>
            <a:ext cx="8471725" cy="53489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dirty="0">
                <a:latin typeface="Consolas" panose="020B0609020204030204" pitchFamily="49" charset="0"/>
              </a:rPr>
              <a:t>No more free space! You need 1 Cubic meters more.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6433050-499A-458F-9B82-458BF531C0A7}"/>
              </a:ext>
            </a:extLst>
          </p:cNvPr>
          <p:cNvSpPr/>
          <p:nvPr/>
        </p:nvSpPr>
        <p:spPr>
          <a:xfrm>
            <a:off x="1847223" y="5413672"/>
            <a:ext cx="319045" cy="2329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162215-D464-44AC-9013-B90EC82E2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84" y="4684112"/>
            <a:ext cx="955885" cy="166199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</a:rPr>
              <a:t>2</a:t>
            </a:r>
          </a:p>
          <a:p>
            <a:pPr algn="ctr"/>
            <a:r>
              <a:rPr lang="en-US" sz="2600" b="1" noProof="1">
                <a:latin typeface="Consolas" panose="020B0609020204030204" pitchFamily="49" charset="0"/>
                <a:cs typeface="Consolas" pitchFamily="49" charset="0"/>
              </a:rPr>
              <a:t>2</a:t>
            </a:r>
          </a:p>
          <a:p>
            <a:pPr algn="ctr"/>
            <a:r>
              <a:rPr lang="en-US" sz="2600" b="1" noProof="1">
                <a:latin typeface="Consolas" panose="020B0609020204030204" pitchFamily="49" charset="0"/>
                <a:cs typeface="Consolas" pitchFamily="49" charset="0"/>
              </a:rPr>
              <a:t>2</a:t>
            </a:r>
          </a:p>
          <a:p>
            <a:pPr algn="ctr"/>
            <a:r>
              <a:rPr lang="en-US" sz="2600" b="1" noProof="1">
                <a:latin typeface="Consolas" panose="020B0609020204030204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BBAFD7-C028-4F08-8054-574B35A01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964" y="2887232"/>
            <a:ext cx="3789102" cy="53489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b="1" dirty="0">
                <a:latin typeface="Consolas" panose="020B0609020204030204" pitchFamily="49" charset="0"/>
              </a:rPr>
              <a:t>10 Cubic meters left.</a:t>
            </a:r>
            <a:endParaRPr lang="bg-BG" sz="26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F0F4AA-F03F-444A-962D-3CFAC195D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884" y="2040952"/>
            <a:ext cx="955885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Consolas" panose="020B0609020204030204" pitchFamily="49" charset="0"/>
              </a:rPr>
              <a:t>10</a:t>
            </a:r>
            <a:endParaRPr lang="bg-BG" b="1" dirty="0">
              <a:latin typeface="Consolas" panose="020B0609020204030204" pitchFamily="49" charset="0"/>
            </a:endParaRPr>
          </a:p>
          <a:p>
            <a:pPr algn="ctr"/>
            <a:r>
              <a:rPr lang="en-GB" b="1" dirty="0">
                <a:latin typeface="Consolas" panose="020B0609020204030204" pitchFamily="49" charset="0"/>
              </a:rPr>
              <a:t>1</a:t>
            </a:r>
            <a:endParaRPr lang="bg-BG" b="1" dirty="0">
              <a:latin typeface="Consolas" panose="020B0609020204030204" pitchFamily="49" charset="0"/>
            </a:endParaRPr>
          </a:p>
          <a:p>
            <a:pPr algn="ctr"/>
            <a:r>
              <a:rPr lang="en-GB" b="1" dirty="0">
                <a:latin typeface="Consolas" panose="020B0609020204030204" pitchFamily="49" charset="0"/>
              </a:rPr>
              <a:t>2</a:t>
            </a:r>
            <a:endParaRPr lang="bg-BG" b="1" dirty="0">
              <a:latin typeface="Consolas" panose="020B0609020204030204" pitchFamily="49" charset="0"/>
            </a:endParaRPr>
          </a:p>
          <a:p>
            <a:pPr algn="ctr"/>
            <a:r>
              <a:rPr lang="en-GB" b="1" dirty="0">
                <a:latin typeface="Consolas" panose="020B0609020204030204" pitchFamily="49" charset="0"/>
              </a:rPr>
              <a:t>4</a:t>
            </a:r>
            <a:endParaRPr lang="bg-BG" b="1" dirty="0">
              <a:latin typeface="Consolas" panose="020B0609020204030204" pitchFamily="49" charset="0"/>
            </a:endParaRPr>
          </a:p>
          <a:p>
            <a:pPr algn="ctr"/>
            <a:r>
              <a:rPr lang="en-GB" b="1" dirty="0">
                <a:latin typeface="Consolas" panose="020B0609020204030204" pitchFamily="49" charset="0"/>
              </a:rPr>
              <a:t>6</a:t>
            </a:r>
            <a:endParaRPr lang="bg-BG" b="1" dirty="0">
              <a:latin typeface="Consolas" panose="020B0609020204030204" pitchFamily="49" charset="0"/>
            </a:endParaRPr>
          </a:p>
          <a:p>
            <a:pPr algn="ctr"/>
            <a:r>
              <a:rPr lang="en-GB" b="1" dirty="0">
                <a:latin typeface="Consolas" panose="020B0609020204030204" pitchFamily="49" charset="0"/>
              </a:rPr>
              <a:t>Done</a:t>
            </a:r>
            <a:endParaRPr lang="en-US" sz="2600" b="1" noProof="1">
              <a:latin typeface="Consolas" panose="020B0609020204030204" pitchFamily="49" charset="0"/>
              <a:cs typeface="Consolas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7F386-04E0-4EA5-90A9-AC26E09C1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258" y="2040952"/>
            <a:ext cx="2782047" cy="278204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50AB32-E377-486A-838F-DAB927B1DA6C}"/>
              </a:ext>
            </a:extLst>
          </p:cNvPr>
          <p:cNvSpPr/>
          <p:nvPr/>
        </p:nvSpPr>
        <p:spPr>
          <a:xfrm>
            <a:off x="1851344" y="3078640"/>
            <a:ext cx="319045" cy="2329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248014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Преместване - решение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13672" y="1307842"/>
            <a:ext cx="9761479" cy="501675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width = int.Parse(Console.ReadLine());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// TODO: Read the length and height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volume = width * length * height;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bool hasVolume = true;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string command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 (!(command == "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Done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"))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  int box =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int.Parse(command);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  volume -= box;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 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212" y="6284600"/>
            <a:ext cx="10744200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https://judge.softuni.bg/Contests/Compete/Index/1014#8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85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Преместване </a:t>
            </a:r>
            <a:r>
              <a:rPr lang="en-US" dirty="0"/>
              <a:t>-</a:t>
            </a:r>
            <a:r>
              <a:rPr lang="bg-BG" dirty="0"/>
              <a:t> решение </a:t>
            </a:r>
            <a:r>
              <a:rPr lang="en-US" dirty="0"/>
              <a:t>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67513" y="1134216"/>
            <a:ext cx="9577598" cy="52629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…</a:t>
            </a:r>
            <a:br>
              <a:rPr lang="en-US" b="1" noProof="1">
                <a:latin typeface="Consolas" pitchFamily="49" charset="0"/>
                <a:cs typeface="Consolas" pitchFamily="49" charset="0"/>
              </a:rPr>
            </a:br>
            <a:r>
              <a:rPr lang="en-US" b="1" noProof="1">
                <a:latin typeface="Consolas" pitchFamily="49" charset="0"/>
                <a:cs typeface="Consolas" pitchFamily="49" charset="0"/>
              </a:rPr>
              <a:t>    if (volume &lt; 0) 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      hasVolume = false;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     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command = Console.ReadLine();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bg-BG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/>
            </a:r>
            <a:br>
              <a:rPr lang="en-US" b="1" noProof="1">
                <a:latin typeface="Consolas" pitchFamily="49" charset="0"/>
                <a:cs typeface="Consolas" pitchFamily="49" charset="0"/>
              </a:rPr>
            </a:br>
            <a:r>
              <a:rPr lang="en-US" b="1" noProof="1">
                <a:latin typeface="Consolas" pitchFamily="49" charset="0"/>
                <a:cs typeface="Consolas" pitchFamily="49" charset="0"/>
              </a:rPr>
              <a:t>if (hasVolume)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Console.WriteLine("{0} Cubic meters left.", volume);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else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Console.WriteLine("No more free space! You need {0} </a:t>
            </a:r>
            <a:r>
              <a:rPr lang="bg-BG" b="1" noProof="1">
                <a:latin typeface="Consolas" pitchFamily="49" charset="0"/>
                <a:cs typeface="Consolas" pitchFamily="49" charset="0"/>
              </a:rPr>
              <a:t>          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Cubic meters more.", Math.Abs(volume));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5C9DC259-CBC8-4207-9729-613902E42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2" y="3817488"/>
            <a:ext cx="3409575" cy="990600"/>
          </a:xfrm>
          <a:prstGeom prst="wedgeRoundRectCallout">
            <a:avLst>
              <a:gd name="adj1" fmla="val -55629"/>
              <a:gd name="adj2" fmla="val -4631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Прочитаме отново командата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4B1F8A1-EDA0-4AF8-9822-25AD7307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212" y="2751332"/>
            <a:ext cx="3409575" cy="601980"/>
          </a:xfrm>
          <a:prstGeom prst="wedgeRoundRectCallout">
            <a:avLst>
              <a:gd name="adj1" fmla="val -58598"/>
              <a:gd name="adj2" fmla="val -2193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Цикълът прекъсва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95F21F-1D4C-4676-8491-38687984AF64}"/>
              </a:ext>
            </a:extLst>
          </p:cNvPr>
          <p:cNvSpPr/>
          <p:nvPr/>
        </p:nvSpPr>
        <p:spPr>
          <a:xfrm>
            <a:off x="608012" y="6366003"/>
            <a:ext cx="10744200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bg-BG" dirty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https://judge.softuni.bg/Contests/Compete/Index/1014#8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8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>
          <a:xfrm>
            <a:off x="233382" y="1253512"/>
            <a:ext cx="11815018" cy="5201066"/>
          </a:xfrm>
        </p:spPr>
        <p:txBody>
          <a:bodyPr vert="horz" lIns="108000" tIns="36000" rIns="108000" bIns="36000" rtlCol="0" anchor="t">
            <a:normAutofit/>
          </a:bodyPr>
          <a:lstStyle/>
          <a:p>
            <a:pPr marL="456565" indent="-456565">
              <a:lnSpc>
                <a:spcPct val="100000"/>
              </a:lnSpc>
            </a:pPr>
            <a:r>
              <a:rPr lang="bg-BG" sz="3200" dirty="0">
                <a:latin typeface="+mj-lt"/>
                <a:cs typeface="Calibri"/>
              </a:rPr>
              <a:t>Можем да инкрементираме/декрементираме числови </a:t>
            </a:r>
            <a:br>
              <a:rPr lang="bg-BG" sz="3200" dirty="0">
                <a:latin typeface="+mj-lt"/>
                <a:cs typeface="Calibri"/>
              </a:rPr>
            </a:br>
            <a:r>
              <a:rPr lang="bg-BG" sz="3200" dirty="0">
                <a:latin typeface="+mj-lt"/>
                <a:cs typeface="Calibri"/>
              </a:rPr>
              <a:t>стойности</a:t>
            </a:r>
            <a:endParaRPr lang="bg-BG" sz="3200" dirty="0">
              <a:latin typeface="+mj-lt"/>
            </a:endParaRPr>
          </a:p>
          <a:p>
            <a:pPr marL="456565" indent="-456565">
              <a:lnSpc>
                <a:spcPct val="100000"/>
              </a:lnSpc>
            </a:pPr>
            <a:r>
              <a:rPr lang="bg-BG" sz="3200" dirty="0">
                <a:latin typeface="+mj-lt"/>
              </a:rPr>
              <a:t>Използваме</a:t>
            </a:r>
            <a:r>
              <a:rPr lang="en-US" sz="3200" dirty="0">
                <a:latin typeface="+mj-lt"/>
              </a:rPr>
              <a:t> </a:t>
            </a:r>
            <a:r>
              <a:rPr lang="bg-BG" sz="3200" dirty="0">
                <a:latin typeface="+mj-lt"/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sz="3200" dirty="0"/>
              <a:t>  </a:t>
            </a:r>
            <a:r>
              <a:rPr lang="en-US" sz="3200" dirty="0">
                <a:latin typeface="+mj-lt"/>
              </a:rPr>
              <a:t>-</a:t>
            </a:r>
            <a:r>
              <a:rPr lang="en-US" sz="3200" dirty="0"/>
              <a:t> </a:t>
            </a:r>
            <a:r>
              <a:rPr lang="bg-BG" sz="3200" dirty="0"/>
              <a:t>цикли, за да повтаряме действие</a:t>
            </a:r>
            <a:r>
              <a:rPr lang="en-US" sz="3200" dirty="0"/>
              <a:t>,</a:t>
            </a:r>
            <a:r>
              <a:rPr lang="bg-BG" sz="3200" dirty="0"/>
              <a:t> </a:t>
            </a:r>
            <a:br>
              <a:rPr lang="bg-BG" sz="3200" dirty="0"/>
            </a:br>
            <a:r>
              <a:rPr lang="bg-BG" sz="3200" dirty="0"/>
              <a:t>докато е в сила дадено условие:</a:t>
            </a:r>
            <a:endParaRPr lang="en-US" sz="32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4E6570-DF10-4D43-9B0A-9612F3836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725" y="3600838"/>
            <a:ext cx="3323650" cy="2846057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86CD463B-03E9-4036-8731-65454195C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3766219"/>
            <a:ext cx="5955329" cy="250754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int a = 5;</a:t>
            </a:r>
            <a:endParaRPr lang="bg-BG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while(a &lt;= 10)</a:t>
            </a:r>
            <a:r>
              <a:rPr lang="bg-BG" b="1" noProof="1">
                <a:latin typeface="Consolas" pitchFamily="49" charset="0"/>
                <a:cs typeface="Consolas" pitchFamily="49" charset="0"/>
              </a:rPr>
              <a:t> </a:t>
            </a:r>
            <a:endParaRPr lang="en-US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   Console.WriteLine("a = " + a);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   a++;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995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0"/>
          </p:nvPr>
        </p:nvSpPr>
        <p:spPr>
          <a:xfrm>
            <a:off x="177092" y="1271133"/>
            <a:ext cx="11815018" cy="52010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Можем да прекъсваме циклите с оператора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3200" dirty="0"/>
              <a:t>: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800"/>
              </a:spcBef>
              <a:buNone/>
            </a:pP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научихме днес? </a:t>
            </a:r>
            <a:r>
              <a:rPr lang="en-US" dirty="0"/>
              <a:t>(2)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D4BC9C7-6FDE-4970-8586-1964DE2D3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2083318"/>
            <a:ext cx="7767574" cy="388414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while(true)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Console.WriteLine("Infinite loop");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if (…) 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	break;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FE4EBBCD-B883-45F0-80AD-DBE534EBA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2" y="3657600"/>
            <a:ext cx="4294496" cy="990600"/>
          </a:xfrm>
          <a:prstGeom prst="wedgeRoundRectCallout">
            <a:avLst>
              <a:gd name="adj1" fmla="val -61331"/>
              <a:gd name="adj2" fmla="val -3697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Условие за прекъсване на цикъла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6ED3E4-9C2E-4800-879E-D65470B6AC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73021" y="2095155"/>
            <a:ext cx="1926608" cy="1427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A8A4D1-7E23-45CC-8785-F87AB3015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584" y="3810000"/>
            <a:ext cx="3323650" cy="284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3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522412" y="6480406"/>
            <a:ext cx="10483850" cy="363538"/>
          </a:xfrm>
        </p:spPr>
        <p:txBody>
          <a:bodyPr>
            <a:normAutofit fontScale="62500" lnSpcReduction="20000"/>
          </a:bodyPr>
          <a:lstStyle/>
          <a:p>
            <a:pPr marL="0" indent="0" algn="r">
              <a:buNone/>
            </a:pPr>
            <a:r>
              <a:rPr lang="en-US" dirty="0">
                <a:solidFill>
                  <a:schemeClr val="bg1"/>
                </a:solidFill>
                <a:hlinkClick r:id="rId3"/>
              </a:rPr>
              <a:t>https://softuni.bg/courses/programming-basics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92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bg2"/>
                </a:solidFill>
              </a:rPr>
              <a:t>СофтУни диамантени партньори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79A9B1A9-22B2-4951-AB2F-D999C85A7C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5731" y="1200744"/>
            <a:ext cx="6095011" cy="1314093"/>
          </a:xfrm>
          <a:prstGeom prst="roundRect">
            <a:avLst>
              <a:gd name="adj" fmla="val 3250"/>
            </a:avLst>
          </a:prstGeom>
          <a:ln>
            <a:noFill/>
          </a:ln>
          <a:effectLst>
            <a:softEdge rad="0"/>
          </a:effectLst>
        </p:spPr>
      </p:pic>
      <p:pic>
        <p:nvPicPr>
          <p:cNvPr id="1026" name="Picture 2" descr="Ð ÐµÐ·ÑÐ»ÑÐ°Ñ Ñ Ð¸Ð·Ð¾Ð±ÑÐ°Ð¶ÐµÐ½Ð¸Ðµ Ð·Ð° indeavr">
            <a:hlinkClick r:id="rId5"/>
            <a:extLst>
              <a:ext uri="{FF2B5EF4-FFF2-40B4-BE49-F238E27FC236}">
                <a16:creationId xmlns:a16="http://schemas.microsoft.com/office/drawing/2014/main" id="{F5CBBEBD-21E0-4859-853C-1873ABB6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09" y="1400319"/>
            <a:ext cx="5352870" cy="120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Ð ÐµÐ·ÑÐ»ÑÐ°Ñ Ñ Ð¸Ð·Ð¾Ð±ÑÐ°Ð¶ÐµÐ½Ð¸Ðµ Ð·Ð° software group">
            <a:hlinkClick r:id="rId7"/>
            <a:extLst>
              <a:ext uri="{FF2B5EF4-FFF2-40B4-BE49-F238E27FC236}">
                <a16:creationId xmlns:a16="http://schemas.microsoft.com/office/drawing/2014/main" id="{77E566EE-E4AE-4D31-A309-8FF9563DD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09" y="2317556"/>
            <a:ext cx="6665764" cy="303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Ð¡Ð²ÑÑÐ·Ð°Ð½Ð¾ Ð¸Ð·Ð¾Ð±ÑÐ°Ð¶ÐµÐ½Ð¸Ðµ">
            <a:hlinkClick r:id="rId9"/>
            <a:extLst>
              <a:ext uri="{FF2B5EF4-FFF2-40B4-BE49-F238E27FC236}">
                <a16:creationId xmlns:a16="http://schemas.microsoft.com/office/drawing/2014/main" id="{96229C8F-B4C0-4B49-AF0D-53AF670BB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7"/>
          <a:stretch/>
        </p:blipFill>
        <p:spPr bwMode="auto">
          <a:xfrm>
            <a:off x="7761066" y="2602492"/>
            <a:ext cx="3154360" cy="165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Ð ÐµÐ·ÑÐ»ÑÐ°Ñ Ñ Ð¸Ð·Ð¾Ð±ÑÐ°Ð¶ÐµÐ½Ð¸Ðµ Ð·Ð° netpeak">
            <a:hlinkClick r:id="rId11"/>
            <a:extLst>
              <a:ext uri="{FF2B5EF4-FFF2-40B4-BE49-F238E27FC236}">
                <a16:creationId xmlns:a16="http://schemas.microsoft.com/office/drawing/2014/main" id="{F4576FAB-B206-438A-9766-B6F6ABB53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70" y="5230428"/>
            <a:ext cx="7165745" cy="99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Ð ÐµÐ·ÑÐ»ÑÐ°Ñ Ñ Ð¸Ð·Ð¾Ð±ÑÐ°Ð¶ÐµÐ½Ð¸Ðµ Ð·Ð° superhosting png">
            <a:hlinkClick r:id="rId13"/>
            <a:extLst>
              <a:ext uri="{FF2B5EF4-FFF2-40B4-BE49-F238E27FC236}">
                <a16:creationId xmlns:a16="http://schemas.microsoft.com/office/drawing/2014/main" id="{284B6D5F-80FE-48D5-801C-41AFC2FEF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023" y="4509831"/>
            <a:ext cx="3351927" cy="177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92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bg2"/>
                </a:solidFill>
              </a:rPr>
              <a:t>СофтУни диамантени партньори</a:t>
            </a:r>
            <a:endParaRPr lang="bg-BG" dirty="0"/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57F6CA19-B6C5-4C43-B80C-7F86ADB9D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475" y="3048101"/>
            <a:ext cx="4142269" cy="3322919"/>
          </a:xfrm>
          <a:prstGeom prst="roundRect">
            <a:avLst>
              <a:gd name="adj" fmla="val 3461"/>
            </a:avLst>
          </a:prstGeom>
        </p:spPr>
      </p:pic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404B82B5-A24C-40BD-88A8-9F0719240E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456" y="1270267"/>
            <a:ext cx="3506115" cy="1450012"/>
          </a:xfrm>
          <a:prstGeom prst="roundRect">
            <a:avLst>
              <a:gd name="adj" fmla="val 3586"/>
            </a:avLst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CB5D3A57-F9B4-4DCE-A831-7E040653E16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83" y="4961487"/>
            <a:ext cx="6685847" cy="1465630"/>
          </a:xfrm>
          <a:prstGeom prst="roundRect">
            <a:avLst>
              <a:gd name="adj" fmla="val 5492"/>
            </a:avLst>
          </a:prstGeom>
        </p:spPr>
      </p:pic>
      <p:pic>
        <p:nvPicPr>
          <p:cNvPr id="10" name="Picture 9">
            <a:hlinkClick r:id="rId9"/>
            <a:extLst>
              <a:ext uri="{FF2B5EF4-FFF2-40B4-BE49-F238E27FC236}">
                <a16:creationId xmlns:a16="http://schemas.microsoft.com/office/drawing/2014/main" id="{A05A9AFA-1694-4FF9-800A-2B4E62A8985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3074" y="1253909"/>
            <a:ext cx="3536315" cy="1599860"/>
          </a:xfrm>
          <a:prstGeom prst="roundRect">
            <a:avLst>
              <a:gd name="adj" fmla="val 4755"/>
            </a:avLst>
          </a:prstGeom>
        </p:spPr>
      </p:pic>
      <p:pic>
        <p:nvPicPr>
          <p:cNvPr id="13" name="Picture 12">
            <a:hlinkClick r:id="rId11"/>
            <a:extLst>
              <a:ext uri="{FF2B5EF4-FFF2-40B4-BE49-F238E27FC236}">
                <a16:creationId xmlns:a16="http://schemas.microsoft.com/office/drawing/2014/main" id="{C5733A8A-180C-42DB-A531-617A616CF1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54" y="1297650"/>
            <a:ext cx="4110401" cy="1739986"/>
          </a:xfrm>
          <a:prstGeom prst="roundRect">
            <a:avLst>
              <a:gd name="adj" fmla="val 6970"/>
            </a:avLst>
          </a:prstGeom>
        </p:spPr>
      </p:pic>
      <p:pic>
        <p:nvPicPr>
          <p:cNvPr id="15" name="Picture 14">
            <a:hlinkClick r:id="rId13"/>
            <a:extLst>
              <a:ext uri="{FF2B5EF4-FFF2-40B4-BE49-F238E27FC236}">
                <a16:creationId xmlns:a16="http://schemas.microsoft.com/office/drawing/2014/main" id="{C75642FC-F411-4844-A28F-DD6D37636A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80" y="3323301"/>
            <a:ext cx="6676269" cy="1231311"/>
          </a:xfrm>
          <a:prstGeom prst="roundRect">
            <a:avLst>
              <a:gd name="adj" fmla="val 6594"/>
            </a:avLst>
          </a:prstGeom>
        </p:spPr>
      </p:pic>
    </p:spTree>
    <p:extLst>
      <p:ext uri="{BB962C8B-B14F-4D97-AF65-F5344CB8AC3E}">
        <p14:creationId xmlns:p14="http://schemas.microsoft.com/office/powerpoint/2010/main" val="54033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6715" y="1314991"/>
            <a:ext cx="11815018" cy="5201066"/>
          </a:xfrm>
        </p:spPr>
        <p:txBody>
          <a:bodyPr>
            <a:normAutofit fontScale="92500" lnSpcReduction="20000"/>
          </a:bodyPr>
          <a:lstStyle/>
          <a:p>
            <a:r>
              <a:rPr lang="bg-BG" sz="3200" dirty="0"/>
              <a:t>Настоящият курс </a:t>
            </a:r>
            <a:r>
              <a:rPr lang="en-US" sz="3200" dirty="0"/>
              <a:t>(</a:t>
            </a:r>
            <a:r>
              <a:rPr lang="bg-BG" sz="3200" dirty="0"/>
              <a:t>слайдове</a:t>
            </a:r>
            <a:r>
              <a:rPr lang="en-US" sz="3200" dirty="0"/>
              <a:t>, </a:t>
            </a:r>
            <a:r>
              <a:rPr lang="bg-BG" sz="3200" dirty="0"/>
              <a:t>примери</a:t>
            </a:r>
            <a:r>
              <a:rPr lang="en-US" sz="3200" dirty="0"/>
              <a:t>, </a:t>
            </a:r>
            <a:r>
              <a:rPr lang="bg-BG" sz="3200" dirty="0"/>
              <a:t>видео</a:t>
            </a:r>
            <a:r>
              <a:rPr lang="en-US" sz="3200" dirty="0"/>
              <a:t>, </a:t>
            </a:r>
            <a:r>
              <a:rPr lang="bg-BG" sz="3200" dirty="0"/>
              <a:t>задачи и др.</a:t>
            </a:r>
            <a:r>
              <a:rPr lang="en-US" sz="3200" dirty="0"/>
              <a:t>)</a:t>
            </a:r>
            <a:r>
              <a:rPr lang="bg-BG" sz="3200" dirty="0"/>
              <a:t> се 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bg-BG" sz="3200" dirty="0"/>
              <a:t>разпространяват под свободен лиценз </a:t>
            </a:r>
            <a:br>
              <a:rPr lang="bg-BG" sz="3200" dirty="0"/>
            </a:br>
            <a:r>
              <a:rPr lang="en-US" sz="3200" dirty="0"/>
              <a:t>"</a:t>
            </a:r>
            <a:r>
              <a:rPr lang="en-US" sz="3200" dirty="0">
                <a:hlinkClick r:id="rId3"/>
              </a:rPr>
              <a:t>Creative Commons </a:t>
            </a:r>
            <a:r>
              <a:rPr lang="en-US" sz="3200" noProof="1">
                <a:hlinkClick r:id="rId3"/>
              </a:rPr>
              <a:t>Attribution-NonCommercial-ShareAlike</a:t>
            </a:r>
            <a:r>
              <a:rPr lang="en-US" sz="3200" dirty="0">
                <a:hlinkClick r:id="rId3"/>
              </a:rPr>
              <a:t> </a:t>
            </a:r>
            <a:r>
              <a:rPr lang="bg-BG" sz="3200" dirty="0">
                <a:hlinkClick r:id="rId3"/>
              </a:rPr>
              <a:t> </a:t>
            </a:r>
            <a:r>
              <a:rPr lang="en-US" sz="3200" dirty="0">
                <a:hlinkClick r:id="rId3"/>
              </a:rPr>
              <a:t>4.0 </a:t>
            </a:r>
            <a:br>
              <a:rPr lang="en-US" sz="3200" dirty="0">
                <a:hlinkClick r:id="rId3"/>
              </a:rPr>
            </a:br>
            <a:r>
              <a:rPr lang="en-US" sz="3200" dirty="0">
                <a:hlinkClick r:id="rId3"/>
              </a:rPr>
              <a:t>International</a:t>
            </a:r>
            <a:r>
              <a:rPr lang="en-US" sz="3200" dirty="0"/>
              <a:t>"</a:t>
            </a:r>
            <a:endParaRPr lang="bg-BG" sz="3200" dirty="0"/>
          </a:p>
          <a:p>
            <a:endParaRPr lang="bg-BG" sz="2800" dirty="0"/>
          </a:p>
          <a:p>
            <a:endParaRPr lang="bg-BG" sz="2800" dirty="0"/>
          </a:p>
          <a:p>
            <a:endParaRPr lang="bg-BG" sz="2800" dirty="0"/>
          </a:p>
          <a:p>
            <a:pPr>
              <a:spcBef>
                <a:spcPts val="1800"/>
              </a:spcBef>
            </a:pPr>
            <a:r>
              <a:rPr lang="bg-BG" sz="3200" dirty="0"/>
              <a:t>Благодарности</a:t>
            </a:r>
            <a:r>
              <a:rPr lang="en-US" sz="3200" dirty="0"/>
              <a:t>: </a:t>
            </a:r>
            <a:r>
              <a:rPr lang="bg-BG" sz="3200" dirty="0"/>
              <a:t>настоящият материал може да съдържа части от </a:t>
            </a:r>
            <a:br>
              <a:rPr lang="bg-BG" sz="3200" dirty="0"/>
            </a:br>
            <a:r>
              <a:rPr lang="bg-BG" sz="3200" dirty="0"/>
              <a:t>следните източници</a:t>
            </a:r>
            <a:endParaRPr lang="en-US" sz="3200" dirty="0"/>
          </a:p>
          <a:p>
            <a:pPr lvl="1"/>
            <a:r>
              <a:rPr lang="bg-BG" sz="3200" dirty="0"/>
              <a:t>Книга </a:t>
            </a:r>
            <a:r>
              <a:rPr lang="en-US" sz="3200" dirty="0"/>
              <a:t>"</a:t>
            </a:r>
            <a:r>
              <a:rPr lang="bg-BG" sz="3200" dirty="0">
                <a:hlinkClick r:id="rId4"/>
              </a:rPr>
              <a:t>Основи на програмирането със </a:t>
            </a:r>
            <a:r>
              <a:rPr lang="en-US" sz="3200" dirty="0">
                <a:hlinkClick r:id="rId4"/>
              </a:rPr>
              <a:t>C#"</a:t>
            </a:r>
            <a:r>
              <a:rPr lang="bg-BG" sz="3200" dirty="0"/>
              <a:t> от Светлин Наков и </a:t>
            </a:r>
            <a:br>
              <a:rPr lang="bg-BG" sz="3200" dirty="0"/>
            </a:br>
            <a:r>
              <a:rPr lang="bg-BG" sz="3200" dirty="0"/>
              <a:t>колектив с лиценз</a:t>
            </a:r>
            <a:r>
              <a:rPr lang="en-US" sz="3200" dirty="0"/>
              <a:t> </a:t>
            </a:r>
            <a:r>
              <a:rPr lang="en-US" sz="3200" dirty="0">
                <a:hlinkClick r:id="rId5"/>
              </a:rPr>
              <a:t>CC-BY-SA</a:t>
            </a:r>
            <a:endParaRPr lang="bg-BG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Лиценз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9024" y="3081620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3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E61E26-2300-4BE8-9304-9669DD3B7CB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2370" y="1186306"/>
            <a:ext cx="9501534" cy="5496127"/>
          </a:xfrm>
        </p:spPr>
        <p:txBody>
          <a:bodyPr>
            <a:noAutofit/>
          </a:bodyPr>
          <a:lstStyle/>
          <a:p>
            <a:r>
              <a:rPr lang="en-US" sz="3200" dirty="0"/>
              <a:t>Software University – High-Quality Education, </a:t>
            </a:r>
            <a:br>
              <a:rPr lang="en-US" sz="3200" dirty="0"/>
            </a:br>
            <a:r>
              <a:rPr lang="en-US" sz="3200" dirty="0"/>
              <a:t>Profession and Job for Software Developers</a:t>
            </a:r>
          </a:p>
          <a:p>
            <a:pPr lvl="1">
              <a:lnSpc>
                <a:spcPct val="100000"/>
              </a:lnSpc>
            </a:pPr>
            <a:r>
              <a:rPr lang="en-US" sz="2800" noProof="1">
                <a:hlinkClick r:id="rId2"/>
              </a:rPr>
              <a:t>softuni.bg</a:t>
            </a:r>
            <a:r>
              <a:rPr lang="en-US" sz="2800" noProof="1"/>
              <a:t> </a:t>
            </a:r>
          </a:p>
          <a:p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2800" noProof="1">
                <a:hlinkClick r:id="rId3"/>
              </a:rPr>
              <a:t>http://softuni.foundation/</a:t>
            </a:r>
            <a:endParaRPr lang="bg-BG" sz="2800" noProof="1"/>
          </a:p>
          <a:p>
            <a:r>
              <a:rPr lang="en-US" sz="3200" dirty="0"/>
              <a:t>Software University @ Facebook</a:t>
            </a:r>
            <a:endParaRPr lang="bg-BG" sz="3200" dirty="0"/>
          </a:p>
          <a:p>
            <a:pPr lvl="1"/>
            <a:r>
              <a:rPr lang="en-US" sz="2800" noProof="1">
                <a:hlinkClick r:id="rId4"/>
              </a:rPr>
              <a:t>facebook.com/SoftwareUniversity</a:t>
            </a:r>
            <a:endParaRPr lang="bg-BG" sz="2800" noProof="1"/>
          </a:p>
          <a:p>
            <a:r>
              <a:rPr lang="en-US" sz="3200" noProof="1"/>
              <a:t>Software University Forums</a:t>
            </a:r>
            <a:endParaRPr lang="bg-BG" sz="3200" noProof="1"/>
          </a:p>
          <a:p>
            <a:pPr lvl="1"/>
            <a:r>
              <a:rPr lang="en-US" sz="2800" dirty="0">
                <a:hlinkClick r:id="rId5"/>
              </a:rPr>
              <a:t>forum.softuni.bg</a:t>
            </a:r>
            <a:endParaRPr lang="en-US" sz="2800" noProof="1"/>
          </a:p>
          <a:p>
            <a:endParaRPr lang="bg-BG" sz="3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77A064-53CE-4F14-BAAF-BA06D52E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Обучения в СофтУни</a:t>
            </a:r>
          </a:p>
        </p:txBody>
      </p:sp>
    </p:spTree>
    <p:extLst>
      <p:ext uri="{BB962C8B-B14F-4D97-AF65-F5344CB8AC3E}">
        <p14:creationId xmlns:p14="http://schemas.microsoft.com/office/powerpoint/2010/main" val="330244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3_1">
  <a:themeElements>
    <a:clrScheme name="SoftUni Cello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7C86D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3_1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4. Nested-Conditional-Statements</Template>
  <TotalTime>0</TotalTime>
  <Words>2345</Words>
  <Application>Microsoft Office PowerPoint</Application>
  <PresentationFormat>Custom</PresentationFormat>
  <Paragraphs>640</Paragraphs>
  <Slides>55</Slides>
  <Notes>17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맑은 고딕</vt:lpstr>
      <vt:lpstr>Arial</vt:lpstr>
      <vt:lpstr>Calibri</vt:lpstr>
      <vt:lpstr>Consolas</vt:lpstr>
      <vt:lpstr>Wingdings</vt:lpstr>
      <vt:lpstr>Wingdings 2</vt:lpstr>
      <vt:lpstr>SoftUni3_1</vt:lpstr>
      <vt:lpstr>PowerPoint Presentation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Повторения (цикли)</vt:lpstr>
      <vt:lpstr>Имате въпроси?</vt:lpstr>
      <vt:lpstr>Съдържание</vt:lpstr>
      <vt:lpstr>PowerPoint Presentation</vt:lpstr>
      <vt:lpstr>Увеличаване</vt:lpstr>
      <vt:lpstr>Увеличаване (2)</vt:lpstr>
      <vt:lpstr>Намаляване </vt:lpstr>
      <vt:lpstr>Намаляване (2)</vt:lpstr>
      <vt:lpstr>PowerPoint Presentation</vt:lpstr>
      <vt:lpstr>Повторения (цикли) – while-цикъл</vt:lpstr>
      <vt:lpstr>while-цикъл – пример</vt:lpstr>
      <vt:lpstr>Число в диапазона [1…100] - условие</vt:lpstr>
      <vt:lpstr>Число в диапазона [1…100] - решение</vt:lpstr>
      <vt:lpstr>Редица числа 2k+1 - условие</vt:lpstr>
      <vt:lpstr>PowerPoint Presentation</vt:lpstr>
      <vt:lpstr>Редица числа 2k+1 - решение</vt:lpstr>
      <vt:lpstr>PowerPoint Presentation</vt:lpstr>
      <vt:lpstr>Безкраен цикъл</vt:lpstr>
      <vt:lpstr>Прекратяване на цикъл</vt:lpstr>
      <vt:lpstr>Баланс на сметка - условие</vt:lpstr>
      <vt:lpstr>Баланс на сметка - условие (2)</vt:lpstr>
      <vt:lpstr>Баланс на сметка - условие(3)</vt:lpstr>
      <vt:lpstr>PowerPoint Presentation</vt:lpstr>
      <vt:lpstr>Баланс на сметка - решение</vt:lpstr>
      <vt:lpstr>Редица цели числа - условие</vt:lpstr>
      <vt:lpstr>Редица цели числа - решение</vt:lpstr>
      <vt:lpstr>PowerPoint Presentation</vt:lpstr>
      <vt:lpstr>Завършване - условие </vt:lpstr>
      <vt:lpstr>Завършване - условие (2)</vt:lpstr>
      <vt:lpstr>Завършване - решение </vt:lpstr>
      <vt:lpstr>Преместване - условие</vt:lpstr>
      <vt:lpstr>Преместване - условие (2)</vt:lpstr>
      <vt:lpstr>Преместване - условие (3)</vt:lpstr>
      <vt:lpstr>Преместване - решение</vt:lpstr>
      <vt:lpstr>Преместване - решение (2)</vt:lpstr>
      <vt:lpstr>Какво научихме днес?</vt:lpstr>
      <vt:lpstr>Какво научихме днес? (2)</vt:lpstr>
      <vt:lpstr>PowerPoint Presentation</vt:lpstr>
      <vt:lpstr>СофтУни диамантени партньори</vt:lpstr>
      <vt:lpstr>СофтУни диамантени партньори</vt:lpstr>
      <vt:lpstr>Лиценз</vt:lpstr>
      <vt:lpstr>Обучения в СофтУни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Повторения (цикли)</dc:title>
  <dc:subject>Coding 101 Course</dc:subject>
  <dc:creator/>
  <cp:keywords>Sofware University, SoftUni, programming, coding, software development, education, training, course, курс, програмиране, кодене, кодиране, СофтУни</cp:keywords>
  <dc:description>https://softuni.bg/courses/programming-basics/</dc:description>
  <cp:lastModifiedBy/>
  <cp:revision>23</cp:revision>
  <dcterms:created xsi:type="dcterms:W3CDTF">2014-01-02T17:00:34Z</dcterms:created>
  <dcterms:modified xsi:type="dcterms:W3CDTF">2019-01-31T16:46:58Z</dcterms:modified>
  <cp:category>computer programming;programming;C#;програмиране;кодиране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