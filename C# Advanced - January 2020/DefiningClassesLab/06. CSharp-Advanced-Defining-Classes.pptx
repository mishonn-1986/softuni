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8" r:id="rId39"/>
    <p:sldId id="294" r:id="rId40"/>
    <p:sldId id="295" r:id="rId41"/>
    <p:sldId id="300" r:id="rId42"/>
    <p:sldId id="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4769220-008B-4937-BBBE-8CFD41170002}">
          <p14:sldIdLst>
            <p14:sldId id="256"/>
            <p14:sldId id="257"/>
            <p14:sldId id="258"/>
          </p14:sldIdLst>
        </p14:section>
        <p14:section name="Abstract Data Types" id="{C08BB1A6-7A67-48F7-AC0A-7B07CD427ED7}">
          <p14:sldIdLst>
            <p14:sldId id="259"/>
            <p14:sldId id="260"/>
            <p14:sldId id="261"/>
          </p14:sldIdLst>
        </p14:section>
        <p14:section name="Defining Classes" id="{C0D2FB3B-67F6-47C3-A97B-A24809B27E6B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onclusion" id="{D8AF9F63-F63C-4EE1-9173-8A2241625FA3}">
          <p14:sldIdLst>
            <p14:sldId id="292"/>
            <p14:sldId id="298"/>
            <p14:sldId id="294"/>
            <p14:sldId id="295"/>
            <p14:sldId id="300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5214" autoAdjust="0"/>
  </p:normalViewPr>
  <p:slideViewPr>
    <p:cSldViewPr showGuides="1">
      <p:cViewPr varScale="1">
        <p:scale>
          <a:sx n="80" d="100"/>
          <a:sy n="80" d="100"/>
        </p:scale>
        <p:origin x="53" y="10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17.9.2020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17-Sep-20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9943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7947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87403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87614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48371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1704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26997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48929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12027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922345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01296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2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50518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20473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30525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30724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66212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77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309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71907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91741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05234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8938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2904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9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udge.softuni.bg/Contests/1478/Defining-Classes-Lab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1478/Defining-Classes-La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1478/Defining-Classes-Lab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hyperlink" Target="http://www.xs-software.com/" TargetMode="External"/><Relationship Id="rId18" Type="http://schemas.openxmlformats.org/officeDocument/2006/relationships/image" Target="../media/image46.png"/><Relationship Id="rId26" Type="http://schemas.openxmlformats.org/officeDocument/2006/relationships/image" Target="../media/image50.png"/><Relationship Id="rId3" Type="http://schemas.openxmlformats.org/officeDocument/2006/relationships/hyperlink" Target="http://www.infragistics.com/" TargetMode="External"/><Relationship Id="rId21" Type="http://schemas.openxmlformats.org/officeDocument/2006/relationships/hyperlink" Target="https://motion-software.com/" TargetMode="External"/><Relationship Id="rId7" Type="http://schemas.openxmlformats.org/officeDocument/2006/relationships/hyperlink" Target="https://netpeak.bg/" TargetMode="External"/><Relationship Id="rId12" Type="http://schemas.openxmlformats.org/officeDocument/2006/relationships/image" Target="../media/image43.png"/><Relationship Id="rId17" Type="http://schemas.openxmlformats.org/officeDocument/2006/relationships/hyperlink" Target="http://www.postbank.bg/" TargetMode="External"/><Relationship Id="rId25" Type="http://schemas.openxmlformats.org/officeDocument/2006/relationships/hyperlink" Target="https://www.superhosting.bg/?gclid=CjwKCAjw5fzrBRASEiwAD2OSV2HM9vD3KXFwexq_hE27VNo1Gx0yBWBbYg7Ef677GKVaQu7Vn2bX7hoCIkoQAvD_BwE" TargetMode="Externa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11" Type="http://schemas.openxmlformats.org/officeDocument/2006/relationships/hyperlink" Target="http://www.telenor.bg/" TargetMode="External"/><Relationship Id="rId24" Type="http://schemas.openxmlformats.org/officeDocument/2006/relationships/image" Target="../media/image49.jpeg"/><Relationship Id="rId5" Type="http://schemas.openxmlformats.org/officeDocument/2006/relationships/hyperlink" Target="https://www.indeavr.com/en" TargetMode="External"/><Relationship Id="rId15" Type="http://schemas.openxmlformats.org/officeDocument/2006/relationships/hyperlink" Target="https://www.sbtech.com/" TargetMode="External"/><Relationship Id="rId23" Type="http://schemas.openxmlformats.org/officeDocument/2006/relationships/hyperlink" Target="https://stemo.bg/en/" TargetMode="External"/><Relationship Id="rId10" Type="http://schemas.openxmlformats.org/officeDocument/2006/relationships/image" Target="../media/image42.png"/><Relationship Id="rId19" Type="http://schemas.openxmlformats.org/officeDocument/2006/relationships/hyperlink" Target="http://smartit.bg/" TargetMode="External"/><Relationship Id="rId4" Type="http://schemas.openxmlformats.org/officeDocument/2006/relationships/image" Target="../media/image39.png"/><Relationship Id="rId9" Type="http://schemas.openxmlformats.org/officeDocument/2006/relationships/hyperlink" Target="https://www.softwaregroup.com/" TargetMode="External"/><Relationship Id="rId14" Type="http://schemas.openxmlformats.org/officeDocument/2006/relationships/image" Target="../media/image44.png"/><Relationship Id="rId22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ukanet.com/" TargetMode="External"/><Relationship Id="rId3" Type="http://schemas.openxmlformats.org/officeDocument/2006/relationships/image" Target="../media/image51.jpeg"/><Relationship Id="rId7" Type="http://schemas.openxmlformats.org/officeDocument/2006/relationships/image" Target="../media/image5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world-of-myths.com/" TargetMode="External"/><Relationship Id="rId5" Type="http://schemas.openxmlformats.org/officeDocument/2006/relationships/image" Target="../media/image52.png"/><Relationship Id="rId4" Type="http://schemas.openxmlformats.org/officeDocument/2006/relationships/hyperlink" Target="https://www.onebitsoftware.net/" TargetMode="External"/><Relationship Id="rId9" Type="http://schemas.openxmlformats.org/officeDocument/2006/relationships/image" Target="../media/image54.gi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Classes, Fields, Constructors, Properties, Methods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Classes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553082" y="5336486"/>
            <a:ext cx="2980696" cy="460181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1" y="2436224"/>
            <a:ext cx="5342625" cy="3050176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566F-0E0E-4BF9-A3B0-6F01080380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600" dirty="0"/>
              <a:t>Abstract Data Types</a:t>
            </a:r>
          </a:p>
          <a:p>
            <a:r>
              <a:rPr lang="en-US" sz="3600" dirty="0"/>
              <a:t>Defining Simple Classes</a:t>
            </a:r>
            <a:endParaRPr lang="bg-BG" sz="3600" dirty="0"/>
          </a:p>
          <a:p>
            <a:pPr lvl="1"/>
            <a:r>
              <a:rPr lang="en-GB" sz="3400" dirty="0"/>
              <a:t>Fields</a:t>
            </a:r>
          </a:p>
          <a:p>
            <a:pPr lvl="1"/>
            <a:r>
              <a:rPr lang="en-GB" sz="3400" dirty="0"/>
              <a:t>Properties</a:t>
            </a:r>
          </a:p>
          <a:p>
            <a:pPr lvl="1"/>
            <a:r>
              <a:rPr lang="en-GB" sz="3400" dirty="0"/>
              <a:t>Methods</a:t>
            </a:r>
            <a:endParaRPr lang="en-US" sz="3400" dirty="0"/>
          </a:p>
          <a:p>
            <a:r>
              <a:rPr lang="en-US" sz="3600" dirty="0"/>
              <a:t>Constructors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603285-689A-4E41-8F77-BD9FEA5C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552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</a:t>
            </a:r>
            <a:r>
              <a:rPr lang="en-US" sz="11500" b="1" dirty="0" err="1"/>
              <a:t>csharp</a:t>
            </a:r>
            <a:r>
              <a:rPr lang="en-US" sz="11500" b="1" dirty="0"/>
              <a:t>-advanced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13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Hide Details from the Client</a:t>
            </a:r>
            <a:endParaRPr lang="bg-B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842867A-01CF-4487-BF1E-BC1B19F58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60" y="1385091"/>
            <a:ext cx="2570480" cy="2570480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/>
              <a:t>Abstract Data Type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100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Data type whose </a:t>
            </a:r>
            <a:r>
              <a:rPr lang="en-US" b="1" dirty="0">
                <a:solidFill>
                  <a:schemeClr val="bg1"/>
                </a:solidFill>
              </a:rPr>
              <a:t>representation</a:t>
            </a:r>
            <a:r>
              <a:rPr lang="en-US" b="1" dirty="0"/>
              <a:t> </a:t>
            </a:r>
            <a:r>
              <a:rPr lang="en-US" dirty="0"/>
              <a:t>is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hidden</a:t>
            </a:r>
            <a:r>
              <a:rPr lang="en-US" dirty="0"/>
              <a:t> from the client</a:t>
            </a:r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</a:t>
            </a:r>
            <a:endParaRPr lang="bg-BG" dirty="0"/>
          </a:p>
        </p:txBody>
      </p:sp>
      <p:sp>
        <p:nvSpPr>
          <p:cNvPr id="28" name="Text Placeholder 5"/>
          <p:cNvSpPr txBox="1">
            <a:spLocks/>
          </p:cNvSpPr>
          <p:nvPr/>
        </p:nvSpPr>
        <p:spPr>
          <a:xfrm>
            <a:off x="2647201" y="2304199"/>
            <a:ext cx="7057612" cy="32016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8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string ADT – indexed sequence of chars: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string()</a:t>
            </a:r>
          </a:p>
          <a:p>
            <a:r>
              <a:rPr lang="en-US" noProof="1">
                <a:solidFill>
                  <a:schemeClr val="bg1"/>
                </a:solidFill>
              </a:rPr>
              <a:t>int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Length()</a:t>
            </a:r>
          </a:p>
          <a:p>
            <a:r>
              <a:rPr lang="en-US" dirty="0">
                <a:solidFill>
                  <a:schemeClr val="bg1"/>
                </a:solidFill>
              </a:rPr>
              <a:t>char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CharAt(int index)</a:t>
            </a:r>
          </a:p>
          <a:p>
            <a:r>
              <a:rPr lang="en-US" dirty="0">
                <a:solidFill>
                  <a:schemeClr val="bg1"/>
                </a:solidFill>
              </a:rPr>
              <a:t>bool</a:t>
            </a:r>
            <a:r>
              <a:rPr lang="en-US" dirty="0"/>
              <a:t> </a:t>
            </a:r>
            <a:r>
              <a:rPr lang="en-US" noProof="1">
                <a:solidFill>
                  <a:schemeClr val="tx1"/>
                </a:solidFill>
              </a:rPr>
              <a:t>IsEmpty()</a:t>
            </a:r>
            <a:endParaRPr lang="en-US" noProof="1"/>
          </a:p>
          <a:p>
            <a:r>
              <a:rPr lang="en-US" i="1" dirty="0">
                <a:solidFill>
                  <a:schemeClr val="accent2"/>
                </a:solidFill>
              </a:rPr>
              <a:t>// many others…</a:t>
            </a:r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auto">
          <a:xfrm>
            <a:off x="7696201" y="3880918"/>
            <a:ext cx="1902483" cy="1219200"/>
          </a:xfrm>
          <a:prstGeom prst="wedgeRoundRectCallout">
            <a:avLst>
              <a:gd name="adj1" fmla="val -66764"/>
              <a:gd name="adj2" fmla="val -4289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ADTs are defined by their </a:t>
            </a:r>
            <a:r>
              <a:rPr lang="en-US" sz="2400" b="1" dirty="0">
                <a:solidFill>
                  <a:schemeClr val="bg1"/>
                </a:solidFill>
              </a:rPr>
              <a:t>usage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B720DA3-F97D-4372-992E-7BBA68D95E68}"/>
              </a:ext>
            </a:extLst>
          </p:cNvPr>
          <p:cNvSpPr/>
          <p:nvPr/>
        </p:nvSpPr>
        <p:spPr>
          <a:xfrm>
            <a:off x="6324600" y="3657600"/>
            <a:ext cx="914400" cy="1219200"/>
          </a:xfrm>
          <a:prstGeom prst="rightBrace">
            <a:avLst>
              <a:gd name="adj1" fmla="val 8333"/>
              <a:gd name="adj2" fmla="val 50688"/>
            </a:avLst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54400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You </a:t>
            </a:r>
            <a:r>
              <a:rPr lang="en-US" b="1" dirty="0">
                <a:solidFill>
                  <a:schemeClr val="bg1"/>
                </a:solidFill>
              </a:rPr>
              <a:t>don't need </a:t>
            </a:r>
            <a:r>
              <a:rPr lang="en-US" dirty="0"/>
              <a:t>to know the </a:t>
            </a:r>
            <a:r>
              <a:rPr lang="en-US" b="1" dirty="0">
                <a:solidFill>
                  <a:schemeClr val="bg1"/>
                </a:solidFill>
              </a:rPr>
              <a:t>implementation</a:t>
            </a:r>
            <a:r>
              <a:rPr lang="en-US" dirty="0"/>
              <a:t> to use an ADT</a:t>
            </a:r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 (2)</a:t>
            </a:r>
            <a:endParaRPr lang="bg-BG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2525378" y="3122982"/>
            <a:ext cx="4175462" cy="32016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8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Dog:</a:t>
            </a:r>
            <a:endParaRPr lang="bg-BG" dirty="0">
              <a:solidFill>
                <a:schemeClr val="tx1"/>
              </a:solidFill>
            </a:endParaRPr>
          </a:p>
          <a:p>
            <a:r>
              <a:rPr lang="bg-BG" dirty="0">
                <a:solidFill>
                  <a:schemeClr val="tx1"/>
                </a:solidFill>
              </a:rPr>
              <a:t>        </a:t>
            </a:r>
            <a:r>
              <a:rPr lang="en-GB" dirty="0">
                <a:solidFill>
                  <a:schemeClr val="tx1"/>
                </a:solidFill>
              </a:rPr>
              <a:t>Dog()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string Name()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bg-BG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void Bark()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bg-BG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void Sleep()</a:t>
            </a:r>
          </a:p>
          <a:p>
            <a:r>
              <a:rPr lang="en-US" dirty="0"/>
              <a:t>  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7178338" y="3122982"/>
            <a:ext cx="4175462" cy="32016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8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Computer:</a:t>
            </a:r>
          </a:p>
          <a:p>
            <a:r>
              <a:rPr lang="en-US" dirty="0">
                <a:solidFill>
                  <a:schemeClr val="tx1"/>
                </a:solidFill>
              </a:rPr>
              <a:t>        Computer()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bg-BG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void TurnOn()</a:t>
            </a: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bg-BG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void TurnOff()</a:t>
            </a:r>
          </a:p>
          <a:p>
            <a:r>
              <a:rPr lang="en-US" dirty="0">
                <a:solidFill>
                  <a:schemeClr val="tx1"/>
                </a:solidFill>
              </a:rPr>
              <a:t> string Spec()</a:t>
            </a:r>
          </a:p>
          <a:p>
            <a:r>
              <a:rPr lang="en-US" dirty="0"/>
              <a:t>   </a:t>
            </a:r>
          </a:p>
        </p:txBody>
      </p:sp>
      <p:sp>
        <p:nvSpPr>
          <p:cNvPr id="10" name="Oval 9"/>
          <p:cNvSpPr/>
          <p:nvPr/>
        </p:nvSpPr>
        <p:spPr>
          <a:xfrm>
            <a:off x="5062390" y="2059244"/>
            <a:ext cx="1393951" cy="1450016"/>
          </a:xfrm>
          <a:prstGeom prst="ellipse">
            <a:avLst/>
          </a:prstGeom>
          <a:solidFill>
            <a:schemeClr val="bg2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9678348" y="2067576"/>
            <a:ext cx="1385941" cy="1441684"/>
          </a:xfrm>
          <a:prstGeom prst="ellipse">
            <a:avLst/>
          </a:prstGeom>
          <a:solidFill>
            <a:schemeClr val="bg2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662" y="2363468"/>
            <a:ext cx="967266" cy="96726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506" y="2363468"/>
            <a:ext cx="845622" cy="845622"/>
          </a:xfrm>
          <a:prstGeom prst="rect">
            <a:avLst/>
          </a:prstGeom>
        </p:spPr>
      </p:pic>
      <p:sp>
        <p:nvSpPr>
          <p:cNvPr id="11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1822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Creating Class for an ADT</a:t>
            </a:r>
            <a:endParaRPr lang="bg-B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2951B-AB40-4AB4-936F-6F699870A6E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842" y="1524000"/>
            <a:ext cx="2404316" cy="240431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/>
              <a:t>Defining Classes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222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>
          <a:xfrm>
            <a:off x="1866659" y="1247495"/>
            <a:ext cx="9927138" cy="5276048"/>
          </a:xfrm>
        </p:spPr>
        <p:txBody>
          <a:bodyPr/>
          <a:lstStyle/>
          <a:p>
            <a:pPr>
              <a:buClr>
                <a:srgbClr val="234465"/>
              </a:buClr>
            </a:pPr>
            <a:r>
              <a:rPr lang="en-US" dirty="0"/>
              <a:t>Class is a </a:t>
            </a:r>
            <a:r>
              <a:rPr lang="en-US" b="1" dirty="0">
                <a:solidFill>
                  <a:schemeClr val="bg1"/>
                </a:solidFill>
              </a:rPr>
              <a:t>concrete implementation </a:t>
            </a:r>
            <a:r>
              <a:rPr lang="en-US" dirty="0"/>
              <a:t>of an ADT</a:t>
            </a:r>
          </a:p>
          <a:p>
            <a:pPr>
              <a:buClr>
                <a:srgbClr val="234465"/>
              </a:buClr>
            </a:pPr>
            <a:r>
              <a:rPr lang="en-US" dirty="0"/>
              <a:t>Classes provide </a:t>
            </a:r>
            <a:r>
              <a:rPr lang="en-US" b="1" dirty="0">
                <a:solidFill>
                  <a:schemeClr val="bg1"/>
                </a:solidFill>
              </a:rPr>
              <a:t>structure </a:t>
            </a:r>
            <a:r>
              <a:rPr lang="en-US" dirty="0"/>
              <a:t>for</a:t>
            </a:r>
            <a:r>
              <a:rPr lang="en-US" b="1" dirty="0">
                <a:solidFill>
                  <a:schemeClr val="bg1"/>
                </a:solidFill>
              </a:rPr>
              <a:t> describing </a:t>
            </a:r>
            <a:r>
              <a:rPr lang="en-US" dirty="0"/>
              <a:t>and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creating </a:t>
            </a:r>
            <a:r>
              <a:rPr lang="en-US" dirty="0"/>
              <a:t>objects</a:t>
            </a:r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Simple Classes</a:t>
            </a:r>
            <a:endParaRPr lang="bg-BG" dirty="0"/>
          </a:p>
        </p:txBody>
      </p:sp>
      <p:sp>
        <p:nvSpPr>
          <p:cNvPr id="18" name="Text Placeholder 5"/>
          <p:cNvSpPr txBox="1">
            <a:spLocks/>
          </p:cNvSpPr>
          <p:nvPr/>
        </p:nvSpPr>
        <p:spPr>
          <a:xfrm>
            <a:off x="3974237" y="3845078"/>
            <a:ext cx="3092175" cy="240332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804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800" b="1">
                <a:solidFill>
                  <a:schemeClr val="bg1"/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90278" indent="-380876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9"/>
            </a:lvl2pPr>
            <a:lvl3pPr marL="1523505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9"/>
            </a:lvl3pPr>
            <a:lvl4pPr marL="2132907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9"/>
            </a:lvl4pPr>
            <a:lvl5pPr marL="2742308" indent="-304701" defTabSz="1218804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9"/>
            </a:lvl5pPr>
            <a:lvl6pPr marL="3351710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6pPr>
            <a:lvl7pPr marL="3961112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7pPr>
            <a:lvl8pPr marL="4570514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8pPr>
            <a:lvl9pPr marL="5179916" indent="-304701" defTabSz="1218804" latinLnBrk="1">
              <a:spcBef>
                <a:spcPct val="20000"/>
              </a:spcBef>
              <a:buFont typeface="Arial" pitchFamily="34" charset="0"/>
              <a:buChar char="•"/>
              <a:defRPr sz="2666"/>
            </a:lvl9pPr>
          </a:lstStyle>
          <a:p>
            <a:r>
              <a:rPr lang="en-US" dirty="0"/>
              <a:t>class Dice </a:t>
            </a:r>
          </a:p>
          <a:p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</a:rPr>
              <a:t>  …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>
            <a:off x="5956390" y="3372965"/>
            <a:ext cx="2033470" cy="579230"/>
          </a:xfrm>
          <a:prstGeom prst="wedgeRoundRectCallout">
            <a:avLst>
              <a:gd name="adj1" fmla="val -58231"/>
              <a:gd name="adj2" fmla="val 506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Class name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5018061" y="5607814"/>
            <a:ext cx="1905000" cy="579133"/>
          </a:xfrm>
          <a:prstGeom prst="wedgeRoundRectCallout">
            <a:avLst>
              <a:gd name="adj1" fmla="val -58872"/>
              <a:gd name="adj2" fmla="val -465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Class body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>
            <a:off x="2438400" y="3400276"/>
            <a:ext cx="1727906" cy="575748"/>
          </a:xfrm>
          <a:prstGeom prst="wedgeRoundRectCallout">
            <a:avLst>
              <a:gd name="adj1" fmla="val 55948"/>
              <a:gd name="adj2" fmla="val 5099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b="1" dirty="0">
                <a:solidFill>
                  <a:srgbClr val="FFFFFF"/>
                </a:solidFill>
              </a:rPr>
              <a:t>Keyword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08183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>
            <a:spLocks noGrp="1"/>
          </p:cNvSpPr>
          <p:nvPr>
            <p:ph type="body" sz="quarter" idx="10"/>
          </p:nvPr>
        </p:nvSpPr>
        <p:spPr>
          <a:xfrm>
            <a:off x="1956000" y="1121143"/>
            <a:ext cx="10039234" cy="5546589"/>
          </a:xfrm>
        </p:spPr>
        <p:txBody>
          <a:bodyPr/>
          <a:lstStyle/>
          <a:p>
            <a:pPr>
              <a:buClr>
                <a:srgbClr val="234465"/>
              </a:buClr>
            </a:pPr>
            <a:r>
              <a:rPr lang="en-GB" dirty="0"/>
              <a:t>Name classes with nouns using </a:t>
            </a:r>
            <a:r>
              <a:rPr lang="en-GB" b="1" noProof="1">
                <a:solidFill>
                  <a:schemeClr val="bg1"/>
                </a:solidFill>
              </a:rPr>
              <a:t>PascalCasing</a:t>
            </a:r>
          </a:p>
          <a:p>
            <a:pPr>
              <a:buClr>
                <a:srgbClr val="234465"/>
              </a:buClr>
            </a:pPr>
            <a:r>
              <a:rPr lang="en-US" dirty="0"/>
              <a:t>Use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descriptive nouns</a:t>
            </a:r>
          </a:p>
          <a:p>
            <a:pPr>
              <a:buClr>
                <a:srgbClr val="234465"/>
              </a:buClr>
            </a:pPr>
            <a:r>
              <a:rPr lang="en-US" b="1" dirty="0">
                <a:solidFill>
                  <a:schemeClr val="bg1"/>
                </a:solidFill>
              </a:rPr>
              <a:t>Avoid abbreviations </a:t>
            </a:r>
            <a:r>
              <a:rPr lang="en-US" dirty="0"/>
              <a:t>(except widely known, </a:t>
            </a:r>
            <a:br>
              <a:rPr lang="en-US" dirty="0"/>
            </a:br>
            <a:r>
              <a:rPr lang="en-US" dirty="0"/>
              <a:t>e.g. URL, HTTP, etc.)</a:t>
            </a:r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Classes</a:t>
            </a:r>
            <a:endParaRPr lang="bg-BG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590800" y="3707437"/>
            <a:ext cx="6563174" cy="104910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8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200" dirty="0">
                <a:solidFill>
                  <a:schemeClr val="tx1"/>
                </a:solidFill>
              </a:rPr>
              <a:t>class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bg1"/>
                </a:solidFill>
              </a:rPr>
              <a:t>Dice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tx1"/>
                </a:solidFill>
              </a:rPr>
              <a:t>{ … }</a:t>
            </a:r>
          </a:p>
          <a:p>
            <a:r>
              <a:rPr lang="en-US" sz="2200" dirty="0">
                <a:solidFill>
                  <a:schemeClr val="tx1"/>
                </a:solidFill>
              </a:rPr>
              <a:t>class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bg1"/>
                </a:solidFill>
              </a:rPr>
              <a:t>BankAccount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tx1"/>
                </a:solidFill>
              </a:rPr>
              <a:t>{ … }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2590800" y="4855645"/>
            <a:ext cx="6563174" cy="15415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8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200" dirty="0">
                <a:solidFill>
                  <a:schemeClr val="tx1"/>
                </a:solidFill>
              </a:rPr>
              <a:t>class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bg1"/>
                </a:solidFill>
              </a:rPr>
              <a:t>TPMF </a:t>
            </a:r>
            <a:r>
              <a:rPr lang="en-US" sz="2200" dirty="0">
                <a:solidFill>
                  <a:schemeClr val="tx1"/>
                </a:solidFill>
              </a:rPr>
              <a:t>{ … }</a:t>
            </a:r>
          </a:p>
          <a:p>
            <a:r>
              <a:rPr lang="en-US" sz="2200" dirty="0">
                <a:solidFill>
                  <a:schemeClr val="tx1"/>
                </a:solidFill>
              </a:rPr>
              <a:t>class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bg1"/>
                </a:solidFill>
              </a:rPr>
              <a:t>bankaccount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tx1"/>
                </a:solidFill>
              </a:rPr>
              <a:t>{ … }</a:t>
            </a:r>
          </a:p>
          <a:p>
            <a:r>
              <a:rPr lang="en-US" sz="2200" dirty="0">
                <a:solidFill>
                  <a:schemeClr val="tx1"/>
                </a:solidFill>
              </a:rPr>
              <a:t>class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bg1"/>
                </a:solidFill>
              </a:rPr>
              <a:t>intcalc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tx1"/>
                </a:solidFill>
              </a:rPr>
              <a:t>{ … 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59" y="3810001"/>
            <a:ext cx="836357" cy="8363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258" y="5201287"/>
            <a:ext cx="850262" cy="850262"/>
          </a:xfrm>
          <a:prstGeom prst="rect">
            <a:avLst/>
          </a:prstGeom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97989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Members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Members are </a:t>
            </a:r>
            <a:r>
              <a:rPr lang="en-US" b="1" dirty="0">
                <a:solidFill>
                  <a:schemeClr val="bg1"/>
                </a:solidFill>
              </a:rPr>
              <a:t>declared</a:t>
            </a:r>
            <a:r>
              <a:rPr lang="en-US" dirty="0"/>
              <a:t> in the class and they have certain</a:t>
            </a:r>
            <a:br>
              <a:rPr lang="en-US" dirty="0"/>
            </a:br>
            <a:r>
              <a:rPr lang="en-US" dirty="0"/>
              <a:t>accessibility, which can be specified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en-GB" dirty="0"/>
              <a:t>They can be:</a:t>
            </a:r>
          </a:p>
          <a:p>
            <a:pPr lvl="1"/>
            <a:r>
              <a:rPr lang="en-GB" dirty="0"/>
              <a:t>Fields</a:t>
            </a:r>
          </a:p>
          <a:p>
            <a:pPr lvl="1"/>
            <a:r>
              <a:rPr lang="en-GB" dirty="0"/>
              <a:t>Properties</a:t>
            </a:r>
          </a:p>
          <a:p>
            <a:pPr lvl="1"/>
            <a:r>
              <a:rPr lang="en-GB" dirty="0"/>
              <a:t>Methods, etc.</a:t>
            </a:r>
          </a:p>
          <a:p>
            <a:endParaRPr lang="en-GB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5715001" y="2772324"/>
            <a:ext cx="4864137" cy="301887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class Dice </a:t>
            </a:r>
            <a:endParaRPr lang="bg-BG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bg1"/>
                </a:solidFill>
              </a:rPr>
              <a:t>int sides;</a:t>
            </a:r>
          </a:p>
          <a:p>
            <a:r>
              <a:rPr lang="en-US" dirty="0">
                <a:solidFill>
                  <a:schemeClr val="bg1"/>
                </a:solidFill>
              </a:rPr>
              <a:t>  string Sides;</a:t>
            </a:r>
          </a:p>
          <a:p>
            <a:r>
              <a:rPr lang="en-US" dirty="0">
                <a:solidFill>
                  <a:schemeClr val="bg1"/>
                </a:solidFill>
              </a:rPr>
              <a:t>  void Roll(){ … }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064537" y="3543288"/>
            <a:ext cx="1066800" cy="533400"/>
          </a:xfrm>
          <a:prstGeom prst="wedgeRoundRectCallout">
            <a:avLst>
              <a:gd name="adj1" fmla="val -75235"/>
              <a:gd name="adj2" fmla="val 3136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Field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9448800" y="4821438"/>
            <a:ext cx="1457072" cy="536701"/>
          </a:xfrm>
          <a:prstGeom prst="wedgeRoundRectCallout">
            <a:avLst>
              <a:gd name="adj1" fmla="val -70519"/>
              <a:gd name="adj2" fmla="val -250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Method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9601200" y="4076688"/>
            <a:ext cx="1524000" cy="533400"/>
          </a:xfrm>
          <a:prstGeom prst="wedgeRoundRectCallout">
            <a:avLst>
              <a:gd name="adj1" fmla="val -75235"/>
              <a:gd name="adj2" fmla="val 3136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Property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192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Object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class can have </a:t>
            </a:r>
            <a:r>
              <a:rPr lang="en-US" b="1" dirty="0">
                <a:solidFill>
                  <a:schemeClr val="bg1"/>
                </a:solidFill>
              </a:rPr>
              <a:t>many instances </a:t>
            </a:r>
            <a:r>
              <a:rPr lang="en-US" dirty="0"/>
              <a:t>(objects)</a:t>
            </a:r>
          </a:p>
        </p:txBody>
      </p:sp>
      <p:sp>
        <p:nvSpPr>
          <p:cNvPr id="14" name="Text Placeholder 5"/>
          <p:cNvSpPr txBox="1">
            <a:spLocks/>
          </p:cNvSpPr>
          <p:nvPr/>
        </p:nvSpPr>
        <p:spPr>
          <a:xfrm>
            <a:off x="685801" y="1911433"/>
            <a:ext cx="5577077" cy="424998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class Program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public static void Main() 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{</a:t>
            </a:r>
          </a:p>
          <a:p>
            <a:r>
              <a:rPr lang="en-US" sz="2400" dirty="0"/>
              <a:t>    </a:t>
            </a:r>
            <a:r>
              <a:rPr lang="en-US" sz="2400" dirty="0">
                <a:solidFill>
                  <a:schemeClr val="tx1"/>
                </a:solidFill>
              </a:rPr>
              <a:t>Dice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diceD6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new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Dice();</a:t>
            </a:r>
          </a:p>
          <a:p>
            <a:r>
              <a:rPr lang="en-US" sz="2400" dirty="0"/>
              <a:t>    </a:t>
            </a:r>
            <a:r>
              <a:rPr lang="en-US" sz="2400" dirty="0">
                <a:solidFill>
                  <a:schemeClr val="tx1"/>
                </a:solidFill>
              </a:rPr>
              <a:t>Dice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diceD8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new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Dice();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2743201" y="5133388"/>
            <a:ext cx="2385731" cy="921534"/>
          </a:xfrm>
          <a:prstGeom prst="wedgeRoundRectCallout">
            <a:avLst>
              <a:gd name="adj1" fmla="val -60843"/>
              <a:gd name="adj2" fmla="val -4523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A variable stores a </a:t>
            </a:r>
            <a:r>
              <a:rPr lang="en-US" sz="2400" b="1" dirty="0">
                <a:solidFill>
                  <a:schemeClr val="bg1"/>
                </a:solidFill>
              </a:rPr>
              <a:t>reference</a:t>
            </a:r>
            <a:endParaRPr lang="en-US" sz="2400" b="1" noProof="1">
              <a:solidFill>
                <a:schemeClr val="bg1"/>
              </a:solidFill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4738877" y="3495890"/>
            <a:ext cx="3048000" cy="540534"/>
          </a:xfrm>
          <a:prstGeom prst="wedgeRoundRectCallout">
            <a:avLst>
              <a:gd name="adj1" fmla="val -61874"/>
              <a:gd name="adj2" fmla="val 5129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Use the </a:t>
            </a:r>
            <a:r>
              <a:rPr lang="en-US" sz="2400" b="1" dirty="0">
                <a:solidFill>
                  <a:schemeClr val="bg1"/>
                </a:solidFill>
              </a:rPr>
              <a:t>new </a:t>
            </a:r>
            <a:r>
              <a:rPr lang="en-US" sz="2400" b="1" dirty="0">
                <a:solidFill>
                  <a:srgbClr val="FFFFFF"/>
                </a:solidFill>
              </a:rPr>
              <a:t>keyword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9F4352-EA21-48E7-8588-D1D1315F1F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987" y="2362201"/>
            <a:ext cx="3799215" cy="3799215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917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C6F2A-6923-4AEB-9946-172C8FCC99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Declaring a variable creates a </a:t>
            </a:r>
            <a:r>
              <a:rPr lang="en-GB" b="1" dirty="0">
                <a:solidFill>
                  <a:schemeClr val="bg1"/>
                </a:solidFill>
              </a:rPr>
              <a:t>reference</a:t>
            </a:r>
            <a:r>
              <a:rPr lang="en-GB" dirty="0"/>
              <a:t> in the stack</a:t>
            </a:r>
          </a:p>
          <a:p>
            <a:r>
              <a:rPr lang="en-GB" dirty="0"/>
              <a:t>The </a:t>
            </a:r>
            <a:r>
              <a:rPr lang="en-GB" b="1" dirty="0">
                <a:solidFill>
                  <a:schemeClr val="bg1"/>
                </a:solidFill>
              </a:rPr>
              <a:t>new</a:t>
            </a:r>
            <a:r>
              <a:rPr lang="en-GB" dirty="0"/>
              <a:t> keyword allocates memory on the heap</a:t>
            </a:r>
          </a:p>
          <a:p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F15D21-5529-40B4-9291-188B5C8B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Reference</a:t>
            </a:r>
            <a:endParaRPr lang="en-GB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7BD68F0-758B-4163-A837-7D5EC2E3C43F}"/>
              </a:ext>
            </a:extLst>
          </p:cNvPr>
          <p:cNvSpPr txBox="1">
            <a:spLocks/>
          </p:cNvSpPr>
          <p:nvPr/>
        </p:nvSpPr>
        <p:spPr>
          <a:xfrm>
            <a:off x="2667000" y="2590801"/>
            <a:ext cx="4845052" cy="61821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600" dirty="0">
                <a:solidFill>
                  <a:schemeClr val="tx1"/>
                </a:solidFill>
              </a:rPr>
              <a:t>Dice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bg1"/>
                </a:solidFill>
              </a:rPr>
              <a:t>diceD6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=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bg1"/>
                </a:solidFill>
              </a:rPr>
              <a:t>new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tx1"/>
                </a:solidFill>
              </a:rPr>
              <a:t>Dice();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C62C54C-D5DC-4428-A5D5-C276FE740010}"/>
              </a:ext>
            </a:extLst>
          </p:cNvPr>
          <p:cNvGrpSpPr/>
          <p:nvPr/>
        </p:nvGrpSpPr>
        <p:grpSpPr>
          <a:xfrm>
            <a:off x="2664100" y="3455363"/>
            <a:ext cx="6041546" cy="1905000"/>
            <a:chOff x="693282" y="3505200"/>
            <a:chExt cx="6041546" cy="1905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151D2A-9670-4778-AA2E-3E5751AB9E40}"/>
                </a:ext>
              </a:extLst>
            </p:cNvPr>
            <p:cNvSpPr/>
            <p:nvPr/>
          </p:nvSpPr>
          <p:spPr bwMode="auto">
            <a:xfrm>
              <a:off x="3727416" y="3505692"/>
              <a:ext cx="3007412" cy="1904508"/>
            </a:xfrm>
            <a:prstGeom prst="rect">
              <a:avLst/>
            </a:prstGeom>
            <a:solidFill>
              <a:schemeClr val="dk2">
                <a:alpha val="15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8F683C-6834-4508-82E0-3F2EED68AC86}"/>
                </a:ext>
              </a:extLst>
            </p:cNvPr>
            <p:cNvSpPr/>
            <p:nvPr/>
          </p:nvSpPr>
          <p:spPr bwMode="auto">
            <a:xfrm>
              <a:off x="3829482" y="3572002"/>
              <a:ext cx="2819400" cy="6096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</a:rPr>
                <a:t>HEAP</a:t>
              </a:r>
              <a:endParaRPr lang="en-US" sz="28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1E95FC-7CD2-4290-85A8-A030D230C470}"/>
                </a:ext>
              </a:extLst>
            </p:cNvPr>
            <p:cNvSpPr/>
            <p:nvPr/>
          </p:nvSpPr>
          <p:spPr bwMode="auto">
            <a:xfrm>
              <a:off x="720662" y="3505200"/>
              <a:ext cx="3007412" cy="1905000"/>
            </a:xfrm>
            <a:prstGeom prst="rect">
              <a:avLst/>
            </a:prstGeom>
            <a:solidFill>
              <a:schemeClr val="dk2">
                <a:alpha val="15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97C3D8-362F-4C40-B485-2C8013A01888}"/>
                </a:ext>
              </a:extLst>
            </p:cNvPr>
            <p:cNvSpPr/>
            <p:nvPr/>
          </p:nvSpPr>
          <p:spPr bwMode="auto">
            <a:xfrm>
              <a:off x="822728" y="3571509"/>
              <a:ext cx="2819400" cy="60960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800" b="1" dirty="0">
                  <a:solidFill>
                    <a:srgbClr val="FFFFFF"/>
                  </a:solidFill>
                </a:rPr>
                <a:t>STACK</a:t>
              </a:r>
              <a:endParaRPr lang="en-US" sz="28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16D9F11-A45E-49B9-A380-F140072BD888}"/>
                </a:ext>
              </a:extLst>
            </p:cNvPr>
            <p:cNvGrpSpPr/>
            <p:nvPr/>
          </p:nvGrpSpPr>
          <p:grpSpPr>
            <a:xfrm>
              <a:off x="693282" y="4149121"/>
              <a:ext cx="5708936" cy="1093943"/>
              <a:chOff x="5838432" y="1938829"/>
              <a:chExt cx="5708936" cy="109394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F71EB8-FE14-4A73-B05F-AC2923500C4E}"/>
                  </a:ext>
                </a:extLst>
              </p:cNvPr>
              <p:cNvSpPr/>
              <p:nvPr/>
            </p:nvSpPr>
            <p:spPr bwMode="auto">
              <a:xfrm>
                <a:off x="6116493" y="2394668"/>
                <a:ext cx="1952991" cy="605189"/>
              </a:xfrm>
              <a:prstGeom prst="rect">
                <a:avLst/>
              </a:prstGeom>
              <a:solidFill>
                <a:schemeClr val="dk2">
                  <a:alpha val="80000"/>
                </a:schemeClr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2000" b="1" dirty="0">
                    <a:solidFill>
                      <a:srgbClr val="FFFFFF"/>
                    </a:solidFill>
                  </a:rPr>
                  <a:t>diceD6</a:t>
                </a:r>
              </a:p>
              <a:p>
                <a:pPr algn="ctr"/>
                <a:r>
                  <a:rPr lang="en-GB" sz="2000" b="1" dirty="0">
                    <a:solidFill>
                      <a:srgbClr val="FFFFFF"/>
                    </a:solidFill>
                  </a:rPr>
                  <a:t>(1540e19d)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F7D310-CAC6-46A2-9711-5AAC39E0D43B}"/>
                  </a:ext>
                </a:extLst>
              </p:cNvPr>
              <p:cNvSpPr txBox="1"/>
              <p:nvPr/>
            </p:nvSpPr>
            <p:spPr>
              <a:xfrm>
                <a:off x="5838432" y="1938829"/>
                <a:ext cx="952823" cy="55666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144000" tIns="108000" rIns="144000" bIns="108000" rtlCol="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buClr>
                    <a:schemeClr val="accent5">
                      <a:lumMod val="40000"/>
                      <a:lumOff val="60000"/>
                    </a:schemeClr>
                  </a:buClr>
                  <a:buSzPct val="70000"/>
                </a:pPr>
                <a:r>
                  <a:rPr lang="en-GB" sz="2000" b="1" dirty="0"/>
                  <a:t>obj</a:t>
                </a:r>
                <a:endParaRPr lang="en-US" sz="2000" b="1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D39D34-16BE-44E5-B67D-FF1F573C2C80}"/>
                  </a:ext>
                </a:extLst>
              </p:cNvPr>
              <p:cNvSpPr/>
              <p:nvPr/>
            </p:nvSpPr>
            <p:spPr bwMode="auto">
              <a:xfrm>
                <a:off x="9741966" y="2361751"/>
                <a:ext cx="1805402" cy="671021"/>
              </a:xfrm>
              <a:prstGeom prst="rect">
                <a:avLst/>
              </a:prstGeom>
              <a:solidFill>
                <a:schemeClr val="dk2">
                  <a:alpha val="80000"/>
                </a:schemeClr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2000" b="1" dirty="0">
                    <a:solidFill>
                      <a:srgbClr val="FFFFFF"/>
                    </a:solidFill>
                  </a:rPr>
                  <a:t>type = null</a:t>
                </a:r>
              </a:p>
              <a:p>
                <a:pPr algn="ctr"/>
                <a:r>
                  <a:rPr lang="en-GB" sz="2000" b="1" dirty="0">
                    <a:solidFill>
                      <a:srgbClr val="FFFFFF"/>
                    </a:solidFill>
                  </a:rPr>
                  <a:t>sides = 0</a:t>
                </a:r>
                <a:endParaRPr lang="en-US" sz="2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ight Arrow 7">
                <a:extLst>
                  <a:ext uri="{FF2B5EF4-FFF2-40B4-BE49-F238E27FC236}">
                    <a16:creationId xmlns:a16="http://schemas.microsoft.com/office/drawing/2014/main" id="{731541BC-4068-4708-9C69-AA2C883CB3E5}"/>
                  </a:ext>
                </a:extLst>
              </p:cNvPr>
              <p:cNvSpPr/>
              <p:nvPr/>
            </p:nvSpPr>
            <p:spPr>
              <a:xfrm>
                <a:off x="8347545" y="2538434"/>
                <a:ext cx="1121412" cy="381000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/>
              </a:p>
            </p:txBody>
          </p:sp>
        </p:grpSp>
      </p:grpSp>
      <p:sp>
        <p:nvSpPr>
          <p:cNvPr id="1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724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vs. Objects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Classes provide </a:t>
            </a:r>
            <a:r>
              <a:rPr lang="en-US" b="1" dirty="0">
                <a:solidFill>
                  <a:schemeClr val="bg1"/>
                </a:solidFill>
              </a:rPr>
              <a:t>structure</a:t>
            </a:r>
            <a:r>
              <a:rPr lang="en-US" dirty="0"/>
              <a:t> for describing and creating objects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chemeClr val="bg1"/>
                </a:solidFill>
              </a:rPr>
              <a:t>object</a:t>
            </a:r>
            <a:r>
              <a:rPr lang="en-US" dirty="0"/>
              <a:t> is a </a:t>
            </a:r>
            <a:r>
              <a:rPr lang="en-US" b="1" dirty="0">
                <a:solidFill>
                  <a:schemeClr val="bg1"/>
                </a:solidFill>
              </a:rPr>
              <a:t>single instance of a class</a:t>
            </a:r>
          </a:p>
        </p:txBody>
      </p:sp>
      <p:sp>
        <p:nvSpPr>
          <p:cNvPr id="9" name="Arrow: Right 20"/>
          <p:cNvSpPr/>
          <p:nvPr/>
        </p:nvSpPr>
        <p:spPr>
          <a:xfrm>
            <a:off x="7543800" y="5504590"/>
            <a:ext cx="685800" cy="659698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: Rounded Corners 22"/>
          <p:cNvSpPr/>
          <p:nvPr/>
        </p:nvSpPr>
        <p:spPr>
          <a:xfrm>
            <a:off x="4750824" y="5357045"/>
            <a:ext cx="2385552" cy="954791"/>
          </a:xfrm>
          <a:prstGeom prst="roundRect">
            <a:avLst>
              <a:gd name="adj" fmla="val 5385"/>
            </a:avLst>
          </a:prstGeom>
          <a:solidFill>
            <a:schemeClr val="tx1">
              <a:lumMod val="75000"/>
              <a:alpha val="30000"/>
            </a:schemeClr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Dice (Class)</a:t>
            </a:r>
            <a:endParaRPr 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: Rounded Corners 23"/>
          <p:cNvSpPr/>
          <p:nvPr/>
        </p:nvSpPr>
        <p:spPr>
          <a:xfrm>
            <a:off x="8610600" y="5357045"/>
            <a:ext cx="2438400" cy="954791"/>
          </a:xfrm>
          <a:prstGeom prst="roundRect">
            <a:avLst>
              <a:gd name="adj" fmla="val 5385"/>
            </a:avLst>
          </a:prstGeom>
          <a:solidFill>
            <a:schemeClr val="tx1">
              <a:lumMod val="75000"/>
              <a:alpha val="30000"/>
            </a:schemeClr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D6 Dice (Object)</a:t>
            </a:r>
            <a:endParaRPr 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76786" y="2819399"/>
            <a:ext cx="2080752" cy="2080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2800" b="1" dirty="0">
                <a:solidFill>
                  <a:schemeClr val="bg2"/>
                </a:solidFill>
                <a:latin typeface="Consolas" panose="020B0609020204030204" pitchFamily="49" charset="0"/>
              </a:rPr>
              <a:t>Dice is…</a:t>
            </a:r>
          </a:p>
        </p:txBody>
      </p:sp>
      <p:sp>
        <p:nvSpPr>
          <p:cNvPr id="13" name="Rectangle: Rounded Corners 31"/>
          <p:cNvSpPr/>
          <p:nvPr/>
        </p:nvSpPr>
        <p:spPr>
          <a:xfrm>
            <a:off x="924386" y="5357045"/>
            <a:ext cx="2385552" cy="954791"/>
          </a:xfrm>
          <a:prstGeom prst="roundRect">
            <a:avLst>
              <a:gd name="adj" fmla="val 5385"/>
            </a:avLst>
          </a:prstGeom>
          <a:solidFill>
            <a:schemeClr val="tx1">
              <a:lumMod val="75000"/>
              <a:alpha val="30000"/>
            </a:schemeClr>
          </a:solidFill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Dice ADT</a:t>
            </a:r>
            <a:endParaRPr 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Arrow: Right 32"/>
          <p:cNvSpPr/>
          <p:nvPr/>
        </p:nvSpPr>
        <p:spPr>
          <a:xfrm>
            <a:off x="3721325" y="5504590"/>
            <a:ext cx="685800" cy="659698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53448" y="2819400"/>
            <a:ext cx="2080752" cy="2080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8763000" y="2845783"/>
            <a:ext cx="2027986" cy="2027986"/>
            <a:chOff x="8814219" y="2845783"/>
            <a:chExt cx="2027986" cy="2027986"/>
          </a:xfrm>
        </p:grpSpPr>
        <p:sp>
          <p:nvSpPr>
            <p:cNvPr id="19" name="Oval 18"/>
            <p:cNvSpPr/>
            <p:nvPr/>
          </p:nvSpPr>
          <p:spPr>
            <a:xfrm>
              <a:off x="8814219" y="2845783"/>
              <a:ext cx="2027986" cy="20279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8612" y="3249790"/>
              <a:ext cx="1219200" cy="1219200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790" y="3107577"/>
            <a:ext cx="1690892" cy="1503627"/>
          </a:xfrm>
          <a:prstGeom prst="rect">
            <a:avLst/>
          </a:prstGeom>
        </p:spPr>
      </p:pic>
      <p:sp>
        <p:nvSpPr>
          <p:cNvPr id="1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961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 object is a single</a:t>
            </a:r>
            <a:br>
              <a:rPr lang="bg-BG" dirty="0"/>
            </a:br>
            <a:r>
              <a:rPr lang="en-US" dirty="0"/>
              <a:t>instance of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Classes provide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structure</a:t>
            </a:r>
            <a:r>
              <a:rPr lang="en-US" dirty="0"/>
              <a:t> for creating</a:t>
            </a:r>
            <a:r>
              <a:rPr lang="en-GB" dirty="0"/>
              <a:t> </a:t>
            </a:r>
            <a:r>
              <a:rPr lang="en-US" dirty="0"/>
              <a:t>objects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vs. Objects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D895F57-D02F-4EE3-AD4D-1DE16E8F590D}"/>
              </a:ext>
            </a:extLst>
          </p:cNvPr>
          <p:cNvGrpSpPr/>
          <p:nvPr/>
        </p:nvGrpSpPr>
        <p:grpSpPr>
          <a:xfrm>
            <a:off x="400550" y="2627778"/>
            <a:ext cx="2585769" cy="2533843"/>
            <a:chOff x="455612" y="2077297"/>
            <a:chExt cx="2389238" cy="2533843"/>
          </a:xfrm>
        </p:grpSpPr>
        <p:sp>
          <p:nvSpPr>
            <p:cNvPr id="37" name="Rectangle 3">
              <a:extLst>
                <a:ext uri="{FF2B5EF4-FFF2-40B4-BE49-F238E27FC236}">
                  <a16:creationId xmlns:a16="http://schemas.microsoft.com/office/drawing/2014/main" id="{BBD8BC52-6E73-4EA0-B5F3-1FB28FEA2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12" y="2077297"/>
              <a:ext cx="2375848" cy="10014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class</a:t>
              </a:r>
            </a:p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Dice</a:t>
              </a:r>
            </a:p>
          </p:txBody>
        </p: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59197B43-9E20-4052-9527-37CCE7276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12" y="3078774"/>
              <a:ext cx="2375848" cy="9348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type: 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sides: int</a:t>
              </a: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D8395426-79BA-4994-845E-6F70F9789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002" y="4015068"/>
              <a:ext cx="2375848" cy="59607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Roll(…)</a:t>
              </a:r>
            </a:p>
          </p:txBody>
        </p:sp>
      </p:grpSp>
      <p:sp>
        <p:nvSpPr>
          <p:cNvPr id="40" name="AutoShape 6">
            <a:extLst>
              <a:ext uri="{FF2B5EF4-FFF2-40B4-BE49-F238E27FC236}">
                <a16:creationId xmlns:a16="http://schemas.microsoft.com/office/drawing/2014/main" id="{5A54C04E-1A44-4870-BF44-9E6A97520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4041" y="4650776"/>
            <a:ext cx="2086370" cy="425616"/>
          </a:xfrm>
          <a:prstGeom prst="wedgeRoundRectCallout">
            <a:avLst>
              <a:gd name="adj1" fmla="val -48600"/>
              <a:gd name="adj2" fmla="val -62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Class </a:t>
            </a:r>
            <a:r>
              <a:rPr lang="en-US" sz="2400" b="1" dirty="0">
                <a:solidFill>
                  <a:schemeClr val="bg1"/>
                </a:solidFill>
              </a:rPr>
              <a:t>actions</a:t>
            </a:r>
            <a:endParaRPr lang="bg-BG" sz="2400" b="1" dirty="0">
              <a:solidFill>
                <a:srgbClr val="FFFFFF"/>
              </a:solidFill>
            </a:endParaRPr>
          </a:p>
        </p:txBody>
      </p:sp>
      <p:sp>
        <p:nvSpPr>
          <p:cNvPr id="41" name="AutoShape 6">
            <a:extLst>
              <a:ext uri="{FF2B5EF4-FFF2-40B4-BE49-F238E27FC236}">
                <a16:creationId xmlns:a16="http://schemas.microsoft.com/office/drawing/2014/main" id="{2715C0C5-9996-4DFD-BD31-B54354521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956" y="3132338"/>
            <a:ext cx="2019718" cy="461072"/>
          </a:xfrm>
          <a:prstGeom prst="wedgeRoundRectCallout">
            <a:avLst>
              <a:gd name="adj1" fmla="val -46129"/>
              <a:gd name="adj2" fmla="val 2686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Class </a:t>
            </a:r>
            <a:r>
              <a:rPr lang="en-US" sz="2400" b="1" dirty="0">
                <a:solidFill>
                  <a:schemeClr val="bg1"/>
                </a:solidFill>
              </a:rPr>
              <a:t>name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42" name="AutoShape 6">
            <a:extLst>
              <a:ext uri="{FF2B5EF4-FFF2-40B4-BE49-F238E27FC236}">
                <a16:creationId xmlns:a16="http://schemas.microsoft.com/office/drawing/2014/main" id="{E22B0B52-7382-4C6B-8CB9-46D5692FD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550" y="3893206"/>
            <a:ext cx="2057400" cy="461071"/>
          </a:xfrm>
          <a:prstGeom prst="wedgeRoundRectCallout">
            <a:avLst>
              <a:gd name="adj1" fmla="val -41246"/>
              <a:gd name="adj2" fmla="val -1459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Class </a:t>
            </a:r>
            <a:r>
              <a:rPr lang="en-US" sz="2400" b="1" dirty="0">
                <a:solidFill>
                  <a:schemeClr val="bg1"/>
                </a:solidFill>
              </a:rPr>
              <a:t>data</a:t>
            </a:r>
            <a:endParaRPr lang="bg-BG" sz="2400" b="1" dirty="0">
              <a:solidFill>
                <a:srgbClr val="FFFFFF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0C29E0-9F4A-49B3-8426-92DE60BCAE72}"/>
              </a:ext>
            </a:extLst>
          </p:cNvPr>
          <p:cNvGrpSpPr/>
          <p:nvPr/>
        </p:nvGrpSpPr>
        <p:grpSpPr>
          <a:xfrm>
            <a:off x="7194566" y="3128514"/>
            <a:ext cx="3767791" cy="1897128"/>
            <a:chOff x="9294811" y="1741724"/>
            <a:chExt cx="2705081" cy="1897128"/>
          </a:xfrm>
        </p:grpSpPr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E48F9505-A2DF-4CC4-9341-A17A14D07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4811" y="1741724"/>
              <a:ext cx="2705080" cy="10014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object</a:t>
              </a:r>
              <a:br>
                <a:rPr lang="en-US" sz="2800" noProof="1">
                  <a:latin typeface="Consolas" panose="020B0609020204030204" pitchFamily="49" charset="0"/>
                </a:rPr>
              </a:br>
              <a:r>
                <a:rPr lang="en-US" sz="2800" b="1" noProof="1">
                  <a:solidFill>
                    <a:schemeClr val="bg1"/>
                  </a:solidFill>
                  <a:latin typeface="Consolas" panose="020B0609020204030204" pitchFamily="49" charset="0"/>
                </a:rPr>
                <a:t>diceD6</a:t>
              </a:r>
              <a:endParaRPr lang="en-US" sz="2800" b="1" noProof="1">
                <a:latin typeface="Consolas" panose="020B0609020204030204" pitchFamily="49" charset="0"/>
              </a:endParaRPr>
            </a:p>
          </p:txBody>
        </p:sp>
        <p:sp>
          <p:nvSpPr>
            <p:cNvPr id="50" name="Rectangle 4">
              <a:extLst>
                <a:ext uri="{FF2B5EF4-FFF2-40B4-BE49-F238E27FC236}">
                  <a16:creationId xmlns:a16="http://schemas.microsoft.com/office/drawing/2014/main" id="{A0979492-051C-4873-9AFB-D71CF15B4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4811" y="2743200"/>
              <a:ext cx="2705081" cy="89565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type = "six sided"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sides = 6</a:t>
              </a:r>
            </a:p>
          </p:txBody>
        </p:sp>
      </p:grpSp>
      <p:sp>
        <p:nvSpPr>
          <p:cNvPr id="51" name="AutoShape 6">
            <a:extLst>
              <a:ext uri="{FF2B5EF4-FFF2-40B4-BE49-F238E27FC236}">
                <a16:creationId xmlns:a16="http://schemas.microsoft.com/office/drawing/2014/main" id="{A1BF36D3-4E75-4694-85F5-57C66BCD7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864" y="2894772"/>
            <a:ext cx="1524001" cy="995628"/>
          </a:xfrm>
          <a:prstGeom prst="wedgeRoundRectCallout">
            <a:avLst>
              <a:gd name="adj1" fmla="val -44503"/>
              <a:gd name="adj2" fmla="val -2461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Object </a:t>
            </a:r>
            <a:r>
              <a:rPr lang="en-US" sz="2400" b="1" dirty="0">
                <a:solidFill>
                  <a:schemeClr val="bg1"/>
                </a:solidFill>
              </a:rPr>
              <a:t>name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52" name="AutoShape 6">
            <a:extLst>
              <a:ext uri="{FF2B5EF4-FFF2-40B4-BE49-F238E27FC236}">
                <a16:creationId xmlns:a16="http://schemas.microsoft.com/office/drawing/2014/main" id="{2E58BB50-BA66-4FF7-8A4D-A0BD48C94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864" y="4740354"/>
            <a:ext cx="1524001" cy="848888"/>
          </a:xfrm>
          <a:prstGeom prst="wedgeRoundRectCallout">
            <a:avLst>
              <a:gd name="adj1" fmla="val -36797"/>
              <a:gd name="adj2" fmla="val -1281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Object </a:t>
            </a:r>
            <a:r>
              <a:rPr lang="en-US" sz="2400" b="1" dirty="0">
                <a:solidFill>
                  <a:schemeClr val="bg1"/>
                </a:solidFill>
              </a:rPr>
              <a:t>data</a:t>
            </a:r>
            <a:endParaRPr lang="bg-BG" sz="2400" b="1" dirty="0">
              <a:solidFill>
                <a:schemeClr val="bg1"/>
              </a:solidFill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200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51" grpId="0" animBg="1"/>
      <p:bldP spid="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/>
              <a:t>Storing Data Inside a Class</a:t>
            </a:r>
            <a:endParaRPr lang="bg-BG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253" y="1261980"/>
            <a:ext cx="2760313" cy="2771075"/>
          </a:xfrm>
          <a:prstGeom prst="rect">
            <a:avLst/>
          </a:prstGeom>
        </p:spPr>
      </p:pic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/>
              <a:t>Class Data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8210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 and Modifiers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fields have type and name</a:t>
            </a:r>
          </a:p>
          <a:p>
            <a:r>
              <a:rPr lang="en-US" dirty="0"/>
              <a:t>Modifiers define accessibility</a:t>
            </a:r>
          </a:p>
        </p:txBody>
      </p:sp>
      <p:sp>
        <p:nvSpPr>
          <p:cNvPr id="14" name="Text Placeholder 5"/>
          <p:cNvSpPr txBox="1">
            <a:spLocks/>
          </p:cNvSpPr>
          <p:nvPr/>
        </p:nvSpPr>
        <p:spPr>
          <a:xfrm>
            <a:off x="3709440" y="2547857"/>
            <a:ext cx="4989657" cy="400376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public class Dice</a:t>
            </a:r>
          </a:p>
          <a:p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</a:rPr>
              <a:t>  private string type;</a:t>
            </a:r>
          </a:p>
          <a:p>
            <a:r>
              <a:rPr lang="en-US" dirty="0">
                <a:solidFill>
                  <a:schemeClr val="tx1"/>
                </a:solidFill>
              </a:rPr>
              <a:t>  private </a:t>
            </a:r>
            <a:r>
              <a:rPr lang="en-US" noProof="1">
                <a:solidFill>
                  <a:schemeClr val="bg1"/>
                </a:solidFill>
              </a:rPr>
              <a:t>int</a:t>
            </a:r>
            <a:r>
              <a:rPr lang="en-US" noProof="1">
                <a:solidFill>
                  <a:schemeClr val="tx1"/>
                </a:solidFill>
              </a:rPr>
              <a:t> sides;</a:t>
            </a:r>
          </a:p>
          <a:p>
            <a:r>
              <a:rPr lang="en-US" noProof="1">
                <a:solidFill>
                  <a:schemeClr val="tx1"/>
                </a:solidFill>
              </a:rPr>
              <a:t>  private </a:t>
            </a:r>
            <a:r>
              <a:rPr lang="en-US" noProof="1">
                <a:solidFill>
                  <a:schemeClr val="bg1"/>
                </a:solidFill>
              </a:rPr>
              <a:t>int[]</a:t>
            </a:r>
            <a:r>
              <a:rPr lang="en-US" noProof="1">
                <a:solidFill>
                  <a:schemeClr val="tx1"/>
                </a:solidFill>
              </a:rPr>
              <a:t> rollFrequency;</a:t>
            </a:r>
          </a:p>
          <a:p>
            <a:r>
              <a:rPr lang="en-US" noProof="1">
                <a:solidFill>
                  <a:schemeClr val="tx1"/>
                </a:solidFill>
              </a:rPr>
              <a:t>  private </a:t>
            </a:r>
            <a:r>
              <a:rPr lang="en-US" noProof="1">
                <a:solidFill>
                  <a:schemeClr val="bg1"/>
                </a:solidFill>
              </a:rPr>
              <a:t>Person</a:t>
            </a:r>
            <a:r>
              <a:rPr lang="en-US" noProof="1">
                <a:solidFill>
                  <a:schemeClr val="tx1"/>
                </a:solidFill>
              </a:rPr>
              <a:t> owner;</a:t>
            </a:r>
          </a:p>
          <a:p>
            <a:r>
              <a:rPr lang="en-US" noProof="1">
                <a:solidFill>
                  <a:schemeClr val="tx1"/>
                </a:solidFill>
              </a:rPr>
              <a:t>  public void Roll </a:t>
            </a:r>
            <a:r>
              <a:rPr lang="en-US" dirty="0">
                <a:solidFill>
                  <a:schemeClr val="tx1"/>
                </a:solidFill>
              </a:rPr>
              <a:t>() { … }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1103088" y="4792615"/>
            <a:ext cx="2286000" cy="914264"/>
          </a:xfrm>
          <a:prstGeom prst="wedgeRoundRectCallout">
            <a:avLst>
              <a:gd name="adj1" fmla="val 67781"/>
              <a:gd name="adj2" fmla="val 1653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</a:rPr>
              <a:t>Fields can be of </a:t>
            </a:r>
            <a:r>
              <a:rPr lang="en-US" sz="2400" b="1" noProof="1">
                <a:solidFill>
                  <a:schemeClr val="bg1"/>
                </a:solidFill>
              </a:rPr>
              <a:t>any type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1361236" y="2632826"/>
            <a:ext cx="2137626" cy="483042"/>
          </a:xfrm>
          <a:prstGeom prst="wedgeRoundRectCallout">
            <a:avLst>
              <a:gd name="adj1" fmla="val 62703"/>
              <a:gd name="adj2" fmla="val 1612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Class modifier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>
            <a:off x="838200" y="3518554"/>
            <a:ext cx="2660663" cy="906391"/>
          </a:xfrm>
          <a:prstGeom prst="wedgeRoundRectCallout">
            <a:avLst>
              <a:gd name="adj1" fmla="val 63322"/>
              <a:gd name="adj2" fmla="val 422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Fields should </a:t>
            </a:r>
            <a:br>
              <a:rPr lang="en-US" sz="2400" b="1" dirty="0">
                <a:solidFill>
                  <a:srgbClr val="FFFFFF"/>
                </a:solidFill>
              </a:rPr>
            </a:br>
            <a:r>
              <a:rPr lang="en-US" sz="2400" b="1" dirty="0">
                <a:solidFill>
                  <a:srgbClr val="FFFFFF"/>
                </a:solidFill>
              </a:rPr>
              <a:t>always be private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750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Used to create </a:t>
            </a:r>
            <a:r>
              <a:rPr lang="en-US" b="1" dirty="0">
                <a:solidFill>
                  <a:schemeClr val="bg1"/>
                </a:solidFill>
              </a:rPr>
              <a:t>accessors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mutators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getters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setters</a:t>
            </a:r>
            <a:r>
              <a:rPr lang="en-US" dirty="0"/>
              <a:t>)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2886774" y="1980796"/>
            <a:ext cx="6415277" cy="449620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public class Dice </a:t>
            </a:r>
          </a:p>
          <a:p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</a:rPr>
              <a:t>  private int sides;</a:t>
            </a:r>
          </a:p>
          <a:p>
            <a:r>
              <a:rPr lang="en-US" dirty="0">
                <a:solidFill>
                  <a:schemeClr val="tx1"/>
                </a:solidFill>
              </a:rPr>
              <a:t>  public int Sides</a:t>
            </a:r>
          </a:p>
          <a:p>
            <a:r>
              <a:rPr lang="en-US" dirty="0">
                <a:solidFill>
                  <a:schemeClr val="tx1"/>
                </a:solidFill>
              </a:rPr>
              <a:t>  {</a:t>
            </a:r>
          </a:p>
          <a:p>
            <a:r>
              <a:rPr lang="en-US" dirty="0">
                <a:solidFill>
                  <a:schemeClr val="tx1"/>
                </a:solidFill>
              </a:rPr>
              <a:t>    public </a:t>
            </a:r>
            <a:r>
              <a:rPr lang="en-US" dirty="0">
                <a:solidFill>
                  <a:schemeClr val="bg1"/>
                </a:solidFill>
              </a:rPr>
              <a:t>get { return this.sides; }</a:t>
            </a:r>
          </a:p>
          <a:p>
            <a:r>
              <a:rPr lang="en-US" dirty="0">
                <a:solidFill>
                  <a:schemeClr val="tx1"/>
                </a:solidFill>
              </a:rPr>
              <a:t>    public </a:t>
            </a:r>
            <a:r>
              <a:rPr lang="en-US" dirty="0">
                <a:solidFill>
                  <a:schemeClr val="bg1"/>
                </a:solidFill>
              </a:rPr>
              <a:t>set { this.sides = value; }</a:t>
            </a:r>
          </a:p>
          <a:p>
            <a:r>
              <a:rPr lang="en-US" dirty="0">
                <a:solidFill>
                  <a:schemeClr val="tx1"/>
                </a:solidFill>
              </a:rPr>
              <a:t>  }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5405767" y="2484916"/>
            <a:ext cx="2640800" cy="522232"/>
          </a:xfrm>
          <a:prstGeom prst="wedgeRoundRectCallout">
            <a:avLst>
              <a:gd name="adj1" fmla="val -56407"/>
              <a:gd name="adj2" fmla="val 440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</a:rPr>
              <a:t>The field</a:t>
            </a:r>
            <a:r>
              <a:rPr lang="bg-BG" sz="2400" b="1" noProof="1">
                <a:solidFill>
                  <a:srgbClr val="FFFFFF"/>
                </a:solidFill>
              </a:rPr>
              <a:t> </a:t>
            </a:r>
            <a:r>
              <a:rPr lang="en-GB" sz="2400" b="1" noProof="1">
                <a:solidFill>
                  <a:srgbClr val="FFFFFF"/>
                </a:solidFill>
              </a:rPr>
              <a:t>is hidden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auto">
          <a:xfrm>
            <a:off x="5943600" y="3568009"/>
            <a:ext cx="2750906" cy="926631"/>
          </a:xfrm>
          <a:prstGeom prst="wedgeRoundRectCallout">
            <a:avLst>
              <a:gd name="adj1" fmla="val -56826"/>
              <a:gd name="adj2" fmla="val 447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b="1" noProof="1">
                <a:solidFill>
                  <a:srgbClr val="FFFFFF"/>
                </a:solidFill>
              </a:rPr>
              <a:t>The getter provides access to the field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5128412" y="5423485"/>
            <a:ext cx="2895600" cy="737974"/>
          </a:xfrm>
          <a:prstGeom prst="wedgeRoundRectCallout">
            <a:avLst>
              <a:gd name="adj1" fmla="val -57732"/>
              <a:gd name="adj2" fmla="val -476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b="1" noProof="1">
                <a:solidFill>
                  <a:srgbClr val="FFFFFF"/>
                </a:solidFill>
              </a:rPr>
              <a:t>The setter provides field change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362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Car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Create a class </a:t>
            </a:r>
            <a:r>
              <a:rPr lang="en-US" b="1" noProof="1">
                <a:solidFill>
                  <a:schemeClr val="bg1"/>
                </a:solidFill>
              </a:rPr>
              <a:t>Car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13" name="Right Arrow 7"/>
          <p:cNvSpPr/>
          <p:nvPr/>
        </p:nvSpPr>
        <p:spPr>
          <a:xfrm>
            <a:off x="3962401" y="3749066"/>
            <a:ext cx="644955" cy="561851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Placeholder 5"/>
          <p:cNvSpPr txBox="1">
            <a:spLocks/>
          </p:cNvSpPr>
          <p:nvPr/>
        </p:nvSpPr>
        <p:spPr>
          <a:xfrm>
            <a:off x="4724400" y="1779998"/>
            <a:ext cx="7269298" cy="477320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GB" sz="2400" dirty="0">
                <a:solidFill>
                  <a:schemeClr val="tx1"/>
                </a:solidFill>
              </a:rPr>
              <a:t>private string make;</a:t>
            </a:r>
          </a:p>
          <a:p>
            <a:r>
              <a:rPr lang="en-GB" sz="2400" dirty="0">
                <a:solidFill>
                  <a:schemeClr val="tx1"/>
                </a:solidFill>
              </a:rPr>
              <a:t>private string model;</a:t>
            </a:r>
          </a:p>
          <a:p>
            <a:r>
              <a:rPr lang="en-GB" sz="2400" dirty="0">
                <a:solidFill>
                  <a:schemeClr val="tx1"/>
                </a:solidFill>
              </a:rPr>
              <a:t>private int year</a:t>
            </a:r>
          </a:p>
          <a:p>
            <a:r>
              <a:rPr lang="en-GB" sz="2400" dirty="0">
                <a:solidFill>
                  <a:schemeClr val="tx1"/>
                </a:solidFill>
              </a:rPr>
              <a:t>public string Make</a:t>
            </a:r>
          </a:p>
          <a:p>
            <a:r>
              <a:rPr lang="en-GB" sz="2400" dirty="0">
                <a:solidFill>
                  <a:schemeClr val="tx1"/>
                </a:solidFill>
              </a:rPr>
              <a:t>{</a:t>
            </a:r>
          </a:p>
          <a:p>
            <a:r>
              <a:rPr lang="en-GB" sz="2400" dirty="0">
                <a:solidFill>
                  <a:schemeClr val="tx1"/>
                </a:solidFill>
              </a:rPr>
              <a:t>  </a:t>
            </a:r>
            <a:r>
              <a:rPr lang="en-GB" sz="2400" noProof="1">
                <a:solidFill>
                  <a:schemeClr val="tx1"/>
                </a:solidFill>
              </a:rPr>
              <a:t>get { return this.make; }</a:t>
            </a:r>
          </a:p>
          <a:p>
            <a:r>
              <a:rPr lang="en-GB" sz="2400" noProof="1">
                <a:solidFill>
                  <a:schemeClr val="tx1"/>
                </a:solidFill>
              </a:rPr>
              <a:t>  set { this.make = value; }</a:t>
            </a:r>
          </a:p>
          <a:p>
            <a:r>
              <a:rPr lang="en-GB" sz="2400" noProof="1">
                <a:solidFill>
                  <a:schemeClr val="tx1"/>
                </a:solidFill>
              </a:rPr>
              <a:t>}</a:t>
            </a:r>
          </a:p>
          <a:p>
            <a:r>
              <a:rPr lang="en-GB" sz="2400" dirty="0">
                <a:solidFill>
                  <a:schemeClr val="accent2"/>
                </a:solidFill>
              </a:rPr>
              <a:t>// TODO: </a:t>
            </a:r>
            <a:r>
              <a:rPr lang="en-GB" sz="2400" i="1" dirty="0">
                <a:solidFill>
                  <a:schemeClr val="accent2"/>
                </a:solidFill>
              </a:rPr>
              <a:t>Balance and Year Getter &amp; Setter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C0D0C5-DE50-42F5-BB3E-238186673420}"/>
              </a:ext>
            </a:extLst>
          </p:cNvPr>
          <p:cNvGrpSpPr/>
          <p:nvPr/>
        </p:nvGrpSpPr>
        <p:grpSpPr>
          <a:xfrm>
            <a:off x="381000" y="2743201"/>
            <a:ext cx="3409452" cy="2746931"/>
            <a:chOff x="398960" y="3005693"/>
            <a:chExt cx="3409452" cy="1925579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54F06C81-BE70-48FD-805E-47C47FB1F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60" y="3005693"/>
              <a:ext cx="3409452" cy="39321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noProof="1">
                  <a:latin typeface="Consolas" panose="020B0609020204030204" pitchFamily="49" charset="0"/>
                </a:rPr>
                <a:t>Car</a:t>
              </a:r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D1337F06-B251-4184-8310-AF4038DD9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60" y="3398904"/>
              <a:ext cx="3409452" cy="934874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noProof="1">
                  <a:latin typeface="Consolas" panose="020B0609020204030204" pitchFamily="49" charset="0"/>
                </a:rPr>
                <a:t>-make:string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noProof="1">
                  <a:latin typeface="Consolas" panose="020B0609020204030204" pitchFamily="49" charset="0"/>
                </a:rPr>
                <a:t>-model:string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noProof="1">
                  <a:latin typeface="Consolas" panose="020B0609020204030204" pitchFamily="49" charset="0"/>
                </a:rPr>
                <a:t>-year:int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400" b="1" noProof="1">
                <a:latin typeface="Consolas" panose="020B0609020204030204" pitchFamily="49" charset="0"/>
              </a:endParaRPr>
            </a:p>
          </p:txBody>
        </p:sp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3C8D661-6035-4BFC-9C09-FF603A4B0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960" y="4335200"/>
              <a:ext cx="3409452" cy="59607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b="1" noProof="1">
                  <a:latin typeface="Consolas" panose="020B0609020204030204" pitchFamily="49" charset="0"/>
                </a:rPr>
                <a:t>(no actions)</a:t>
              </a:r>
            </a:p>
          </p:txBody>
        </p:sp>
      </p:grpSp>
      <p:sp>
        <p:nvSpPr>
          <p:cNvPr id="11" name="Oval 10"/>
          <p:cNvSpPr/>
          <p:nvPr/>
        </p:nvSpPr>
        <p:spPr>
          <a:xfrm>
            <a:off x="2863476" y="1779997"/>
            <a:ext cx="1393951" cy="1450016"/>
          </a:xfrm>
          <a:prstGeom prst="ellipse">
            <a:avLst/>
          </a:prstGeom>
          <a:solidFill>
            <a:schemeClr val="bg2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1367" y="2005922"/>
            <a:ext cx="998167" cy="998167"/>
          </a:xfrm>
          <a:prstGeom prst="rect">
            <a:avLst/>
          </a:prstGeom>
        </p:spPr>
      </p:pic>
      <p:sp>
        <p:nvSpPr>
          <p:cNvPr id="1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721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/>
              <a:t>Defining a Class Behaviour</a:t>
            </a:r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1" y="1524001"/>
            <a:ext cx="3164951" cy="2272509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/>
              <a:t>Methods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566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2001" y="1151122"/>
            <a:ext cx="11804822" cy="5570355"/>
          </a:xfrm>
          <a:prstGeom prst="rect">
            <a:avLst/>
          </a:prstGeom>
        </p:spPr>
        <p:txBody>
          <a:bodyPr/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Store </a:t>
            </a:r>
            <a:r>
              <a:rPr lang="en-US" b="1" dirty="0">
                <a:solidFill>
                  <a:schemeClr val="bg1"/>
                </a:solidFill>
              </a:rPr>
              <a:t>executable code </a:t>
            </a:r>
            <a:r>
              <a:rPr lang="en-US" dirty="0"/>
              <a:t>(an algorithm)</a:t>
            </a:r>
          </a:p>
        </p:txBody>
      </p:sp>
      <p:sp>
        <p:nvSpPr>
          <p:cNvPr id="14" name="Text Placeholder 5"/>
          <p:cNvSpPr txBox="1">
            <a:spLocks/>
          </p:cNvSpPr>
          <p:nvPr/>
        </p:nvSpPr>
        <p:spPr>
          <a:xfrm>
            <a:off x="1693740" y="1856198"/>
            <a:ext cx="8801345" cy="477320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public class Dice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private int sides;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private Random rnd = new Random();</a:t>
            </a:r>
          </a:p>
          <a:p>
            <a:r>
              <a:rPr lang="en-US" sz="2400" dirty="0"/>
              <a:t>  </a:t>
            </a:r>
            <a:r>
              <a:rPr lang="en-US" sz="2400" dirty="0">
                <a:solidFill>
                  <a:schemeClr val="bg1"/>
                </a:solidFill>
              </a:rPr>
              <a:t>public int Roll() {</a:t>
            </a:r>
          </a:p>
          <a:p>
            <a:r>
              <a:rPr lang="en-US" sz="2400" dirty="0"/>
              <a:t>     </a:t>
            </a:r>
            <a:r>
              <a:rPr lang="en-US" sz="2400" dirty="0">
                <a:solidFill>
                  <a:schemeClr val="tx1"/>
                </a:solidFill>
              </a:rPr>
              <a:t>int rollResult = rnd.Next(1, </a:t>
            </a:r>
            <a:r>
              <a:rPr lang="en-US" sz="2400" dirty="0">
                <a:solidFill>
                  <a:schemeClr val="bg1"/>
                </a:solidFill>
              </a:rPr>
              <a:t>this</a:t>
            </a:r>
            <a:r>
              <a:rPr lang="en-US" sz="2400" dirty="0">
                <a:solidFill>
                  <a:schemeClr val="tx1"/>
                </a:solidFill>
              </a:rPr>
              <a:t>.sides + 1); 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return rollResult;</a:t>
            </a:r>
          </a:p>
          <a:p>
            <a:r>
              <a:rPr lang="en-US" sz="2400" dirty="0"/>
              <a:t>  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8458200" y="5029201"/>
            <a:ext cx="2514600" cy="987119"/>
          </a:xfrm>
          <a:prstGeom prst="wedgeRoundRectCallout">
            <a:avLst>
              <a:gd name="adj1" fmla="val -62482"/>
              <a:gd name="adj2" fmla="val -442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b="1" noProof="1">
                <a:solidFill>
                  <a:schemeClr val="bg1"/>
                </a:solidFill>
              </a:rPr>
              <a:t>this</a:t>
            </a:r>
            <a:r>
              <a:rPr lang="en-GB" sz="2400" b="1" noProof="1">
                <a:solidFill>
                  <a:srgbClr val="FFFFFF"/>
                </a:solidFill>
              </a:rPr>
              <a:t> points to the current instance</a:t>
            </a:r>
            <a:endParaRPr lang="en-US" sz="2400" b="1" noProof="1">
              <a:solidFill>
                <a:srgbClr val="FFFFFF"/>
              </a:solidFill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71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Car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92378"/>
            <a:ext cx="11804650" cy="55705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class </a:t>
            </a:r>
            <a:r>
              <a:rPr lang="en-US" b="1" noProof="1">
                <a:solidFill>
                  <a:schemeClr val="bg1"/>
                </a:solidFill>
              </a:rPr>
              <a:t>Car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27545" y="1850959"/>
            <a:ext cx="5424506" cy="4368514"/>
            <a:chOff x="-306388" y="2240208"/>
            <a:chExt cx="3137848" cy="3270950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240208"/>
              <a:ext cx="3137848" cy="43985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Car</a:t>
              </a: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72637"/>
              <a:ext cx="3137848" cy="2006907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-make:string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-model:string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-year:int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-fuelQuantity:double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-fuelConsumption:double</a:t>
              </a:r>
              <a:endParaRPr lang="en-US" dirty="0"/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4679544"/>
              <a:ext cx="3137848" cy="831614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+Drive(double distance):void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+WhoAmI():string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478" y="2286001"/>
            <a:ext cx="4696051" cy="4696051"/>
          </a:xfrm>
          <a:prstGeom prst="rect">
            <a:avLst/>
          </a:prstGeom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4F05E-C0F0-44B7-8F26-8B963B2AB6A7}"/>
              </a:ext>
            </a:extLst>
          </p:cNvPr>
          <p:cNvSpPr txBox="1"/>
          <p:nvPr/>
        </p:nvSpPr>
        <p:spPr>
          <a:xfrm>
            <a:off x="762000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4"/>
              </a:rPr>
              <a:t>https://judge.softuni.bg/Contests/1478/Defining-Classes-Lab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55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1944" y="83333"/>
            <a:ext cx="9503571" cy="882654"/>
          </a:xfrm>
        </p:spPr>
        <p:txBody>
          <a:bodyPr/>
          <a:lstStyle/>
          <a:p>
            <a:r>
              <a:rPr lang="en-US" dirty="0"/>
              <a:t>Solution: Car Extension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295400" y="1228202"/>
            <a:ext cx="9601200" cy="502711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400" i="1" dirty="0">
                <a:solidFill>
                  <a:schemeClr val="accent2"/>
                </a:solidFill>
              </a:rPr>
              <a:t>// </a:t>
            </a:r>
            <a:r>
              <a:rPr lang="en-GB" sz="2400" dirty="0">
                <a:solidFill>
                  <a:schemeClr val="accent2"/>
                </a:solidFill>
              </a:rPr>
              <a:t>TODO:</a:t>
            </a:r>
            <a:r>
              <a:rPr lang="en-GB" sz="2400" i="1" dirty="0">
                <a:solidFill>
                  <a:schemeClr val="accent2"/>
                </a:solidFill>
              </a:rPr>
              <a:t> Get the other fields from previous problem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400" dirty="0">
                <a:solidFill>
                  <a:schemeClr val="tx1"/>
                </a:solidFill>
              </a:rPr>
              <a:t>private </a:t>
            </a:r>
            <a:r>
              <a:rPr lang="en-GB" sz="2400" dirty="0">
                <a:solidFill>
                  <a:schemeClr val="bg1"/>
                </a:solidFill>
              </a:rPr>
              <a:t>double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  <a:r>
              <a:rPr lang="en-US" sz="2400" noProof="1">
                <a:solidFill>
                  <a:schemeClr val="bg1"/>
                </a:solidFill>
              </a:rPr>
              <a:t>fuelQuantity</a:t>
            </a:r>
            <a:r>
              <a:rPr lang="en-US" sz="2400" noProof="1">
                <a:solidFill>
                  <a:schemeClr val="tx1"/>
                </a:solidFill>
              </a:rPr>
              <a:t>;</a:t>
            </a:r>
            <a:endParaRPr lang="en-GB" sz="2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400" dirty="0">
                <a:solidFill>
                  <a:schemeClr val="tx1"/>
                </a:solidFill>
              </a:rPr>
              <a:t>private </a:t>
            </a:r>
            <a:r>
              <a:rPr lang="en-GB" sz="2400" dirty="0">
                <a:solidFill>
                  <a:schemeClr val="bg1"/>
                </a:solidFill>
              </a:rPr>
              <a:t>double </a:t>
            </a:r>
            <a:r>
              <a:rPr lang="en-GB" sz="2400" noProof="1">
                <a:solidFill>
                  <a:schemeClr val="bg1"/>
                </a:solidFill>
              </a:rPr>
              <a:t>fuelConsumption</a:t>
            </a:r>
            <a:r>
              <a:rPr lang="en-GB" sz="2400" dirty="0">
                <a:solidFill>
                  <a:schemeClr val="tx1"/>
                </a:solidFill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400" i="1" dirty="0">
                <a:solidFill>
                  <a:schemeClr val="accent2"/>
                </a:solidFill>
              </a:rPr>
              <a:t>// </a:t>
            </a:r>
            <a:r>
              <a:rPr lang="en-GB" sz="2400" dirty="0">
                <a:solidFill>
                  <a:schemeClr val="accent2"/>
                </a:solidFill>
              </a:rPr>
              <a:t>TODO:</a:t>
            </a:r>
            <a:r>
              <a:rPr lang="en-GB" sz="2400" i="1" dirty="0">
                <a:solidFill>
                  <a:schemeClr val="accent2"/>
                </a:solidFill>
              </a:rPr>
              <a:t> Get the other properties from previous problem</a:t>
            </a:r>
          </a:p>
          <a:p>
            <a:r>
              <a:rPr lang="en-GB" sz="2400" dirty="0">
                <a:solidFill>
                  <a:schemeClr val="tx1"/>
                </a:solidFill>
              </a:rPr>
              <a:t>public </a:t>
            </a:r>
            <a:r>
              <a:rPr lang="en-GB" sz="2400" dirty="0">
                <a:solidFill>
                  <a:schemeClr val="bg1"/>
                </a:solidFill>
              </a:rPr>
              <a:t>double </a:t>
            </a:r>
            <a:r>
              <a:rPr lang="en-US" sz="2400" noProof="1">
                <a:solidFill>
                  <a:schemeClr val="bg1"/>
                </a:solidFill>
              </a:rPr>
              <a:t>FuelQuantity </a:t>
            </a:r>
            <a:r>
              <a:rPr lang="en-GB" sz="2400" dirty="0">
                <a:solidFill>
                  <a:schemeClr val="tx1"/>
                </a:solidFill>
              </a:rPr>
              <a:t>{</a:t>
            </a:r>
          </a:p>
          <a:p>
            <a:r>
              <a:rPr lang="en-GB" sz="2400" dirty="0">
                <a:solidFill>
                  <a:schemeClr val="tx1"/>
                </a:solidFill>
              </a:rPr>
              <a:t>  get { return this.</a:t>
            </a:r>
            <a:r>
              <a:rPr lang="en-US" sz="2400" noProof="1">
                <a:solidFill>
                  <a:schemeClr val="tx1"/>
                </a:solidFill>
              </a:rPr>
              <a:t>fuelQuantity</a:t>
            </a:r>
            <a:r>
              <a:rPr lang="en-GB" sz="2400" dirty="0">
                <a:solidFill>
                  <a:schemeClr val="tx1"/>
                </a:solidFill>
              </a:rPr>
              <a:t>; }</a:t>
            </a:r>
          </a:p>
          <a:p>
            <a:r>
              <a:rPr lang="en-GB" sz="2400" dirty="0">
                <a:solidFill>
                  <a:schemeClr val="tx1"/>
                </a:solidFill>
              </a:rPr>
              <a:t>  set { this.</a:t>
            </a:r>
            <a:r>
              <a:rPr lang="en-US" sz="2400" noProof="1">
                <a:solidFill>
                  <a:schemeClr val="tx1"/>
                </a:solidFill>
              </a:rPr>
              <a:t>fuelQuantity</a:t>
            </a:r>
            <a:r>
              <a:rPr lang="en-GB" sz="2400" dirty="0">
                <a:solidFill>
                  <a:schemeClr val="tx1"/>
                </a:solidFill>
              </a:rPr>
              <a:t> = value; }}</a:t>
            </a:r>
          </a:p>
          <a:p>
            <a:r>
              <a:rPr lang="en-GB" sz="2400" dirty="0">
                <a:solidFill>
                  <a:schemeClr val="tx1"/>
                </a:solidFill>
              </a:rPr>
              <a:t>public </a:t>
            </a:r>
            <a:r>
              <a:rPr lang="en-GB" sz="2400" dirty="0">
                <a:solidFill>
                  <a:schemeClr val="bg1"/>
                </a:solidFill>
              </a:rPr>
              <a:t>double </a:t>
            </a:r>
            <a:r>
              <a:rPr lang="en-GB" sz="2400" noProof="1">
                <a:solidFill>
                  <a:schemeClr val="bg1"/>
                </a:solidFill>
              </a:rPr>
              <a:t>FuelConsumption </a:t>
            </a:r>
            <a:r>
              <a:rPr lang="en-GB" sz="2400" dirty="0">
                <a:solidFill>
                  <a:schemeClr val="tx1"/>
                </a:solidFill>
              </a:rPr>
              <a:t>{</a:t>
            </a:r>
          </a:p>
          <a:p>
            <a:r>
              <a:rPr lang="en-GB" sz="2400" dirty="0">
                <a:solidFill>
                  <a:schemeClr val="tx1"/>
                </a:solidFill>
              </a:rPr>
              <a:t>  get { return </a:t>
            </a:r>
            <a:r>
              <a:rPr lang="en-GB" sz="2400" noProof="1">
                <a:solidFill>
                  <a:schemeClr val="tx1"/>
                </a:solidFill>
              </a:rPr>
              <a:t>this.fuelConsumption</a:t>
            </a:r>
            <a:r>
              <a:rPr lang="en-GB" sz="2400" dirty="0">
                <a:solidFill>
                  <a:schemeClr val="tx1"/>
                </a:solidFill>
              </a:rPr>
              <a:t>; }</a:t>
            </a:r>
          </a:p>
          <a:p>
            <a:r>
              <a:rPr lang="en-GB" sz="2400" dirty="0">
                <a:solidFill>
                  <a:schemeClr val="tx1"/>
                </a:solidFill>
              </a:rPr>
              <a:t>  set { </a:t>
            </a:r>
            <a:r>
              <a:rPr lang="en-GB" sz="2400" noProof="1">
                <a:solidFill>
                  <a:schemeClr val="tx1"/>
                </a:solidFill>
              </a:rPr>
              <a:t>this.fuelConsumption</a:t>
            </a:r>
            <a:r>
              <a:rPr lang="en-GB" sz="2400" dirty="0">
                <a:solidFill>
                  <a:schemeClr val="tx1"/>
                </a:solidFill>
              </a:rPr>
              <a:t> = value; }}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011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81001" y="1905001"/>
            <a:ext cx="11499089" cy="35392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public </a:t>
            </a:r>
            <a:r>
              <a:rPr lang="en-US" dirty="0">
                <a:solidFill>
                  <a:schemeClr val="bg1"/>
                </a:solidFill>
              </a:rPr>
              <a:t>void Drive(double distance)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bool canContinue = this.FuelQuantity – (distance *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        this.FuelConsumption) &gt;= 0;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if(canContionue)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    this.FuelQuantity -= distance * this.FuelConsumption;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else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    Console.WriteLine("Not enough fuel to perform this trip!");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Car Extension (2)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3605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52600" y="1447800"/>
            <a:ext cx="8610600" cy="491882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public </a:t>
            </a:r>
            <a:r>
              <a:rPr lang="en-US" dirty="0">
                <a:solidFill>
                  <a:schemeClr val="bg1"/>
                </a:solidFill>
              </a:rPr>
              <a:t>string WhoAmI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StringBuilder sb = new StringBuilder();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sb.AppendLine($"Make: {this.Make}");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sb.AppendLine($"Model: {this.Model}");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sb.AppendLine($"Year: {this.Year}");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sb.Append($"Fuel: {this.FuelQuantity:F2}L");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return sb.ToString();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Car Extension (3)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9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GB"/>
              <a:t>Object Initialization</a:t>
            </a:r>
            <a:endParaRPr 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749" y="1395069"/>
            <a:ext cx="2970505" cy="22200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730" y="762000"/>
            <a:ext cx="3670540" cy="3670540"/>
          </a:xfrm>
          <a:prstGeom prst="rect">
            <a:avLst/>
          </a:prstGeom>
        </p:spPr>
      </p:pic>
      <p:sp>
        <p:nvSpPr>
          <p:cNvPr id="7" name="Subtitle 6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GB"/>
              <a:t>Constructors</a:t>
            </a:r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647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001000" y="1121143"/>
            <a:ext cx="9994234" cy="5546589"/>
          </a:xfrm>
        </p:spPr>
        <p:txBody>
          <a:bodyPr/>
          <a:lstStyle/>
          <a:p>
            <a:r>
              <a:rPr lang="en-GB" dirty="0"/>
              <a:t>When a constructor is invoked, it creates an instance of its class and usually initializes its members</a:t>
            </a:r>
          </a:p>
          <a:p>
            <a:r>
              <a:rPr lang="en-GB" dirty="0"/>
              <a:t>Classes in C# are instantiated with the </a:t>
            </a:r>
            <a:r>
              <a:rPr lang="en-GB" b="1" dirty="0">
                <a:solidFill>
                  <a:schemeClr val="bg1"/>
                </a:solidFill>
              </a:rPr>
              <a:t>keyword new</a:t>
            </a:r>
          </a:p>
          <a:p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209800" y="3505200"/>
            <a:ext cx="3962400" cy="230977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367200" tIns="183600" rIns="367200" bIns="1836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public class Dice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bg-BG" sz="2400" dirty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tx1"/>
                </a:solidFill>
              </a:rPr>
              <a:t>public </a:t>
            </a:r>
            <a:r>
              <a:rPr lang="en-US" sz="2400" dirty="0">
                <a:solidFill>
                  <a:schemeClr val="bg1"/>
                </a:solidFill>
              </a:rPr>
              <a:t>Dice() </a:t>
            </a:r>
            <a:r>
              <a:rPr lang="en-US" sz="2400" dirty="0">
                <a:solidFill>
                  <a:schemeClr val="tx1"/>
                </a:solidFill>
              </a:rPr>
              <a:t>{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}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6857683" y="3243590"/>
            <a:ext cx="4741812" cy="283299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367200" tIns="183600" rIns="367200" bIns="1836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public class </a:t>
            </a:r>
            <a:r>
              <a:rPr lang="en-US" sz="2400" noProof="1">
                <a:solidFill>
                  <a:schemeClr val="tx1"/>
                </a:solidFill>
              </a:rPr>
              <a:t>StartUp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static void Main() {</a:t>
            </a:r>
          </a:p>
          <a:p>
            <a:r>
              <a:rPr lang="bg-BG" sz="2400" dirty="0">
                <a:solidFill>
                  <a:schemeClr val="tx1"/>
                </a:solidFill>
              </a:rPr>
              <a:t>  </a:t>
            </a:r>
            <a:r>
              <a:rPr lang="en-US" sz="2400" noProof="1">
                <a:solidFill>
                  <a:schemeClr val="tx1"/>
                </a:solidFill>
              </a:rPr>
              <a:t>var</a:t>
            </a:r>
            <a:r>
              <a:rPr lang="en-US" sz="2400" dirty="0">
                <a:solidFill>
                  <a:schemeClr val="tx1"/>
                </a:solidFill>
              </a:rPr>
              <a:t> dice = </a:t>
            </a:r>
            <a:r>
              <a:rPr lang="en-US" sz="2400" dirty="0">
                <a:solidFill>
                  <a:schemeClr val="bg1"/>
                </a:solidFill>
              </a:rPr>
              <a:t>new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Dice()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16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Initial State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554286" y="1856198"/>
            <a:ext cx="7275514" cy="477320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public class Dice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noProof="1">
                <a:solidFill>
                  <a:schemeClr val="tx1"/>
                </a:solidFill>
              </a:rPr>
              <a:t>int sides;</a:t>
            </a:r>
          </a:p>
          <a:p>
            <a:r>
              <a:rPr lang="en-US" sz="2400" noProof="1">
                <a:solidFill>
                  <a:schemeClr val="tx1"/>
                </a:solidFill>
              </a:rPr>
              <a:t>  int[] rollFrequency;</a:t>
            </a:r>
          </a:p>
          <a:p>
            <a:r>
              <a:rPr lang="en-US" sz="2400" noProof="1">
                <a:solidFill>
                  <a:schemeClr val="tx1"/>
                </a:solidFill>
              </a:rPr>
              <a:t>  public </a:t>
            </a:r>
            <a:r>
              <a:rPr lang="en-US" sz="2400" noProof="1">
                <a:solidFill>
                  <a:schemeClr val="bg1"/>
                </a:solidFill>
              </a:rPr>
              <a:t>Dice(</a:t>
            </a:r>
            <a:r>
              <a:rPr lang="en-US" sz="2400" noProof="1">
                <a:solidFill>
                  <a:schemeClr val="tx1"/>
                </a:solidFill>
              </a:rPr>
              <a:t>int sides</a:t>
            </a:r>
            <a:r>
              <a:rPr lang="en-US" sz="2400" noProof="1">
                <a:solidFill>
                  <a:schemeClr val="bg1"/>
                </a:solidFill>
              </a:rPr>
              <a:t>) </a:t>
            </a:r>
            <a:r>
              <a:rPr lang="en-US" sz="2400" noProof="1">
                <a:solidFill>
                  <a:schemeClr val="tx1"/>
                </a:solidFill>
              </a:rPr>
              <a:t>{</a:t>
            </a:r>
          </a:p>
          <a:p>
            <a:r>
              <a:rPr lang="en-US" sz="2400" noProof="1">
                <a:solidFill>
                  <a:schemeClr val="tx1"/>
                </a:solidFill>
              </a:rPr>
              <a:t>    this.sides = sides;</a:t>
            </a:r>
          </a:p>
          <a:p>
            <a:r>
              <a:rPr lang="en-US" sz="2400" noProof="1">
                <a:solidFill>
                  <a:schemeClr val="tx1"/>
                </a:solidFill>
              </a:rPr>
              <a:t>    this.rollFrequency =</a:t>
            </a:r>
            <a:r>
              <a:rPr lang="en-US" sz="2400" noProof="1"/>
              <a:t> </a:t>
            </a:r>
            <a:r>
              <a:rPr lang="en-US" sz="2400" noProof="1">
                <a:solidFill>
                  <a:schemeClr val="bg1"/>
                </a:solidFill>
              </a:rPr>
              <a:t>new int[</a:t>
            </a:r>
            <a:r>
              <a:rPr lang="en-US" sz="2400" noProof="1">
                <a:solidFill>
                  <a:schemeClr val="tx1"/>
                </a:solidFill>
              </a:rPr>
              <a:t>sides</a:t>
            </a:r>
            <a:r>
              <a:rPr lang="en-US" sz="2400" noProof="1">
                <a:solidFill>
                  <a:schemeClr val="bg1"/>
                </a:solidFill>
              </a:rPr>
              <a:t>]</a:t>
            </a:r>
            <a:r>
              <a:rPr lang="en-US" sz="2400" noProof="1">
                <a:solidFill>
                  <a:schemeClr val="tx1"/>
                </a:solidFill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588" y="1150939"/>
            <a:ext cx="11804650" cy="5570537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Constructors </a:t>
            </a:r>
            <a:r>
              <a:rPr lang="en-GB" b="1" dirty="0">
                <a:solidFill>
                  <a:schemeClr val="bg1"/>
                </a:solidFill>
              </a:rPr>
              <a:t>set object's initial state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C8CAFC6-6E07-470E-897F-17B6522DC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010" y="3691485"/>
            <a:ext cx="2230006" cy="950226"/>
          </a:xfrm>
          <a:prstGeom prst="wedgeRoundRectCallout">
            <a:avLst>
              <a:gd name="adj1" fmla="val -60817"/>
              <a:gd name="adj2" fmla="val 5027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chemeClr val="bg2"/>
                </a:solidFill>
              </a:rPr>
              <a:t>Always ensure </a:t>
            </a:r>
            <a:r>
              <a:rPr lang="en-US" sz="2400" b="1" noProof="1">
                <a:solidFill>
                  <a:schemeClr val="bg1"/>
                </a:solidFill>
              </a:rPr>
              <a:t>correct state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252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B3006CF-4481-40D3-8844-B75642BAB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You can have multiple constructors in the same class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Constructors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3533379" y="1872331"/>
            <a:ext cx="4741069" cy="4773203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public class Dice 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private </a:t>
            </a:r>
            <a:r>
              <a:rPr lang="en-US" sz="2400" noProof="1">
                <a:solidFill>
                  <a:schemeClr val="tx1"/>
                </a:solidFill>
              </a:rPr>
              <a:t>int</a:t>
            </a:r>
            <a:r>
              <a:rPr lang="en-US" sz="2400" dirty="0">
                <a:solidFill>
                  <a:schemeClr val="tx1"/>
                </a:solidFill>
              </a:rPr>
              <a:t> sides;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public </a:t>
            </a:r>
            <a:r>
              <a:rPr lang="en-US" sz="2400" dirty="0">
                <a:solidFill>
                  <a:schemeClr val="bg1"/>
                </a:solidFill>
              </a:rPr>
              <a:t>Dice() </a:t>
            </a:r>
            <a:r>
              <a:rPr lang="en-US" sz="2400" dirty="0">
                <a:solidFill>
                  <a:schemeClr val="tx1"/>
                </a:solidFill>
              </a:rPr>
              <a:t>{ }</a:t>
            </a:r>
          </a:p>
          <a:p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 public </a:t>
            </a:r>
            <a:r>
              <a:rPr lang="en-US" sz="2400" dirty="0">
                <a:solidFill>
                  <a:schemeClr val="bg1"/>
                </a:solidFill>
              </a:rPr>
              <a:t>Dice(</a:t>
            </a:r>
            <a:r>
              <a:rPr lang="en-US" sz="2400" dirty="0">
                <a:solidFill>
                  <a:schemeClr val="tx1"/>
                </a:solidFill>
              </a:rPr>
              <a:t>int sides</a:t>
            </a:r>
            <a:r>
              <a:rPr lang="en-US" sz="2400" dirty="0">
                <a:solidFill>
                  <a:schemeClr val="bg1"/>
                </a:solidFill>
              </a:rPr>
              <a:t>)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this.sides = sides;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}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077201" y="3962401"/>
            <a:ext cx="2428063" cy="1051947"/>
          </a:xfrm>
          <a:prstGeom prst="wedgeRoundRectCallout">
            <a:avLst>
              <a:gd name="adj1" fmla="val -59999"/>
              <a:gd name="adj2" fmla="val -2305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chemeClr val="bg2"/>
                </a:solidFill>
              </a:rPr>
              <a:t>Constructor </a:t>
            </a:r>
            <a:r>
              <a:rPr lang="en-US" sz="2400" b="1" noProof="1">
                <a:solidFill>
                  <a:schemeClr val="bg1"/>
                </a:solidFill>
              </a:rPr>
              <a:t>with</a:t>
            </a:r>
            <a:r>
              <a:rPr lang="en-US" sz="2400" b="1" noProof="1">
                <a:solidFill>
                  <a:schemeClr val="bg2"/>
                </a:solidFill>
              </a:rPr>
              <a:t> parameters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7391400" y="2767414"/>
            <a:ext cx="2883098" cy="856884"/>
          </a:xfrm>
          <a:prstGeom prst="wedgeRoundRectCallout">
            <a:avLst>
              <a:gd name="adj1" fmla="val -58777"/>
              <a:gd name="adj2" fmla="val 4154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chemeClr val="bg2"/>
                </a:solidFill>
              </a:rPr>
              <a:t>Constructor </a:t>
            </a:r>
            <a:r>
              <a:rPr lang="en-US" sz="2400" b="1" noProof="1">
                <a:solidFill>
                  <a:schemeClr val="bg1"/>
                </a:solidFill>
              </a:rPr>
              <a:t>without</a:t>
            </a:r>
            <a:r>
              <a:rPr lang="en-US" sz="2400" b="1" noProof="1">
                <a:solidFill>
                  <a:schemeClr val="bg2"/>
                </a:solidFill>
              </a:rPr>
              <a:t> parameters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988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494331-CA81-4B33-B639-B062DD5D6F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41" y="1196125"/>
            <a:ext cx="11815018" cy="5201066"/>
          </a:xfrm>
        </p:spPr>
        <p:txBody>
          <a:bodyPr/>
          <a:lstStyle/>
          <a:p>
            <a:r>
              <a:rPr lang="en-GB" dirty="0"/>
              <a:t>Constructors can call each other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Chaining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3352800" y="1752600"/>
            <a:ext cx="5615924" cy="49886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dirty="0">
                <a:solidFill>
                  <a:schemeClr val="tx1"/>
                </a:solidFill>
              </a:rPr>
              <a:t>public class Person {</a:t>
            </a:r>
          </a:p>
          <a:p>
            <a:r>
              <a:rPr lang="en-US" dirty="0">
                <a:solidFill>
                  <a:schemeClr val="tx1"/>
                </a:solidFill>
              </a:rPr>
              <a:t>  private string name;</a:t>
            </a:r>
          </a:p>
          <a:p>
            <a:r>
              <a:rPr lang="en-US" dirty="0">
                <a:solidFill>
                  <a:schemeClr val="tx1"/>
                </a:solidFill>
              </a:rPr>
              <a:t>  private </a:t>
            </a:r>
            <a:r>
              <a:rPr lang="en-US" noProof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age;</a:t>
            </a:r>
          </a:p>
          <a:p>
            <a:r>
              <a:rPr lang="en-US" dirty="0">
                <a:solidFill>
                  <a:schemeClr val="tx1"/>
                </a:solidFill>
              </a:rPr>
              <a:t>  public </a:t>
            </a:r>
            <a:r>
              <a:rPr lang="en-US" dirty="0">
                <a:solidFill>
                  <a:schemeClr val="bg1"/>
                </a:solidFill>
              </a:rPr>
              <a:t>Person()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noProof="1">
                <a:solidFill>
                  <a:schemeClr val="tx1"/>
                </a:solidFill>
              </a:rPr>
              <a:t>    this.age = 18;</a:t>
            </a:r>
          </a:p>
          <a:p>
            <a:r>
              <a:rPr lang="en-US" dirty="0">
                <a:solidFill>
                  <a:schemeClr val="tx1"/>
                </a:solidFill>
              </a:rPr>
              <a:t>  }</a:t>
            </a:r>
          </a:p>
          <a:p>
            <a:r>
              <a:rPr lang="en-US" dirty="0">
                <a:solidFill>
                  <a:schemeClr val="tx1"/>
                </a:solidFill>
              </a:rPr>
              <a:t>  public Person(string name) : </a:t>
            </a:r>
            <a:r>
              <a:rPr lang="en-US" dirty="0">
                <a:solidFill>
                  <a:schemeClr val="bg1"/>
                </a:solidFill>
              </a:rPr>
              <a:t>this()                   </a:t>
            </a:r>
            <a:r>
              <a:rPr lang="bg-BG" dirty="0">
                <a:solidFill>
                  <a:schemeClr val="bg1"/>
                </a:solidFill>
              </a:rPr>
              <a:t>       </a:t>
            </a:r>
            <a:br>
              <a:rPr lang="bg-BG" dirty="0">
                <a:solidFill>
                  <a:schemeClr val="bg1"/>
                </a:solidFill>
              </a:rPr>
            </a:br>
            <a:r>
              <a:rPr lang="bg-BG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</a:rPr>
              <a:t>    this.name = name;</a:t>
            </a:r>
          </a:p>
          <a:p>
            <a:r>
              <a:rPr lang="en-US" dirty="0">
                <a:solidFill>
                  <a:schemeClr val="tx1"/>
                </a:solidFill>
              </a:rPr>
              <a:t>  }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153400" y="5040941"/>
            <a:ext cx="2021056" cy="904169"/>
          </a:xfrm>
          <a:prstGeom prst="wedgeRoundRectCallout">
            <a:avLst>
              <a:gd name="adj1" fmla="val -59723"/>
              <a:gd name="adj2" fmla="val -3949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chemeClr val="bg2"/>
                </a:solidFill>
              </a:rPr>
              <a:t>Calls default constructor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31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Car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1287464"/>
            <a:ext cx="10818812" cy="442753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Extend the previous problem and </a:t>
            </a:r>
            <a:r>
              <a:rPr lang="en-US" b="1" dirty="0">
                <a:solidFill>
                  <a:schemeClr val="bg1"/>
                </a:solidFill>
              </a:rPr>
              <a:t>create 3 constructors</a:t>
            </a:r>
          </a:p>
          <a:p>
            <a:pPr>
              <a:lnSpc>
                <a:spcPct val="100000"/>
              </a:lnSpc>
            </a:pPr>
            <a:r>
              <a:rPr lang="en-US" dirty="0"/>
              <a:t>Default values are:</a:t>
            </a:r>
          </a:p>
          <a:p>
            <a:pPr lvl="1">
              <a:lnSpc>
                <a:spcPct val="100000"/>
              </a:lnSpc>
            </a:pPr>
            <a:r>
              <a:rPr lang="en-US" sz="3398" dirty="0"/>
              <a:t>Make - VW</a:t>
            </a:r>
          </a:p>
          <a:p>
            <a:pPr lvl="1">
              <a:lnSpc>
                <a:spcPct val="100000"/>
              </a:lnSpc>
            </a:pPr>
            <a:r>
              <a:rPr lang="en-US" sz="3398" dirty="0"/>
              <a:t>Model - Golf</a:t>
            </a:r>
          </a:p>
          <a:p>
            <a:pPr lvl="1">
              <a:lnSpc>
                <a:spcPct val="100000"/>
              </a:lnSpc>
            </a:pPr>
            <a:r>
              <a:rPr lang="en-US" sz="3398" dirty="0"/>
              <a:t>Year - 2025</a:t>
            </a:r>
          </a:p>
          <a:p>
            <a:pPr lvl="1">
              <a:lnSpc>
                <a:spcPct val="100000"/>
              </a:lnSpc>
            </a:pPr>
            <a:r>
              <a:rPr lang="en-US" sz="3398" noProof="1"/>
              <a:t>FuelQuantity = 200</a:t>
            </a:r>
          </a:p>
          <a:p>
            <a:pPr lvl="1">
              <a:lnSpc>
                <a:spcPct val="100000"/>
              </a:lnSpc>
            </a:pPr>
            <a:r>
              <a:rPr lang="en-US" sz="3398" noProof="1"/>
              <a:t>FuelConsumption = 10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903913" y="2133600"/>
            <a:ext cx="5679524" cy="4119626"/>
            <a:chOff x="-306388" y="2240208"/>
            <a:chExt cx="3137848" cy="3084594"/>
          </a:xfrm>
        </p:grpSpPr>
        <p:sp>
          <p:nvSpPr>
            <p:cNvPr id="15" name="Rectangle 3"/>
            <p:cNvSpPr>
              <a:spLocks noChangeArrowheads="1"/>
            </p:cNvSpPr>
            <p:nvPr/>
          </p:nvSpPr>
          <p:spPr bwMode="auto">
            <a:xfrm>
              <a:off x="-306388" y="2240208"/>
              <a:ext cx="3137848" cy="43985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Car</a:t>
              </a:r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-306388" y="2672637"/>
              <a:ext cx="3137848" cy="2652165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Consolas" panose="020B0609020204030204" pitchFamily="49" charset="0"/>
                </a:rPr>
                <a:t>+Car()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Consolas" panose="020B0609020204030204" pitchFamily="49" charset="0"/>
                </a:rPr>
                <a:t>+Car(string make, string model, int year)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>
                  <a:latin typeface="Consolas" panose="020B0609020204030204" pitchFamily="49" charset="0"/>
                </a:rPr>
                <a:t>+Car(string make, string model, </a:t>
              </a:r>
              <a:r>
                <a:rPr lang="en-US" sz="2400" b="1" noProof="1">
                  <a:latin typeface="Consolas" panose="020B0609020204030204" pitchFamily="49" charset="0"/>
                </a:rPr>
                <a:t>int</a:t>
              </a:r>
              <a:r>
                <a:rPr lang="en-US" sz="2400" b="1" dirty="0">
                  <a:latin typeface="Consolas" panose="020B0609020204030204" pitchFamily="49" charset="0"/>
                </a:rPr>
                <a:t> year</a:t>
              </a:r>
              <a:r>
                <a:rPr lang="en-US" sz="2400" b="1" noProof="1">
                  <a:latin typeface="Consolas" panose="020B0609020204030204" pitchFamily="49" charset="0"/>
                </a:rPr>
                <a:t>, double fuelQuantity, double fuelConsumption)</a:t>
              </a:r>
            </a:p>
          </p:txBody>
        </p:sp>
      </p:grpSp>
      <p:sp>
        <p:nvSpPr>
          <p:cNvPr id="8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257C6-1F5B-40A5-9DCB-454C403C65A7}"/>
              </a:ext>
            </a:extLst>
          </p:cNvPr>
          <p:cNvSpPr txBox="1"/>
          <p:nvPr/>
        </p:nvSpPr>
        <p:spPr>
          <a:xfrm>
            <a:off x="762000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3"/>
              </a:rPr>
              <a:t>https://judge.softuni.bg/Contests/1478/Defining-Classes-Lab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77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Car Constructors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143000" y="1173118"/>
            <a:ext cx="10287000" cy="49886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sz="2200" noProof="1">
                <a:solidFill>
                  <a:schemeClr val="tx1"/>
                </a:solidFill>
              </a:rPr>
              <a:t>public Car() {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this.Make = "VW";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this.Model = "Golf";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this.Year = 2025;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this.FuelQuantity = 200;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this.FuelConsumption = 10;}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public Car(string make, string model, int year) : this() {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    this.Make = make;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    this.Model = model;</a:t>
            </a:r>
          </a:p>
          <a:p>
            <a:r>
              <a:rPr lang="en-US" sz="2200" noProof="1">
                <a:solidFill>
                  <a:schemeClr val="tx1"/>
                </a:solidFill>
              </a:rPr>
              <a:t>      this.Year = year;}  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205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828801" y="1981201"/>
            <a:ext cx="8527289" cy="368437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public Car(string make, string model, </a:t>
            </a:r>
            <a:r>
              <a:rPr lang="en-US" sz="2400" dirty="0" err="1"/>
              <a:t>int</a:t>
            </a:r>
            <a:r>
              <a:rPr lang="en-US" sz="2400" dirty="0"/>
              <a:t> year, </a:t>
            </a:r>
            <a:br>
              <a:rPr lang="en-US" sz="2400" dirty="0"/>
            </a:br>
            <a:r>
              <a:rPr lang="en-US" sz="2400" dirty="0"/>
              <a:t>double </a:t>
            </a:r>
            <a:r>
              <a:rPr lang="en-US" sz="2400" dirty="0" err="1"/>
              <a:t>fuelQuantity</a:t>
            </a:r>
            <a:r>
              <a:rPr lang="en-US" sz="2400" dirty="0"/>
              <a:t>, double </a:t>
            </a:r>
            <a:r>
              <a:rPr lang="en-US" sz="2400" dirty="0" err="1"/>
              <a:t>fuelConsumption</a:t>
            </a:r>
            <a:r>
              <a:rPr lang="en-US" sz="24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  : this(make, model, year)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  </a:t>
            </a:r>
            <a:r>
              <a:rPr lang="en-US" sz="2400" dirty="0" err="1"/>
              <a:t>this.FuelQuantity</a:t>
            </a:r>
            <a:r>
              <a:rPr lang="en-US" sz="2400" dirty="0"/>
              <a:t> = </a:t>
            </a:r>
            <a:r>
              <a:rPr lang="en-US" sz="2400" dirty="0" err="1"/>
              <a:t>fuelQuantity</a:t>
            </a:r>
            <a:r>
              <a:rPr lang="en-US" sz="2400" dirty="0"/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  </a:t>
            </a:r>
            <a:r>
              <a:rPr lang="en-US" sz="2400" dirty="0" err="1"/>
              <a:t>this.FuelConsumption</a:t>
            </a:r>
            <a:r>
              <a:rPr lang="en-US" sz="2400" dirty="0"/>
              <a:t> = </a:t>
            </a:r>
            <a:r>
              <a:rPr lang="en-US" sz="2400" dirty="0" err="1"/>
              <a:t>fuelConsumption</a:t>
            </a:r>
            <a:r>
              <a:rPr lang="en-US" sz="2400" dirty="0"/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}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Car Constructors(2)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503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91942" y="1196126"/>
            <a:ext cx="11161859" cy="785075"/>
          </a:xfrm>
        </p:spPr>
        <p:txBody>
          <a:bodyPr>
            <a:normAutofit/>
          </a:bodyPr>
          <a:lstStyle/>
          <a:p>
            <a:r>
              <a:rPr lang="en-US" dirty="0"/>
              <a:t>Create the two classes  and extend the Car class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Car Engine and Tires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600200" y="1877589"/>
            <a:ext cx="4495800" cy="2642240"/>
            <a:chOff x="-306388" y="2240208"/>
            <a:chExt cx="3137848" cy="1971603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-306388" y="2240208"/>
              <a:ext cx="3137848" cy="43985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Engine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-306388" y="2672637"/>
              <a:ext cx="3137848" cy="831614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-horsePower:int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-cubicCapacity:double</a:t>
              </a: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-306388" y="3495422"/>
              <a:ext cx="3137848" cy="716389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+Engine(int horsePower, </a:t>
              </a:r>
              <a:br>
                <a:rPr lang="en-US" sz="2400" b="1" noProof="1">
                  <a:latin typeface="Consolas" pitchFamily="49" charset="0"/>
                </a:rPr>
              </a:br>
              <a:r>
                <a:rPr lang="en-US" sz="2400" b="1" noProof="1">
                  <a:latin typeface="Consolas" pitchFamily="49" charset="0"/>
                </a:rPr>
                <a:t>double cubicCapacity)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72200" y="1877589"/>
            <a:ext cx="4495800" cy="2642240"/>
            <a:chOff x="-306388" y="2240208"/>
            <a:chExt cx="3137848" cy="1978393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-306388" y="2240208"/>
              <a:ext cx="3137848" cy="43985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Tire</a:t>
              </a:r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-306388" y="2672637"/>
              <a:ext cx="3137848" cy="831614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-year:int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-pressure:double</a:t>
              </a:r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-306388" y="3502212"/>
              <a:ext cx="3137848" cy="716389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+ Tire(int year, </a:t>
              </a:r>
              <a:br>
                <a:rPr lang="en-US" sz="2400" b="1" noProof="1">
                  <a:latin typeface="Consolas" pitchFamily="49" charset="0"/>
                </a:rPr>
              </a:br>
              <a:r>
                <a:rPr lang="en-US" sz="2400" b="1" noProof="1">
                  <a:latin typeface="Consolas" pitchFamily="49" charset="0"/>
                </a:rPr>
                <a:t>double pressure)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86000" y="4619234"/>
            <a:ext cx="7772400" cy="1781567"/>
            <a:chOff x="-306388" y="2240207"/>
            <a:chExt cx="3935606" cy="1691472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-306388" y="2240207"/>
              <a:ext cx="3935606" cy="557734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defTabSz="1218438" latinLnBrk="1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b="1" noProof="1">
                  <a:latin typeface="Consolas" pitchFamily="49" charset="0"/>
                </a:rPr>
                <a:t>Car</a:t>
              </a:r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-306388" y="2672636"/>
              <a:ext cx="3935606" cy="125904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r>
                <a:rPr lang="en-US" sz="2400" b="1" dirty="0">
                  <a:latin typeface="Consolas" panose="020B0609020204030204" pitchFamily="49" charset="0"/>
                </a:rPr>
                <a:t>+Car(string make, string model, int year, </a:t>
              </a:r>
              <a:br>
                <a:rPr lang="en-US" sz="2400" b="1" dirty="0">
                  <a:latin typeface="Consolas" panose="020B0609020204030204" pitchFamily="49" charset="0"/>
                </a:rPr>
              </a:br>
              <a:r>
                <a:rPr lang="en-US" sz="2400" b="1" noProof="1">
                  <a:latin typeface="Consolas" panose="020B0609020204030204" pitchFamily="49" charset="0"/>
                </a:rPr>
                <a:t>double fuelQuantity, double fuelConsumption, Engine engine, Tire[] tires</a:t>
              </a:r>
              <a:r>
                <a:rPr lang="en-US" sz="2400" b="1" dirty="0">
                  <a:latin typeface="Consolas" panose="020B0609020204030204" pitchFamily="49" charset="0"/>
                </a:rPr>
                <a:t>)</a:t>
              </a:r>
            </a:p>
          </p:txBody>
        </p:sp>
      </p:grpSp>
      <p:sp>
        <p:nvSpPr>
          <p:cNvPr id="1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7257C6-1F5B-40A5-9DCB-454C403C65A7}"/>
              </a:ext>
            </a:extLst>
          </p:cNvPr>
          <p:cNvSpPr txBox="1"/>
          <p:nvPr/>
        </p:nvSpPr>
        <p:spPr>
          <a:xfrm>
            <a:off x="762001" y="643466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3"/>
              </a:rPr>
              <a:t>https://judge.softuni.bg/Contests/1478/Defining-Classes-Lab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3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Car Engine and Tires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209800" y="1173118"/>
            <a:ext cx="7696200" cy="514253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noProof="1">
                <a:solidFill>
                  <a:schemeClr val="tx1"/>
                </a:solidFill>
              </a:rPr>
              <a:t>private int horsePower;</a:t>
            </a:r>
          </a:p>
          <a:p>
            <a:r>
              <a:rPr lang="en-US" noProof="1">
                <a:solidFill>
                  <a:schemeClr val="tx1"/>
                </a:solidFill>
              </a:rPr>
              <a:t>private double cubicCapacity;</a:t>
            </a:r>
          </a:p>
          <a:p>
            <a:r>
              <a:rPr lang="en-US" noProof="1">
                <a:solidFill>
                  <a:schemeClr val="tx1"/>
                </a:solidFill>
              </a:rPr>
              <a:t>public Engine(int horsePower, double cubicCapacity) {   </a:t>
            </a:r>
          </a:p>
          <a:p>
            <a:r>
              <a:rPr lang="en-US" noProof="1">
                <a:solidFill>
                  <a:schemeClr val="tx1"/>
                </a:solidFill>
              </a:rPr>
              <a:t>    this.HorsePower = horsePower;</a:t>
            </a:r>
          </a:p>
          <a:p>
            <a:r>
              <a:rPr lang="en-US" noProof="1">
                <a:solidFill>
                  <a:schemeClr val="tx1"/>
                </a:solidFill>
              </a:rPr>
              <a:t>    this.CubicCapacity = cubicCapacity; }</a:t>
            </a:r>
          </a:p>
          <a:p>
            <a:r>
              <a:rPr lang="en-US" noProof="1">
                <a:solidFill>
                  <a:schemeClr val="tx1"/>
                </a:solidFill>
              </a:rPr>
              <a:t>public int HorsePower {</a:t>
            </a:r>
          </a:p>
          <a:p>
            <a:r>
              <a:rPr lang="en-US" noProof="1">
                <a:solidFill>
                  <a:schemeClr val="tx1"/>
                </a:solidFill>
              </a:rPr>
              <a:t>    get { return this.horsePower; }</a:t>
            </a:r>
          </a:p>
          <a:p>
            <a:r>
              <a:rPr lang="en-US" noProof="1">
                <a:solidFill>
                  <a:schemeClr val="tx1"/>
                </a:solidFill>
              </a:rPr>
              <a:t>    set { this.horsePower = value; }}</a:t>
            </a:r>
          </a:p>
          <a:p>
            <a:r>
              <a:rPr lang="en-US" noProof="1">
                <a:solidFill>
                  <a:schemeClr val="tx1"/>
                </a:solidFill>
              </a:rPr>
              <a:t>public double CubicCapacity {</a:t>
            </a:r>
          </a:p>
          <a:p>
            <a:r>
              <a:rPr lang="en-US" noProof="1">
                <a:solidFill>
                  <a:schemeClr val="tx1"/>
                </a:solidFill>
              </a:rPr>
              <a:t>    get { return this.cubicCapacity; }</a:t>
            </a:r>
          </a:p>
          <a:p>
            <a:r>
              <a:rPr lang="en-US" noProof="1">
                <a:solidFill>
                  <a:schemeClr val="tx1"/>
                </a:solidFill>
              </a:rPr>
              <a:t>    set { this.cubicCapacity = value; }}</a:t>
            </a:r>
            <a:endParaRPr lang="en-US" sz="2200" noProof="1">
              <a:solidFill>
                <a:schemeClr val="tx1"/>
              </a:solidFill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992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Car Engine and Tires(2)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209800" y="1173118"/>
            <a:ext cx="7696200" cy="514253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indent="0" defTabSz="1218438" latinLnBrk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000" b="1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  <a:lvl2pPr marL="989981" indent="-380762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/>
            </a:lvl2pPr>
            <a:lvl3pPr marL="1523048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/>
            </a:lvl3pPr>
            <a:lvl4pPr marL="2132267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/>
            </a:lvl4pPr>
            <a:lvl5pPr marL="2741485" indent="-304610" defTabSz="1218438" latinLnBrk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/>
            </a:lvl5pPr>
            <a:lvl6pPr marL="335070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6pPr>
            <a:lvl7pPr marL="3959924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7pPr>
            <a:lvl8pPr marL="4569143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8pPr>
            <a:lvl9pPr marL="5178362" indent="-304610" defTabSz="1218438" latinLnBrk="1">
              <a:spcBef>
                <a:spcPct val="20000"/>
              </a:spcBef>
              <a:buFont typeface="Arial" pitchFamily="34" charset="0"/>
              <a:buChar char="•"/>
              <a:defRPr sz="2665"/>
            </a:lvl9pPr>
          </a:lstStyle>
          <a:p>
            <a:r>
              <a:rPr lang="en-US" noProof="1">
                <a:solidFill>
                  <a:schemeClr val="tx1"/>
                </a:solidFill>
              </a:rPr>
              <a:t>private int year;</a:t>
            </a:r>
          </a:p>
          <a:p>
            <a:r>
              <a:rPr lang="en-US" noProof="1">
                <a:solidFill>
                  <a:schemeClr val="tx1"/>
                </a:solidFill>
              </a:rPr>
              <a:t>private double pressure;</a:t>
            </a:r>
          </a:p>
          <a:p>
            <a:r>
              <a:rPr lang="en-US" noProof="1">
                <a:solidFill>
                  <a:schemeClr val="tx1"/>
                </a:solidFill>
              </a:rPr>
              <a:t>public Tire(int year, double pressure) {</a:t>
            </a:r>
          </a:p>
          <a:p>
            <a:r>
              <a:rPr lang="en-US" noProof="1">
                <a:solidFill>
                  <a:schemeClr val="tx1"/>
                </a:solidFill>
              </a:rPr>
              <a:t>    this.Year = year;</a:t>
            </a:r>
          </a:p>
          <a:p>
            <a:r>
              <a:rPr lang="en-US" noProof="1">
                <a:solidFill>
                  <a:schemeClr val="tx1"/>
                </a:solidFill>
              </a:rPr>
              <a:t>    this.Pressure = pressure; }</a:t>
            </a:r>
          </a:p>
          <a:p>
            <a:r>
              <a:rPr lang="en-US" noProof="1">
                <a:solidFill>
                  <a:schemeClr val="tx1"/>
                </a:solidFill>
              </a:rPr>
              <a:t>public int Year {</a:t>
            </a:r>
          </a:p>
          <a:p>
            <a:r>
              <a:rPr lang="en-US" noProof="1">
                <a:solidFill>
                  <a:schemeClr val="tx1"/>
                </a:solidFill>
              </a:rPr>
              <a:t>    get { return this.year; }</a:t>
            </a:r>
          </a:p>
          <a:p>
            <a:r>
              <a:rPr lang="en-US" noProof="1">
                <a:solidFill>
                  <a:schemeClr val="tx1"/>
                </a:solidFill>
              </a:rPr>
              <a:t>    set { this.year = value; }}</a:t>
            </a:r>
          </a:p>
          <a:p>
            <a:r>
              <a:rPr lang="en-US" noProof="1">
                <a:solidFill>
                  <a:schemeClr val="tx1"/>
                </a:solidFill>
              </a:rPr>
              <a:t>public double Pressure {</a:t>
            </a:r>
          </a:p>
          <a:p>
            <a:r>
              <a:rPr lang="en-US" noProof="1">
                <a:solidFill>
                  <a:schemeClr val="tx1"/>
                </a:solidFill>
              </a:rPr>
              <a:t>    get { return this.pressure; }</a:t>
            </a:r>
          </a:p>
          <a:p>
            <a:r>
              <a:rPr lang="en-US" noProof="1">
                <a:solidFill>
                  <a:schemeClr val="tx1"/>
                </a:solidFill>
              </a:rPr>
              <a:t>    set { this.pressure = value; }}</a:t>
            </a:r>
            <a:endParaRPr lang="en-US" sz="2200" noProof="1">
              <a:solidFill>
                <a:schemeClr val="tx1"/>
              </a:solidFill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67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14401" y="1752601"/>
            <a:ext cx="10356089" cy="406967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public Car(string make, string model, int year,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double fuelQuantity, double fuelConsumption, Engine engine,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Tire[] tires)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: this(make, model, year, fuelQuantity, fuelConsumption)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this.Engine = engine;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  this.Tires = tires;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Car Engine and Tires(3)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494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3073" y="1723767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dirty="0">
                <a:solidFill>
                  <a:schemeClr val="bg2"/>
                </a:solidFill>
              </a:rPr>
              <a:t>Classes define </a:t>
            </a:r>
            <a:r>
              <a:rPr lang="en-US" sz="3600" b="1" dirty="0">
                <a:solidFill>
                  <a:schemeClr val="bg1"/>
                </a:solidFill>
              </a:rPr>
              <a:t>structure</a:t>
            </a:r>
            <a:r>
              <a:rPr lang="en-US" sz="3600" dirty="0">
                <a:solidFill>
                  <a:schemeClr val="bg2"/>
                </a:solidFill>
              </a:rPr>
              <a:t> for objects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dirty="0">
                <a:solidFill>
                  <a:schemeClr val="bg2"/>
                </a:solidFill>
              </a:rPr>
              <a:t>Objects are </a:t>
            </a:r>
            <a:r>
              <a:rPr lang="en-US" sz="3600" b="1" dirty="0">
                <a:solidFill>
                  <a:schemeClr val="bg1"/>
                </a:solidFill>
              </a:rPr>
              <a:t>instances of a class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dirty="0">
                <a:solidFill>
                  <a:schemeClr val="bg2"/>
                </a:solidFill>
              </a:rPr>
              <a:t>Classes define </a:t>
            </a:r>
            <a:r>
              <a:rPr lang="en-US" sz="3600" b="1" dirty="0">
                <a:solidFill>
                  <a:schemeClr val="bg1"/>
                </a:solidFill>
              </a:rPr>
              <a:t>fields</a:t>
            </a:r>
            <a:r>
              <a:rPr lang="en-US" sz="3600" dirty="0">
                <a:solidFill>
                  <a:schemeClr val="bg2"/>
                </a:solidFill>
              </a:rPr>
              <a:t>, </a:t>
            </a:r>
            <a:r>
              <a:rPr lang="en-US" sz="3600" b="1" dirty="0">
                <a:solidFill>
                  <a:schemeClr val="bg1"/>
                </a:solidFill>
              </a:rPr>
              <a:t>methods</a:t>
            </a:r>
            <a:r>
              <a:rPr lang="en-US" sz="3600" dirty="0">
                <a:solidFill>
                  <a:schemeClr val="bg2"/>
                </a:solidFill>
              </a:rPr>
              <a:t>, </a:t>
            </a:r>
            <a:br>
              <a:rPr lang="en-US" sz="3600" dirty="0">
                <a:solidFill>
                  <a:schemeClr val="bg2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constructors</a:t>
            </a:r>
            <a:r>
              <a:rPr lang="en-US" sz="3600" dirty="0">
                <a:solidFill>
                  <a:schemeClr val="bg2"/>
                </a:solidFill>
              </a:rPr>
              <a:t> and other members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dirty="0">
                <a:solidFill>
                  <a:schemeClr val="bg2"/>
                </a:solidFill>
              </a:rPr>
              <a:t>Constructors:</a:t>
            </a:r>
          </a:p>
          <a:p>
            <a:pPr lvl="1">
              <a:lnSpc>
                <a:spcPct val="100000"/>
              </a:lnSpc>
              <a:buClr>
                <a:schemeClr val="bg2"/>
              </a:buClr>
            </a:pPr>
            <a:r>
              <a:rPr lang="en-US" sz="3400" b="1" dirty="0">
                <a:solidFill>
                  <a:schemeClr val="bg1"/>
                </a:solidFill>
              </a:rPr>
              <a:t>Invoked</a:t>
            </a:r>
            <a:r>
              <a:rPr lang="en-US" sz="3400" dirty="0">
                <a:solidFill>
                  <a:schemeClr val="bg2"/>
                </a:solidFill>
              </a:rPr>
              <a:t> when creating </a:t>
            </a:r>
            <a:r>
              <a:rPr lang="en-US" sz="3400" b="1" dirty="0">
                <a:solidFill>
                  <a:schemeClr val="bg1"/>
                </a:solidFill>
              </a:rPr>
              <a:t>new instances</a:t>
            </a:r>
          </a:p>
          <a:p>
            <a:pPr lvl="1">
              <a:lnSpc>
                <a:spcPct val="100000"/>
              </a:lnSpc>
              <a:buClr>
                <a:schemeClr val="bg2"/>
              </a:buClr>
            </a:pPr>
            <a:r>
              <a:rPr lang="en-US" sz="3400" b="1" dirty="0">
                <a:solidFill>
                  <a:schemeClr val="bg1"/>
                </a:solidFill>
              </a:rPr>
              <a:t>Initialize</a:t>
            </a:r>
            <a:r>
              <a:rPr lang="en-US" sz="3400" dirty="0">
                <a:solidFill>
                  <a:schemeClr val="bg2"/>
                </a:solidFill>
              </a:rPr>
              <a:t> the </a:t>
            </a:r>
            <a:r>
              <a:rPr lang="en-US" sz="3400" b="1" dirty="0">
                <a:solidFill>
                  <a:schemeClr val="bg1"/>
                </a:solidFill>
              </a:rPr>
              <a:t>object's state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871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353892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SoftUni Diamond Partners</a:t>
            </a:r>
            <a:endParaRPr lang="bg-BG" dirty="0"/>
          </a:p>
        </p:txBody>
      </p:sp>
      <p:pic>
        <p:nvPicPr>
          <p:cNvPr id="29" name="Infragistics">
            <a:hlinkClick r:id="rId3"/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4" r="-4204"/>
          <a:stretch/>
        </p:blipFill>
        <p:spPr>
          <a:xfrm>
            <a:off x="5456115" y="4535261"/>
            <a:ext cx="5665883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30" name="Indeavr" descr="Ð ÐµÐ·ÑÐ»ÑÐ°Ñ Ñ Ð¸Ð·Ð¾Ð±ÑÐ°Ð¶ÐµÐ½Ð¸Ðµ Ð·Ð° indeavr">
            <a:hlinkClick r:id="rId5"/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33" t="-16118" r="-14633" b="-8642"/>
          <a:stretch/>
        </p:blipFill>
        <p:spPr bwMode="auto">
          <a:xfrm>
            <a:off x="1070006" y="4535261"/>
            <a:ext cx="396008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6" name="Netpeak" descr="Ð ÐµÐ·ÑÐ»ÑÐ°Ñ Ñ Ð¸Ð·Ð¾Ð±ÑÐ°Ð¶ÐµÐ½Ð¸Ðµ Ð·Ð° netpeak">
            <a:hlinkClick r:id="rId7"/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91" t="-11436" r="-7291" b="-11436"/>
          <a:stretch/>
        </p:blipFill>
        <p:spPr bwMode="auto">
          <a:xfrm>
            <a:off x="5331174" y="2475274"/>
            <a:ext cx="579082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5" name="Sotware Group" descr="Ð ÐµÐ·ÑÐ»ÑÐ°Ñ Ñ Ð¸Ð·Ð¾Ð±ÑÐ°Ð¶ÐµÐ½Ð¸Ðµ Ð·Ð° software group">
            <a:hlinkClick r:id="rId9"/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284" r="-9241"/>
          <a:stretch/>
        </p:blipFill>
        <p:spPr bwMode="auto">
          <a:xfrm>
            <a:off x="1070008" y="2475274"/>
            <a:ext cx="3856369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5" name="Telenor">
            <a:hlinkClick r:id="rId11"/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03" r="-12003" b="-2307"/>
          <a:stretch/>
        </p:blipFill>
        <p:spPr>
          <a:xfrm>
            <a:off x="8675094" y="1445280"/>
            <a:ext cx="2446901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4" name="XS">
            <a:hlinkClick r:id="rId13"/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96" t="-9452" r="-8796" b="-9452"/>
          <a:stretch/>
        </p:blipFill>
        <p:spPr>
          <a:xfrm>
            <a:off x="1070006" y="1445280"/>
            <a:ext cx="418361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6" name="SB Tech">
            <a:hlinkClick r:id="rId15"/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2" r="-689"/>
          <a:stretch/>
        </p:blipFill>
        <p:spPr>
          <a:xfrm>
            <a:off x="5608206" y="1445280"/>
            <a:ext cx="2712303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7" name="Postbank">
            <a:hlinkClick r:id="rId17"/>
          </p:cNvPr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826" t="-8951" r="-21826" b="-8951"/>
          <a:stretch/>
        </p:blipFill>
        <p:spPr>
          <a:xfrm>
            <a:off x="6237267" y="3505268"/>
            <a:ext cx="2518346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37" name="SmartIT">
            <a:hlinkClick r:id="rId19"/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503" t="-16504" r="-14503" b="-16504"/>
          <a:stretch/>
        </p:blipFill>
        <p:spPr>
          <a:xfrm>
            <a:off x="1070007" y="3505268"/>
            <a:ext cx="4539290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28" name="Codexio">
            <a:hlinkClick r:id="rId21"/>
          </p:cNvPr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589" t="-22282" r="-30138" b="-23831"/>
          <a:stretch/>
        </p:blipFill>
        <p:spPr>
          <a:xfrm>
            <a:off x="9373804" y="3505268"/>
            <a:ext cx="1748192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/>
        </p:spPr>
      </p:pic>
      <p:pic>
        <p:nvPicPr>
          <p:cNvPr id="16" name="Infragistics">
            <a:hlinkClick r:id="rId23"/>
            <a:extLst>
              <a:ext uri="{FF2B5EF4-FFF2-40B4-BE49-F238E27FC236}">
                <a16:creationId xmlns:a16="http://schemas.microsoft.com/office/drawing/2014/main" id="{0FDF11E6-F5ED-4FB2-96CD-9D306D28A0DB}"/>
              </a:ext>
            </a:extLst>
          </p:cNvPr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04" r="-4204"/>
          <a:stretch>
            <a:fillRect/>
          </a:stretch>
        </p:blipFill>
        <p:spPr>
          <a:xfrm>
            <a:off x="1113007" y="5565254"/>
            <a:ext cx="2872298" cy="86315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18" name="Picture 17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84974" y="5654317"/>
            <a:ext cx="6472875" cy="774091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1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448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SoftUni Organizational Partners</a:t>
            </a:r>
            <a:endParaRPr lang="bg-BG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94737B-4698-41F8-AC81-9324F12880B9}"/>
              </a:ext>
            </a:extLst>
          </p:cNvPr>
          <p:cNvGrpSpPr/>
          <p:nvPr/>
        </p:nvGrpSpPr>
        <p:grpSpPr>
          <a:xfrm>
            <a:off x="1983345" y="1711221"/>
            <a:ext cx="8225314" cy="4149116"/>
            <a:chOff x="1492446" y="2067924"/>
            <a:chExt cx="6811766" cy="3436077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5953" t="-24485" r="-5953" b="-24485"/>
            <a:stretch/>
          </p:blipFill>
          <p:spPr>
            <a:xfrm>
              <a:off x="1492446" y="2067924"/>
              <a:ext cx="4297166" cy="1439625"/>
            </a:xfrm>
            <a:prstGeom prst="roundRect">
              <a:avLst>
                <a:gd name="adj" fmla="val 8805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4" name="Picture 3">
              <a:hlinkClick r:id="rId4"/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654" r="6654"/>
            <a:stretch/>
          </p:blipFill>
          <p:spPr>
            <a:xfrm>
              <a:off x="6341434" y="2067924"/>
              <a:ext cx="1962778" cy="1439625"/>
            </a:xfrm>
            <a:prstGeom prst="roundRect">
              <a:avLst>
                <a:gd name="adj" fmla="val 8806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5" name="Picture 4">
              <a:hlinkClick r:id="rId6"/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201" t="-3201" r="-3201" b="-3201"/>
            <a:stretch/>
          </p:blipFill>
          <p:spPr>
            <a:xfrm>
              <a:off x="5904002" y="4064376"/>
              <a:ext cx="2400210" cy="1439625"/>
            </a:xfrm>
            <a:prstGeom prst="roundRect">
              <a:avLst>
                <a:gd name="adj" fmla="val 8200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  <p:pic>
          <p:nvPicPr>
            <p:cNvPr id="6" name="Picture 5">
              <a:hlinkClick r:id="rId8"/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305" t="-5874" r="-9305" b="-12736"/>
            <a:stretch/>
          </p:blipFill>
          <p:spPr>
            <a:xfrm>
              <a:off x="1492446" y="4064376"/>
              <a:ext cx="3383118" cy="1439625"/>
            </a:xfrm>
            <a:prstGeom prst="roundRect">
              <a:avLst>
                <a:gd name="adj" fmla="val 10015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  <a:effectLst/>
          </p:spPr>
        </p:pic>
      </p:grpSp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677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1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653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3267</TotalTime>
  <Words>2499</Words>
  <Application>Microsoft Office PowerPoint</Application>
  <PresentationFormat>Широк екран</PresentationFormat>
  <Paragraphs>465</Paragraphs>
  <Slides>42</Slides>
  <Notes>25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42</vt:i4>
      </vt:variant>
    </vt:vector>
  </HeadingPairs>
  <TitlesOfParts>
    <vt:vector size="48" baseType="lpstr">
      <vt:lpstr>Arial</vt:lpstr>
      <vt:lpstr>Calibri</vt:lpstr>
      <vt:lpstr>Consolas</vt:lpstr>
      <vt:lpstr>Wingdings</vt:lpstr>
      <vt:lpstr>Wingdings 2</vt:lpstr>
      <vt:lpstr>SoftUni</vt:lpstr>
      <vt:lpstr>Defining Classes</vt:lpstr>
      <vt:lpstr>Table of Contents</vt:lpstr>
      <vt:lpstr>Have a Question?</vt:lpstr>
      <vt:lpstr>Hide Details from the Client</vt:lpstr>
      <vt:lpstr>Abstract Data Type</vt:lpstr>
      <vt:lpstr>Abstract Data Type (2)</vt:lpstr>
      <vt:lpstr>Creating Class for an ADT</vt:lpstr>
      <vt:lpstr>Defining Simple Classes</vt:lpstr>
      <vt:lpstr>Naming Classes</vt:lpstr>
      <vt:lpstr>Class Members</vt:lpstr>
      <vt:lpstr>Creating an Object</vt:lpstr>
      <vt:lpstr>Object Reference</vt:lpstr>
      <vt:lpstr>Classes vs. Objects</vt:lpstr>
      <vt:lpstr>Classes vs. Objects</vt:lpstr>
      <vt:lpstr>Storing Data Inside a Class</vt:lpstr>
      <vt:lpstr>Fields and Modifiers</vt:lpstr>
      <vt:lpstr>Properties</vt:lpstr>
      <vt:lpstr>Problem: Car</vt:lpstr>
      <vt:lpstr>Defining a Class Behaviour</vt:lpstr>
      <vt:lpstr>Methods</vt:lpstr>
      <vt:lpstr>Problem: Car Extension</vt:lpstr>
      <vt:lpstr>Solution: Car Extension</vt:lpstr>
      <vt:lpstr>Solution: Car Extension (2)</vt:lpstr>
      <vt:lpstr>Solution: Car Extension (3)</vt:lpstr>
      <vt:lpstr>Object Initialization</vt:lpstr>
      <vt:lpstr>Constructors</vt:lpstr>
      <vt:lpstr>Object Initial State</vt:lpstr>
      <vt:lpstr>Multiple Constructors</vt:lpstr>
      <vt:lpstr>Constructor Chaining</vt:lpstr>
      <vt:lpstr>Problem: Car Constructors</vt:lpstr>
      <vt:lpstr>Solution: Car Constructors</vt:lpstr>
      <vt:lpstr>Solution: Car Constructors(2)</vt:lpstr>
      <vt:lpstr>Problem: Car Engine and Tires</vt:lpstr>
      <vt:lpstr>Solution: Car Engine and Tires</vt:lpstr>
      <vt:lpstr>Solution: Car Engine and Tires(2)</vt:lpstr>
      <vt:lpstr>Solution: Car Engine and Tires(3)</vt:lpstr>
      <vt:lpstr>Summary</vt:lpstr>
      <vt:lpstr>Questions?</vt:lpstr>
      <vt:lpstr>SoftUni Diamond Partners</vt:lpstr>
      <vt:lpstr>SoftUni Organizational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Advanced - Defining Classes</dc:title>
  <dc:subject>C# Advanced – Practical Training Course @ SoftUni</dc:subject>
  <dc:creator>Software University</dc:creator>
  <cp:keywords>C# Advanced; C#; Advanced; 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Mihail Nikolov</cp:lastModifiedBy>
  <cp:revision>5</cp:revision>
  <dcterms:created xsi:type="dcterms:W3CDTF">2018-05-23T13:08:44Z</dcterms:created>
  <dcterms:modified xsi:type="dcterms:W3CDTF">2020-09-17T12:29:47Z</dcterms:modified>
  <cp:category>programming; education; software engineering; software development </cp:category>
</cp:coreProperties>
</file>